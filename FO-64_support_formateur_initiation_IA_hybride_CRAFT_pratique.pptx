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9a8bcd3d534d70" /><Relationship Type="http://schemas.openxmlformats.org/officeDocument/2006/relationships/extended-properties" Target="/docProps/app.xml" Id="R4a3a5665bef54a32" /><Relationship Type="http://schemas.openxmlformats.org/officeDocument/2006/relationships/officeDocument" Target="/ppt/presentation.xml" Id="R46a8cc004f3f48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23087e8bd44175"/>
  </p:sldMasterIdLst>
  <p:notesMasterIdLst>
    <p:notesMasterId xmlns:r="http://schemas.openxmlformats.org/officeDocument/2006/relationships" r:id="R129c91d6605843e0"/>
  </p:notesMasterIdLst>
  <p:sldIdLst>
    <p:sldId xmlns:r="http://schemas.openxmlformats.org/officeDocument/2006/relationships" id="256" r:id="R95a5bea203394cf4"/>
    <p:sldId xmlns:r="http://schemas.openxmlformats.org/officeDocument/2006/relationships" id="257" r:id="Rbe46843a9bef4087"/>
    <p:sldId xmlns:r="http://schemas.openxmlformats.org/officeDocument/2006/relationships" id="258" r:id="R420a608faa1f4c91"/>
    <p:sldId xmlns:r="http://schemas.openxmlformats.org/officeDocument/2006/relationships" id="259" r:id="R147aabae8e5f48b6"/>
    <p:sldId xmlns:r="http://schemas.openxmlformats.org/officeDocument/2006/relationships" id="260" r:id="R473cf62daa76438d"/>
    <p:sldId xmlns:r="http://schemas.openxmlformats.org/officeDocument/2006/relationships" id="261" r:id="R4a478d9d45fe410f"/>
    <p:sldId xmlns:r="http://schemas.openxmlformats.org/officeDocument/2006/relationships" id="262" r:id="Rbbca0b90c271497f"/>
    <p:sldId xmlns:r="http://schemas.openxmlformats.org/officeDocument/2006/relationships" id="263" r:id="Re7770244758e4fcf"/>
    <p:sldId xmlns:r="http://schemas.openxmlformats.org/officeDocument/2006/relationships" id="264" r:id="R1780b8913a4941d9"/>
    <p:sldId xmlns:r="http://schemas.openxmlformats.org/officeDocument/2006/relationships" id="265" r:id="Rcb8090d4500b4287"/>
    <p:sldId xmlns:r="http://schemas.openxmlformats.org/officeDocument/2006/relationships" id="266" r:id="R61f0d85e13a24b35"/>
    <p:sldId xmlns:r="http://schemas.openxmlformats.org/officeDocument/2006/relationships" id="267" r:id="R956f8e9ff53d48bd"/>
    <p:sldId xmlns:r="http://schemas.openxmlformats.org/officeDocument/2006/relationships" id="268" r:id="Rfb342f68d52c4ca0"/>
    <p:sldId xmlns:r="http://schemas.openxmlformats.org/officeDocument/2006/relationships" id="269" r:id="Re8b1dd5dbb58412f"/>
    <p:sldId xmlns:r="http://schemas.openxmlformats.org/officeDocument/2006/relationships" id="270" r:id="Radcf66ae8d784b3d"/>
    <p:sldId xmlns:r="http://schemas.openxmlformats.org/officeDocument/2006/relationships" id="271" r:id="R3c4c48ab9c5f4865"/>
    <p:sldId xmlns:r="http://schemas.openxmlformats.org/officeDocument/2006/relationships" id="272" r:id="Rfa5fcd5c92764089"/>
    <p:sldId xmlns:r="http://schemas.openxmlformats.org/officeDocument/2006/relationships" id="273" r:id="Rbd0eaf15c4ce4733"/>
    <p:sldId xmlns:r="http://schemas.openxmlformats.org/officeDocument/2006/relationships" id="274" r:id="Ra2f2c324d3f34b22"/>
    <p:sldId xmlns:r="http://schemas.openxmlformats.org/officeDocument/2006/relationships" id="275" r:id="R12aa3e68882945f1"/>
    <p:sldId xmlns:r="http://schemas.openxmlformats.org/officeDocument/2006/relationships" id="276" r:id="R03b09652f13f4c06"/>
    <p:sldId xmlns:r="http://schemas.openxmlformats.org/officeDocument/2006/relationships" id="277" r:id="R1c17568acd874d3d"/>
    <p:sldId xmlns:r="http://schemas.openxmlformats.org/officeDocument/2006/relationships" id="278" r:id="R357be386c49e4c7f"/>
    <p:sldId xmlns:r="http://schemas.openxmlformats.org/officeDocument/2006/relationships" id="279" r:id="R7bdb9f72af98476a"/>
    <p:sldId xmlns:r="http://schemas.openxmlformats.org/officeDocument/2006/relationships" id="280" r:id="Rb58481b1605f48a5"/>
    <p:sldId xmlns:r="http://schemas.openxmlformats.org/officeDocument/2006/relationships" id="281" r:id="Rfe91bc94abe94913"/>
    <p:sldId xmlns:r="http://schemas.openxmlformats.org/officeDocument/2006/relationships" id="282" r:id="Rd1ac5ba18c8e4193"/>
    <p:sldId xmlns:r="http://schemas.openxmlformats.org/officeDocument/2006/relationships" id="283" r:id="R3482f2586d284626"/>
    <p:sldId xmlns:r="http://schemas.openxmlformats.org/officeDocument/2006/relationships" id="284" r:id="Rbdc6703e42aa4491"/>
    <p:sldId xmlns:r="http://schemas.openxmlformats.org/officeDocument/2006/relationships" id="285" r:id="Re8b5d317f5d745b3"/>
    <p:sldId xmlns:r="http://schemas.openxmlformats.org/officeDocument/2006/relationships" id="286" r:id="R092c187e864f4403"/>
    <p:sldId xmlns:r="http://schemas.openxmlformats.org/officeDocument/2006/relationships" id="287" r:id="Rfe05bec6a7a24009"/>
    <p:sldId xmlns:r="http://schemas.openxmlformats.org/officeDocument/2006/relationships" id="288" r:id="R8389a0399bc54939"/>
    <p:sldId xmlns:r="http://schemas.openxmlformats.org/officeDocument/2006/relationships" id="289" r:id="Rc877486ab3ab4d14"/>
    <p:sldId xmlns:r="http://schemas.openxmlformats.org/officeDocument/2006/relationships" id="290" r:id="R19bb90803af04721"/>
    <p:sldId xmlns:r="http://schemas.openxmlformats.org/officeDocument/2006/relationships" id="291" r:id="R6b0084161dec4d20"/>
    <p:sldId xmlns:r="http://schemas.openxmlformats.org/officeDocument/2006/relationships" id="292" r:id="R7bf0a7e0fe7b4923"/>
    <p:sldId xmlns:r="http://schemas.openxmlformats.org/officeDocument/2006/relationships" id="293" r:id="R93a57200dad74a84"/>
    <p:sldId xmlns:r="http://schemas.openxmlformats.org/officeDocument/2006/relationships" id="294" r:id="Rb6d78317b714458d"/>
    <p:sldId xmlns:r="http://schemas.openxmlformats.org/officeDocument/2006/relationships" id="295" r:id="Red46dda2ae244e44"/>
    <p:sldId xmlns:r="http://schemas.openxmlformats.org/officeDocument/2006/relationships" id="296" r:id="R104b5abf850a4e5b"/>
    <p:sldId xmlns:r="http://schemas.openxmlformats.org/officeDocument/2006/relationships" id="297" r:id="R22420123abaa4647"/>
    <p:sldId xmlns:r="http://schemas.openxmlformats.org/officeDocument/2006/relationships" id="298" r:id="Rfe980eeb140f4b00"/>
    <p:sldId xmlns:r="http://schemas.openxmlformats.org/officeDocument/2006/relationships" id="299" r:id="Rb041d71a2a1d4c98"/>
    <p:sldId xmlns:r="http://schemas.openxmlformats.org/officeDocument/2006/relationships" id="300" r:id="R1695ea02b9d14341"/>
    <p:sldId xmlns:r="http://schemas.openxmlformats.org/officeDocument/2006/relationships" id="301" r:id="R1452fa7afc024164"/>
    <p:sldId xmlns:r="http://schemas.openxmlformats.org/officeDocument/2006/relationships" id="302" r:id="R46df8e9ab4464efb"/>
    <p:sldId xmlns:r="http://schemas.openxmlformats.org/officeDocument/2006/relationships" id="303" r:id="Ra690dc498aeb4772"/>
    <p:sldId xmlns:r="http://schemas.openxmlformats.org/officeDocument/2006/relationships" id="304" r:id="R4b225ad5162f428c"/>
    <p:sldId xmlns:r="http://schemas.openxmlformats.org/officeDocument/2006/relationships" id="305" r:id="Ra8a52745c3a74e09"/>
    <p:sldId xmlns:r="http://schemas.openxmlformats.org/officeDocument/2006/relationships" id="306" r:id="R1c869be6db654af4"/>
    <p:sldId xmlns:r="http://schemas.openxmlformats.org/officeDocument/2006/relationships" id="307" r:id="Rd5554738cfc84935"/>
    <p:sldId xmlns:r="http://schemas.openxmlformats.org/officeDocument/2006/relationships" id="308" r:id="Rbca5af8a47b74720"/>
    <p:sldId xmlns:r="http://schemas.openxmlformats.org/officeDocument/2006/relationships" id="309" r:id="R10558d2b283c41e5"/>
    <p:sldId xmlns:r="http://schemas.openxmlformats.org/officeDocument/2006/relationships" id="310" r:id="Re446028b5c624dc1"/>
    <p:sldId xmlns:r="http://schemas.openxmlformats.org/officeDocument/2006/relationships" id="311" r:id="Redfdf1b23b72495d"/>
    <p:sldId xmlns:r="http://schemas.openxmlformats.org/officeDocument/2006/relationships" id="312" r:id="R75bdd96a5774467a"/>
    <p:sldId xmlns:r="http://schemas.openxmlformats.org/officeDocument/2006/relationships" id="313" r:id="R55c0cbdafe6c4701"/>
    <p:sldId xmlns:r="http://schemas.openxmlformats.org/officeDocument/2006/relationships" id="314" r:id="Reb0c32271a3d484f"/>
    <p:sldId xmlns:r="http://schemas.openxmlformats.org/officeDocument/2006/relationships" id="315" r:id="R54b5eef9bdc642c9"/>
    <p:sldId xmlns:r="http://schemas.openxmlformats.org/officeDocument/2006/relationships" id="316" r:id="R18a8784637e1471e"/>
    <p:sldId xmlns:r="http://schemas.openxmlformats.org/officeDocument/2006/relationships" id="317" r:id="R6ae2d92f873f4072"/>
    <p:sldId xmlns:r="http://schemas.openxmlformats.org/officeDocument/2006/relationships" id="318" r:id="R67e2386de2964eae"/>
    <p:sldId xmlns:r="http://schemas.openxmlformats.org/officeDocument/2006/relationships" id="319" r:id="Rcccad64af57145e7"/>
    <p:sldId xmlns:r="http://schemas.openxmlformats.org/officeDocument/2006/relationships" id="320" r:id="Rae81c2d937cb4dd4"/>
    <p:sldId xmlns:r="http://schemas.openxmlformats.org/officeDocument/2006/relationships" id="321" r:id="Rc5bb52e292fb4d75"/>
    <p:sldId xmlns:r="http://schemas.openxmlformats.org/officeDocument/2006/relationships" id="322" r:id="Rbc56cd0a1c604146"/>
    <p:sldId xmlns:r="http://schemas.openxmlformats.org/officeDocument/2006/relationships" id="323" r:id="R13f6db4bfc20460b"/>
    <p:sldId xmlns:r="http://schemas.openxmlformats.org/officeDocument/2006/relationships" id="324" r:id="Rab2eded03ff14159"/>
    <p:sldId xmlns:r="http://schemas.openxmlformats.org/officeDocument/2006/relationships" id="325" r:id="Ra493e0e09b8d4cbd"/>
    <p:sldId xmlns:r="http://schemas.openxmlformats.org/officeDocument/2006/relationships" id="326" r:id="R1df6754aa5234313"/>
    <p:sldId xmlns:r="http://schemas.openxmlformats.org/officeDocument/2006/relationships" id="327" r:id="R9fc970ffd18c48e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29535580cc439b" /><Relationship Type="http://schemas.openxmlformats.org/officeDocument/2006/relationships/slideMaster" Target="/ppt/slideMasters/slideMaster1.xml" Id="R9523087e8bd44175" /><Relationship Type="http://schemas.openxmlformats.org/officeDocument/2006/relationships/notesMaster" Target="/ppt/notesMasters/notesMaster1.xml" Id="R129c91d6605843e0" /><Relationship Type="http://schemas.openxmlformats.org/officeDocument/2006/relationships/presProps" Target="/ppt/presProps.xml" Id="R784c3880b3a04cdc" /><Relationship Type="http://schemas.openxmlformats.org/officeDocument/2006/relationships/tableStyles" Target="/ppt/tableStyles.xml" Id="R80fd49dbe3bb4f44" /><Relationship Type="http://schemas.openxmlformats.org/officeDocument/2006/relationships/slide" Target="/ppt/slides/slide1.xml" Id="R95a5bea203394cf4" /><Relationship Type="http://schemas.openxmlformats.org/officeDocument/2006/relationships/slide" Target="/ppt/slides/slide2.xml" Id="Rbe46843a9bef4087" /><Relationship Type="http://schemas.openxmlformats.org/officeDocument/2006/relationships/slide" Target="/ppt/slides/slide3.xml" Id="R420a608faa1f4c91" /><Relationship Type="http://schemas.openxmlformats.org/officeDocument/2006/relationships/slide" Target="/ppt/slides/slide4.xml" Id="R147aabae8e5f48b6" /><Relationship Type="http://schemas.openxmlformats.org/officeDocument/2006/relationships/slide" Target="/ppt/slides/slide5.xml" Id="R473cf62daa76438d" /><Relationship Type="http://schemas.openxmlformats.org/officeDocument/2006/relationships/slide" Target="/ppt/slides/slide6.xml" Id="R4a478d9d45fe410f" /><Relationship Type="http://schemas.openxmlformats.org/officeDocument/2006/relationships/slide" Target="/ppt/slides/slide7.xml" Id="Rbbca0b90c271497f" /><Relationship Type="http://schemas.openxmlformats.org/officeDocument/2006/relationships/slide" Target="/ppt/slides/slide8.xml" Id="Re7770244758e4fcf" /><Relationship Type="http://schemas.openxmlformats.org/officeDocument/2006/relationships/slide" Target="/ppt/slides/slide9.xml" Id="R1780b8913a4941d9" /><Relationship Type="http://schemas.openxmlformats.org/officeDocument/2006/relationships/slide" Target="/ppt/slides/slide10.xml" Id="Rcb8090d4500b4287" /><Relationship Type="http://schemas.openxmlformats.org/officeDocument/2006/relationships/slide" Target="/ppt/slides/slide11.xml" Id="R61f0d85e13a24b35" /><Relationship Type="http://schemas.openxmlformats.org/officeDocument/2006/relationships/slide" Target="/ppt/slides/slide12.xml" Id="R956f8e9ff53d48bd" /><Relationship Type="http://schemas.openxmlformats.org/officeDocument/2006/relationships/slide" Target="/ppt/slides/slide13.xml" Id="Rfb342f68d52c4ca0" /><Relationship Type="http://schemas.openxmlformats.org/officeDocument/2006/relationships/slide" Target="/ppt/slides/slide14.xml" Id="Re8b1dd5dbb58412f" /><Relationship Type="http://schemas.openxmlformats.org/officeDocument/2006/relationships/slide" Target="/ppt/slides/slide15.xml" Id="Radcf66ae8d784b3d" /><Relationship Type="http://schemas.openxmlformats.org/officeDocument/2006/relationships/slide" Target="/ppt/slides/slide16.xml" Id="R3c4c48ab9c5f4865" /><Relationship Type="http://schemas.openxmlformats.org/officeDocument/2006/relationships/slide" Target="/ppt/slides/slide17.xml" Id="Rfa5fcd5c92764089" /><Relationship Type="http://schemas.openxmlformats.org/officeDocument/2006/relationships/slide" Target="/ppt/slides/slide18.xml" Id="Rbd0eaf15c4ce4733" /><Relationship Type="http://schemas.openxmlformats.org/officeDocument/2006/relationships/slide" Target="/ppt/slides/slide19.xml" Id="Ra2f2c324d3f34b22" /><Relationship Type="http://schemas.openxmlformats.org/officeDocument/2006/relationships/slide" Target="/ppt/slides/slide20.xml" Id="R12aa3e68882945f1" /><Relationship Type="http://schemas.openxmlformats.org/officeDocument/2006/relationships/slide" Target="/ppt/slides/slide21.xml" Id="R03b09652f13f4c06" /><Relationship Type="http://schemas.openxmlformats.org/officeDocument/2006/relationships/slide" Target="/ppt/slides/slide22.xml" Id="R1c17568acd874d3d" /><Relationship Type="http://schemas.openxmlformats.org/officeDocument/2006/relationships/slide" Target="/ppt/slides/slide23.xml" Id="R357be386c49e4c7f" /><Relationship Type="http://schemas.openxmlformats.org/officeDocument/2006/relationships/slide" Target="/ppt/slides/slide24.xml" Id="R7bdb9f72af98476a" /><Relationship Type="http://schemas.openxmlformats.org/officeDocument/2006/relationships/slide" Target="/ppt/slides/slide25.xml" Id="Rb58481b1605f48a5" /><Relationship Type="http://schemas.openxmlformats.org/officeDocument/2006/relationships/slide" Target="/ppt/slides/slide26.xml" Id="Rfe91bc94abe94913" /><Relationship Type="http://schemas.openxmlformats.org/officeDocument/2006/relationships/slide" Target="/ppt/slides/slide27.xml" Id="Rd1ac5ba18c8e4193" /><Relationship Type="http://schemas.openxmlformats.org/officeDocument/2006/relationships/slide" Target="/ppt/slides/slide28.xml" Id="R3482f2586d284626" /><Relationship Type="http://schemas.openxmlformats.org/officeDocument/2006/relationships/slide" Target="/ppt/slides/slide29.xml" Id="Rbdc6703e42aa4491" /><Relationship Type="http://schemas.openxmlformats.org/officeDocument/2006/relationships/slide" Target="/ppt/slides/slide30.xml" Id="Re8b5d317f5d745b3" /><Relationship Type="http://schemas.openxmlformats.org/officeDocument/2006/relationships/slide" Target="/ppt/slides/slide31.xml" Id="R092c187e864f4403" /><Relationship Type="http://schemas.openxmlformats.org/officeDocument/2006/relationships/slide" Target="/ppt/slides/slide32.xml" Id="Rfe05bec6a7a24009" /><Relationship Type="http://schemas.openxmlformats.org/officeDocument/2006/relationships/slide" Target="/ppt/slides/slide33.xml" Id="R8389a0399bc54939" /><Relationship Type="http://schemas.openxmlformats.org/officeDocument/2006/relationships/slide" Target="/ppt/slides/slide34.xml" Id="Rc877486ab3ab4d14" /><Relationship Type="http://schemas.openxmlformats.org/officeDocument/2006/relationships/slide" Target="/ppt/slides/slide35.xml" Id="R19bb90803af04721" /><Relationship Type="http://schemas.openxmlformats.org/officeDocument/2006/relationships/slide" Target="/ppt/slides/slide36.xml" Id="R6b0084161dec4d20" /><Relationship Type="http://schemas.openxmlformats.org/officeDocument/2006/relationships/slide" Target="/ppt/slides/slide37.xml" Id="R7bf0a7e0fe7b4923" /><Relationship Type="http://schemas.openxmlformats.org/officeDocument/2006/relationships/slide" Target="/ppt/slides/slide38.xml" Id="R93a57200dad74a84" /><Relationship Type="http://schemas.openxmlformats.org/officeDocument/2006/relationships/slide" Target="/ppt/slides/slide39.xml" Id="Rb6d78317b714458d" /><Relationship Type="http://schemas.openxmlformats.org/officeDocument/2006/relationships/slide" Target="/ppt/slides/slide40.xml" Id="Red46dda2ae244e44" /><Relationship Type="http://schemas.openxmlformats.org/officeDocument/2006/relationships/slide" Target="/ppt/slides/slide41.xml" Id="R104b5abf850a4e5b" /><Relationship Type="http://schemas.openxmlformats.org/officeDocument/2006/relationships/slide" Target="/ppt/slides/slide42.xml" Id="R22420123abaa4647" /><Relationship Type="http://schemas.openxmlformats.org/officeDocument/2006/relationships/slide" Target="/ppt/slides/slide43.xml" Id="Rfe980eeb140f4b00" /><Relationship Type="http://schemas.openxmlformats.org/officeDocument/2006/relationships/slide" Target="/ppt/slides/slide44.xml" Id="Rb041d71a2a1d4c98" /><Relationship Type="http://schemas.openxmlformats.org/officeDocument/2006/relationships/slide" Target="/ppt/slides/slide45.xml" Id="R1695ea02b9d14341" /><Relationship Type="http://schemas.openxmlformats.org/officeDocument/2006/relationships/slide" Target="/ppt/slides/slide46.xml" Id="R1452fa7afc024164" /><Relationship Type="http://schemas.openxmlformats.org/officeDocument/2006/relationships/slide" Target="/ppt/slides/slide47.xml" Id="R46df8e9ab4464efb" /><Relationship Type="http://schemas.openxmlformats.org/officeDocument/2006/relationships/slide" Target="/ppt/slides/slide48.xml" Id="Ra690dc498aeb4772" /><Relationship Type="http://schemas.openxmlformats.org/officeDocument/2006/relationships/slide" Target="/ppt/slides/slide49.xml" Id="R4b225ad5162f428c" /><Relationship Type="http://schemas.openxmlformats.org/officeDocument/2006/relationships/slide" Target="/ppt/slides/slide50.xml" Id="Ra8a52745c3a74e09" /><Relationship Type="http://schemas.openxmlformats.org/officeDocument/2006/relationships/slide" Target="/ppt/slides/slide51.xml" Id="R1c869be6db654af4" /><Relationship Type="http://schemas.openxmlformats.org/officeDocument/2006/relationships/slide" Target="/ppt/slides/slide52.xml" Id="Rd5554738cfc84935" /><Relationship Type="http://schemas.openxmlformats.org/officeDocument/2006/relationships/slide" Target="/ppt/slides/slide53.xml" Id="Rbca5af8a47b74720" /><Relationship Type="http://schemas.openxmlformats.org/officeDocument/2006/relationships/slide" Target="/ppt/slides/slide54.xml" Id="R10558d2b283c41e5" /><Relationship Type="http://schemas.openxmlformats.org/officeDocument/2006/relationships/slide" Target="/ppt/slides/slide55.xml" Id="Re446028b5c624dc1" /><Relationship Type="http://schemas.openxmlformats.org/officeDocument/2006/relationships/slide" Target="/ppt/slides/slide56.xml" Id="Redfdf1b23b72495d" /><Relationship Type="http://schemas.openxmlformats.org/officeDocument/2006/relationships/slide" Target="/ppt/slides/slide57.xml" Id="R75bdd96a5774467a" /><Relationship Type="http://schemas.openxmlformats.org/officeDocument/2006/relationships/slide" Target="/ppt/slides/slide58.xml" Id="R55c0cbdafe6c4701" /><Relationship Type="http://schemas.openxmlformats.org/officeDocument/2006/relationships/slide" Target="/ppt/slides/slide59.xml" Id="Reb0c32271a3d484f" /><Relationship Type="http://schemas.openxmlformats.org/officeDocument/2006/relationships/slide" Target="/ppt/slides/slide60.xml" Id="R54b5eef9bdc642c9" /><Relationship Type="http://schemas.openxmlformats.org/officeDocument/2006/relationships/slide" Target="/ppt/slides/slide61.xml" Id="R18a8784637e1471e" /><Relationship Type="http://schemas.openxmlformats.org/officeDocument/2006/relationships/slide" Target="/ppt/slides/slide62.xml" Id="R6ae2d92f873f4072" /><Relationship Type="http://schemas.openxmlformats.org/officeDocument/2006/relationships/slide" Target="/ppt/slides/slide63.xml" Id="R67e2386de2964eae" /><Relationship Type="http://schemas.openxmlformats.org/officeDocument/2006/relationships/slide" Target="/ppt/slides/slide64.xml" Id="Rcccad64af57145e7" /><Relationship Type="http://schemas.openxmlformats.org/officeDocument/2006/relationships/slide" Target="/ppt/slides/slide65.xml" Id="Rae81c2d937cb4dd4" /><Relationship Type="http://schemas.openxmlformats.org/officeDocument/2006/relationships/slide" Target="/ppt/slides/slide66.xml" Id="Rc5bb52e292fb4d75" /><Relationship Type="http://schemas.openxmlformats.org/officeDocument/2006/relationships/slide" Target="/ppt/slides/slide67.xml" Id="Rbc56cd0a1c604146" /><Relationship Type="http://schemas.openxmlformats.org/officeDocument/2006/relationships/slide" Target="/ppt/slides/slide68.xml" Id="R13f6db4bfc20460b" /><Relationship Type="http://schemas.openxmlformats.org/officeDocument/2006/relationships/slide" Target="/ppt/slides/slide69.xml" Id="Rab2eded03ff14159" /><Relationship Type="http://schemas.openxmlformats.org/officeDocument/2006/relationships/slide" Target="/ppt/slides/slide70.xml" Id="Ra493e0e09b8d4cbd" /><Relationship Type="http://schemas.openxmlformats.org/officeDocument/2006/relationships/slide" Target="/ppt/slides/slide71.xml" Id="R1df6754aa5234313" /><Relationship Type="http://schemas.openxmlformats.org/officeDocument/2006/relationships/slide" Target="/ppt/slides/slide72.xml" Id="R9fc970ffd18c48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8f6eda2e5347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61e5436c3149e0" /><Relationship Type="http://schemas.openxmlformats.org/officeDocument/2006/relationships/notesMaster" Target="/ppt/notesMasters/notesMaster1.xml" Id="R1a7e32f1d0354b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c32fb0331346c4" /><Relationship Type="http://schemas.openxmlformats.org/officeDocument/2006/relationships/notesMaster" Target="/ppt/notesMasters/notesMaster1.xml" Id="Rb808b1cd2eae42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70ba19fd134c31" /><Relationship Type="http://schemas.openxmlformats.org/officeDocument/2006/relationships/notesMaster" Target="/ppt/notesMasters/notesMaster1.xml" Id="R61171907ea2346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3972a8c91bb42c6" /><Relationship Type="http://schemas.openxmlformats.org/officeDocument/2006/relationships/notesMaster" Target="/ppt/notesMasters/notesMaster1.xml" Id="Rd56f43cd87cc47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4138d998274401" /><Relationship Type="http://schemas.openxmlformats.org/officeDocument/2006/relationships/notesMaster" Target="/ppt/notesMasters/notesMaster1.xml" Id="R4aa28535fe3146b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1ed81a811d94a8e" /><Relationship Type="http://schemas.openxmlformats.org/officeDocument/2006/relationships/notesMaster" Target="/ppt/notesMasters/notesMaster1.xml" Id="Ra2273b15484f4a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68763dafb6b4044" /><Relationship Type="http://schemas.openxmlformats.org/officeDocument/2006/relationships/notesMaster" Target="/ppt/notesMasters/notesMaster1.xml" Id="Rc8a99a2b66eb484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03373d0f1094331" /><Relationship Type="http://schemas.openxmlformats.org/officeDocument/2006/relationships/notesMaster" Target="/ppt/notesMasters/notesMaster1.xml" Id="Re846dd5e0eb64a0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258cfeb211a410c" /><Relationship Type="http://schemas.openxmlformats.org/officeDocument/2006/relationships/notesMaster" Target="/ppt/notesMasters/notesMaster1.xml" Id="R50ac6b281462494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98140e4725c4ba5" /><Relationship Type="http://schemas.openxmlformats.org/officeDocument/2006/relationships/notesMaster" Target="/ppt/notesMasters/notesMaster1.xml" Id="Rc496d045f7f14d3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c3d004d19f84c19" /><Relationship Type="http://schemas.openxmlformats.org/officeDocument/2006/relationships/notesMaster" Target="/ppt/notesMasters/notesMaster1.xml" Id="Rdc699fcb88cb478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5d7e6207666430a" /><Relationship Type="http://schemas.openxmlformats.org/officeDocument/2006/relationships/notesMaster" Target="/ppt/notesMasters/notesMaster1.xml" Id="Rf0247aff49f7419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932b6999c194272" /><Relationship Type="http://schemas.openxmlformats.org/officeDocument/2006/relationships/notesMaster" Target="/ppt/notesMasters/notesMaster1.xml" Id="R7a7725a35f4d468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22e721a7e7944d0" /><Relationship Type="http://schemas.openxmlformats.org/officeDocument/2006/relationships/notesMaster" Target="/ppt/notesMasters/notesMaster1.xml" Id="R1b9e216eabfc46f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a1a525d8a0a469c" /><Relationship Type="http://schemas.openxmlformats.org/officeDocument/2006/relationships/notesMaster" Target="/ppt/notesMasters/notesMaster1.xml" Id="R63da2ecb41ca4e4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9224c5758e34a2a" /><Relationship Type="http://schemas.openxmlformats.org/officeDocument/2006/relationships/notesMaster" Target="/ppt/notesMasters/notesMaster1.xml" Id="Rf1e77e4fce10453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8ca64dc6b854028" /><Relationship Type="http://schemas.openxmlformats.org/officeDocument/2006/relationships/notesMaster" Target="/ppt/notesMasters/notesMaster1.xml" Id="R73da929db6f5459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e355386a16d4486" /><Relationship Type="http://schemas.openxmlformats.org/officeDocument/2006/relationships/notesMaster" Target="/ppt/notesMasters/notesMaster1.xml" Id="R6efcd9862407405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f525490f0764ea1" /><Relationship Type="http://schemas.openxmlformats.org/officeDocument/2006/relationships/notesMaster" Target="/ppt/notesMasters/notesMaster1.xml" Id="R898e07f389e649b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102e46236184ecf" /><Relationship Type="http://schemas.openxmlformats.org/officeDocument/2006/relationships/notesMaster" Target="/ppt/notesMasters/notesMaster1.xml" Id="R95a5260e5b0d4d8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a782c2fcbb74ee6" /><Relationship Type="http://schemas.openxmlformats.org/officeDocument/2006/relationships/notesMaster" Target="/ppt/notesMasters/notesMaster1.xml" Id="Rbbf6dd931aae4bd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72b482532914bdf" /><Relationship Type="http://schemas.openxmlformats.org/officeDocument/2006/relationships/notesMaster" Target="/ppt/notesMasters/notesMaster1.xml" Id="R20aaf66263e3405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f73225ab58948a4" /><Relationship Type="http://schemas.openxmlformats.org/officeDocument/2006/relationships/notesMaster" Target="/ppt/notesMasters/notesMaster1.xml" Id="R3ecd7966415d45d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c12b571b83a4168" /><Relationship Type="http://schemas.openxmlformats.org/officeDocument/2006/relationships/notesMaster" Target="/ppt/notesMasters/notesMaster1.xml" Id="R38ef20cbfbc5485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21a2cb6d7794925" /><Relationship Type="http://schemas.openxmlformats.org/officeDocument/2006/relationships/notesMaster" Target="/ppt/notesMasters/notesMaster1.xml" Id="R363021c151d94e5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4d5426890e441ad" /><Relationship Type="http://schemas.openxmlformats.org/officeDocument/2006/relationships/notesMaster" Target="/ppt/notesMasters/notesMaster1.xml" Id="R2a32492e8f4342a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183881d086d4c3d" /><Relationship Type="http://schemas.openxmlformats.org/officeDocument/2006/relationships/notesMaster" Target="/ppt/notesMasters/notesMaster1.xml" Id="Rc961251ad72e453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cb1ac0d84134fd5" /><Relationship Type="http://schemas.openxmlformats.org/officeDocument/2006/relationships/notesMaster" Target="/ppt/notesMasters/notesMaster1.xml" Id="Rcd972e5e8d0e456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dae0ab29bcc4311" /><Relationship Type="http://schemas.openxmlformats.org/officeDocument/2006/relationships/notesMaster" Target="/ppt/notesMasters/notesMaster1.xml" Id="Rf7a6cef71ca54fc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39d6e8d8d084904" /><Relationship Type="http://schemas.openxmlformats.org/officeDocument/2006/relationships/notesMaster" Target="/ppt/notesMasters/notesMaster1.xml" Id="R3486321dbcec415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c1a701af37584545" /><Relationship Type="http://schemas.openxmlformats.org/officeDocument/2006/relationships/notesMaster" Target="/ppt/notesMasters/notesMaster1.xml" Id="R43080c6470184fe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189743d045145c3" /><Relationship Type="http://schemas.openxmlformats.org/officeDocument/2006/relationships/notesMaster" Target="/ppt/notesMasters/notesMaster1.xml" Id="R1e34fa3c9a204f2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3185777467e4d58" /><Relationship Type="http://schemas.openxmlformats.org/officeDocument/2006/relationships/notesMaster" Target="/ppt/notesMasters/notesMaster1.xml" Id="Rb9b1ae71958449e7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5d3b7a134f6d47fb" /><Relationship Type="http://schemas.openxmlformats.org/officeDocument/2006/relationships/notesMaster" Target="/ppt/notesMasters/notesMaster1.xml" Id="Rc5d91ec50ce44d5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ef43f65118474abf" /><Relationship Type="http://schemas.openxmlformats.org/officeDocument/2006/relationships/notesMaster" Target="/ppt/notesMasters/notesMaster1.xml" Id="R0476fd7979244cf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729fa3d4b3a2432b" /><Relationship Type="http://schemas.openxmlformats.org/officeDocument/2006/relationships/notesMaster" Target="/ppt/notesMasters/notesMaster1.xml" Id="R39404298a75f4384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246b90712686430a" /><Relationship Type="http://schemas.openxmlformats.org/officeDocument/2006/relationships/notesMaster" Target="/ppt/notesMasters/notesMaster1.xml" Id="Rcaf076e447334afc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e07df0178f014135" /><Relationship Type="http://schemas.openxmlformats.org/officeDocument/2006/relationships/notesMaster" Target="/ppt/notesMasters/notesMaster1.xml" Id="Rb473a8e9cd4145c0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9cded5e88e2a44e0" /><Relationship Type="http://schemas.openxmlformats.org/officeDocument/2006/relationships/notesMaster" Target="/ppt/notesMasters/notesMaster1.xml" Id="Rde1574f667aa479d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cdda288d8d66428b" /><Relationship Type="http://schemas.openxmlformats.org/officeDocument/2006/relationships/notesMaster" Target="/ppt/notesMasters/notesMaster1.xml" Id="Rcd7dd404adb648fd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cca7c46526dd49dd" /><Relationship Type="http://schemas.openxmlformats.org/officeDocument/2006/relationships/notesMaster" Target="/ppt/notesMasters/notesMaster1.xml" Id="R10f5ada0124c4ad2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dc596058aec346fe" /><Relationship Type="http://schemas.openxmlformats.org/officeDocument/2006/relationships/notesMaster" Target="/ppt/notesMasters/notesMaster1.xml" Id="R19e62dda8cb24118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a3da43687ae74bc8" /><Relationship Type="http://schemas.openxmlformats.org/officeDocument/2006/relationships/notesMaster" Target="/ppt/notesMasters/notesMaster1.xml" Id="R38ec48ab6f2749d5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4a89729e8a024344" /><Relationship Type="http://schemas.openxmlformats.org/officeDocument/2006/relationships/notesMaster" Target="/ppt/notesMasters/notesMaster1.xml" Id="R703a62e4593f4c80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bccb31b365b148b6" /><Relationship Type="http://schemas.openxmlformats.org/officeDocument/2006/relationships/notesMaster" Target="/ppt/notesMasters/notesMaster1.xml" Id="R3fd005c3d61e4895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0fe2ddd218974b79" /><Relationship Type="http://schemas.openxmlformats.org/officeDocument/2006/relationships/notesMaster" Target="/ppt/notesMasters/notesMaster1.xml" Id="Rb1b6a6a46c184143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991bfeab06704b41" /><Relationship Type="http://schemas.openxmlformats.org/officeDocument/2006/relationships/notesMaster" Target="/ppt/notesMasters/notesMaster1.xml" Id="R81276b90ee6140b1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be1e0b21db2a4335" /><Relationship Type="http://schemas.openxmlformats.org/officeDocument/2006/relationships/notesMaster" Target="/ppt/notesMasters/notesMaster1.xml" Id="R69e5cd206841496e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2995a6c5ffea4a66" /><Relationship Type="http://schemas.openxmlformats.org/officeDocument/2006/relationships/notesMaster" Target="/ppt/notesMasters/notesMaster1.xml" Id="R125457ec0a5c4a46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8b77e577806c4664" /><Relationship Type="http://schemas.openxmlformats.org/officeDocument/2006/relationships/notesMaster" Target="/ppt/notesMasters/notesMaster1.xml" Id="Rfd1313ea4013467b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1df2d6352c104535" /><Relationship Type="http://schemas.openxmlformats.org/officeDocument/2006/relationships/notesMaster" Target="/ppt/notesMasters/notesMaster1.xml" Id="Rc5555f4f62e64354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133c023080b940e2" /><Relationship Type="http://schemas.openxmlformats.org/officeDocument/2006/relationships/notesMaster" Target="/ppt/notesMasters/notesMaster1.xml" Id="Rb6087243dd934841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befdc470e6e64be5" /><Relationship Type="http://schemas.openxmlformats.org/officeDocument/2006/relationships/notesMaster" Target="/ppt/notesMasters/notesMaster1.xml" Id="Re8b92b0c8a7c4406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b9de0828929649c7" /><Relationship Type="http://schemas.openxmlformats.org/officeDocument/2006/relationships/notesMaster" Target="/ppt/notesMasters/notesMaster1.xml" Id="R76c8d3fc3ed841f9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d8e7e2834706421b" /><Relationship Type="http://schemas.openxmlformats.org/officeDocument/2006/relationships/notesMaster" Target="/ppt/notesMasters/notesMaster1.xml" Id="R2b8120a165604916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4910d32469a343bd" /><Relationship Type="http://schemas.openxmlformats.org/officeDocument/2006/relationships/notesMaster" Target="/ppt/notesMasters/notesMaster1.xml" Id="Rc53451eacc274c67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9352ca81f4c14640" /><Relationship Type="http://schemas.openxmlformats.org/officeDocument/2006/relationships/notesMaster" Target="/ppt/notesMasters/notesMaster1.xml" Id="Ra906e9e6012e4adc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7f29e9948cd947c3" /><Relationship Type="http://schemas.openxmlformats.org/officeDocument/2006/relationships/notesMaster" Target="/ppt/notesMasters/notesMaster1.xml" Id="Re7096941f08f46f3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90ad4ccff05e46ae" /><Relationship Type="http://schemas.openxmlformats.org/officeDocument/2006/relationships/notesMaster" Target="/ppt/notesMasters/notesMaster1.xml" Id="R9420025c878643c8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80a116ef51884cba" /><Relationship Type="http://schemas.openxmlformats.org/officeDocument/2006/relationships/notesMaster" Target="/ppt/notesMasters/notesMaster1.xml" Id="Re927c9807f254201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626c92eee71f4c6b" /><Relationship Type="http://schemas.openxmlformats.org/officeDocument/2006/relationships/notesMaster" Target="/ppt/notesMasters/notesMaster1.xml" Id="R41e54362c0c64a98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5b404c42aeeb4cfa" /><Relationship Type="http://schemas.openxmlformats.org/officeDocument/2006/relationships/notesMaster" Target="/ppt/notesMasters/notesMaster1.xml" Id="R80cfd3c7247e4fe2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d52bff6931234b1c" /><Relationship Type="http://schemas.openxmlformats.org/officeDocument/2006/relationships/notesMaster" Target="/ppt/notesMasters/notesMaster1.xml" Id="Re67541c5f1ba4ed4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a081dda838cf4b3c" /><Relationship Type="http://schemas.openxmlformats.org/officeDocument/2006/relationships/notesMaster" Target="/ppt/notesMasters/notesMaster1.xml" Id="R7e36f34fb5024749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55fd6ed30ae14a05" /><Relationship Type="http://schemas.openxmlformats.org/officeDocument/2006/relationships/notesMaster" Target="/ppt/notesMasters/notesMaster1.xml" Id="R0b58288020d74888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80346f4bd2214395" /><Relationship Type="http://schemas.openxmlformats.org/officeDocument/2006/relationships/notesMaster" Target="/ppt/notesMasters/notesMaster1.xml" Id="R755e15e6b0c54ac2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609ee5619e534734" /><Relationship Type="http://schemas.openxmlformats.org/officeDocument/2006/relationships/notesMaster" Target="/ppt/notesMasters/notesMaster1.xml" Id="R418b43fe52a64ab6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4994d083652245a4" /><Relationship Type="http://schemas.openxmlformats.org/officeDocument/2006/relationships/notesMaster" Target="/ppt/notesMasters/notesMaster1.xml" Id="R807c721a5ea74b15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7581dc6dd8794fc2" /><Relationship Type="http://schemas.openxmlformats.org/officeDocument/2006/relationships/notesMaster" Target="/ppt/notesMasters/notesMaster1.xml" Id="R3da6d11e0bf1472f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32028193a7e44402" /><Relationship Type="http://schemas.openxmlformats.org/officeDocument/2006/relationships/notesMaster" Target="/ppt/notesMasters/notesMaster1.xml" Id="R3d31f4c33cfd4651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9a9c5edbee52417e" /><Relationship Type="http://schemas.openxmlformats.org/officeDocument/2006/relationships/notesMaster" Target="/ppt/notesMasters/notesMaster1.xml" Id="R22f284b359db469f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d2aae779f59b4af4" /><Relationship Type="http://schemas.openxmlformats.org/officeDocument/2006/relationships/notesMaster" Target="/ppt/notesMasters/notesMaster1.xml" Id="R9f53497348744d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Initiation à l'IA : comprendre, pratiquer, sécuriser - À la fin, chaque participant dispose d'un usage priorisé, d'un prompt et d'un contrôle.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Présenter le parcours du formateur en lien direct avec les enjeux de la formation : technique, conformité, usages et pédagogie.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À la fin, vous savez utiliser l'IA avec méthode - Votre production finale : un plan d'intégration IA exploitable en 30 jours.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Présenter cette slide comme la carte du parcours. Elle sert de repère quand la formation passe d'un type d'usage à un autre.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Deux demi-journées, une progression lisible - Le fil conducteur reste le même : produire utile sans perdre le contrôle.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Installer la progression : Comprendre le terrain de jeu. Faire le lien entre ce qui vient d'être vu et ce que les participants vont produire dans cette partie.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formation fonctionne comme un banc d'essai - On apprend mieux avec une sortie imparfaite qu'avec une définition parfaite.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Tout ce qui est testé ici reste en zone verte - Compte gratuit = zone verte.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Repérer les usages déjà présents autour de soi - But du jeu : voir l'IA comme une boîte à usages, pas comme un seul chatbot.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L'IA générative devient multimodale et opérationnelle - La question utile : quelle tâche, quelles données, quel contrôle 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littératie IA devient une obligation de compétence - Se former à l'IA devient une preuve concrète de montée en compétence.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 que l'IA sait bien faire, et ce qui reste fragile - Le bon usage ajoute un contrôle humain explicite.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Une boîte à outils, pas une course au gadget - Un outil spectaculaire n'est pas forcément un outil publiable.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Installer la progression : Apprendre la méthode CRAFT. Faire le lien entre ce qui vient d'être vu et ce que les participants vont produire dans cette partie.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CRAFT transforme une demande floue en consigne exploitable - Un bon prompt est une mini-fiche de 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différence se voit immédiatement dans la qualité de sortie - La précision économise les allers-retours.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 contexte évite les réponses génériques - Sans contexte, l'IA devine. Avec contexte, elle travaille.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 rôle fixe l'angle de réponse - Un même contexte donne quatre réponses selon le rôle choisi.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L'action doit commencer par un verbe clair - Le verbe pilote la sortie.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 format rend la sortie directement exploitable - Un format précis rapproche la sortie de l'usage réel.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 T oblige l'IA à rendre la sortie vérifiable - Tester la sortie fait partie du travail.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 modèle prêt à copier - Copier le canevas, puis remplacer les crochets.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Comparer deux prompts rend la progression visible - La comparaison vaut mieux qu'une explication abstraite.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Installer la progression : Produire sur des cas simples. Faire le lien entre ce qui vient d'être vu et ce que les participants vont produire dans cette partie.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Prompt CRAFT : relance de devis fictif - Production : une version courte, claire et vérifiable.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Email pro : relance de devis - À personnaliser : nom, prestation, date d'envoi, créneau proposé.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Prompt de correction : rendre l'email plus naturel - L'itération transforme un brouillon en support utilisable.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Prompt CRAFT : notes brutes vers synthèse - Production : un compte rendu actionnable.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Matière de départ à donner à l'IA - Des notes simples suffisent pour apprendre la méthode.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Compte rendu actionnable - Une bonne synthèse révèle aussi ce qui manque.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Prompt CRAFT : synthèse exploitable - Le résumé doit aider à décider, pas seulement raccourcir.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Demander à l'IA de séparer source et suggestion - Ce qui n'est pas dans la source doit rester visible.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Prompt CRAFT : adapter sans trahir - Adapter n'est pas simplement traduire mot à mot.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Prompt CRAFT : transformer une liste en tableau - La structure rend les données utilisables.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Une sortie utile prépare l'action - Un tableau utile est simple à relire.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Installer la progression : Choisir des cas d'usage TPME. Faire le lien entre ce qui vient d'être vu et ce que les participants vont produire dans cette partie.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 meilleurs usages sont répétitifs, rédactionnels ou structurants - Priorité : faible risque, forte fréquence, résultat facile à vérifier.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Gagner du temps sur les tâches répétitives - Priorité : produire plus vite, relire mieux.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Passer d'une idée à plusieurs angles de campagne - Le terrain valide les hypothèses que l'IA formule.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Répondre plus vite sans perdre l'humain - Un client doit sentir la qualité, pas l'automatisation.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Aider à préparer, relancer et qualifier - Le bon usage augmente la pertinence, pas la pression.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Préparer des contenus sans exposer les salariés - Les situations individuelles restent hors outils gratuits.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Structurer sans déléguer le contrôle - Chaque montant, formule et date reste à vérifier.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Rendre les routines plus lisibles - L'IA aide à formaliser ce que l'équipe fait déjà.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Préparer des questions, jamais remplacer le conseil - Toute décision juridique demande validation compétente.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Documenter, expliquer, prioriser - Jamais de mot de passe, jeton, clé API ou configuration sensible.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Installer la progression : Explorer les formats avancés. Faire le lien entre ce qui vient d'être vu et ce que les participants vont produire dans cette partie.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Créer un prompt visuel exploitable - Une image IA publiée doit éviter la confusion et les droits flous.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Storyboard avant génération vidéo - Pour la vidéo, préparer avant de générer.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Cas d'usage possible, zone rouge par défaut - Le consentement n'est pas une option décorative : c'est la condition de départ.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Écrire un script vocal sans cloner de voix - Le clonage vocal d'une personne réelle exige consentement explicite.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Préparer un brief de jingle IA - Un brief sonore responsable évite l'imitation ciblée.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Transformer un appel en suivi - La synthèse d'appel ne remplace pas l'écoute.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Décrire un agent avant de l'activer - Un agent utile commence en mode brouillon.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Obtenir une réponse avec sources vérifiables - Une réponse sans source ne suffit pas pour une décision professionnelle.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Relier les outils sans automatiser l'erreur - L'automatisation commence par un brouillon vérifié.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Chaque idée passe par trois cartes - Une bonne idée non maîtrisée attendra ; une petite idée sûre peut démarrer.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Chaque sortie passe par cinq questions - Une sortie non vérifiée reste un brouillon.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créativité IA ne suspend pas le droit des données - Quand une donnée n'est pas nécessaire, elle reste hors outil.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Installer la progression : Sécuriser avant de diffuser ou automatiser. Faire le lien entre ce qui vient d'être vu et ce que les participants vont produire dans cette partie.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Créer ne veut pas dire tout pouvoir publier - Un contenu rapide à produire peut être lent à sécuriser.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Plus l'IA agit, plus les garde-fous comptent - Automatiser une erreur la rend plus rapide, pas moins grave.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 meilleur outil est celui que l'on peut utiliser correctement - Si le contrôle est flou, l'usage n'est pas prêt.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 pilote court vaut mieux qu'une grande annonce - Un pilote réussi est petit, documenté et réplicable.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Transformer un prompt en usage réel - Un usage IA doit être assez clair pour être répété.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Cas : relance commerciale simple - Le premier pilote doit rester modeste.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Présenter son plan comme une décision d'équipe - La clarté du pitch révèle la maturité du plan.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Installer la progression : Formaliser un plan d'action IA. Faire le lien entre ce qui vient d'être vu et ce que les participants vont produire dans cette partie.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 prompt validé coche cinq cases - Un prompt réutilisable est un actif de travail.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CRAFT rend l'IA plus utile parce qu'elle impose de penser la tâche. - Prompt clair, donnée maîtrisée, validation humaine.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 outils évoluent ; les règles de vérification restent stables - Vérifier les conditions de chaque outil avant un usage professionnel.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Vous repartez avec une méthode de prompt, des exemples et une grille de contrôle. - Merci, et bons prompts CRAFT.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86c9910bdb4b6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6acd45c050468c" /><Relationship Type="http://schemas.openxmlformats.org/officeDocument/2006/relationships/slideLayout" Target="/ppt/slideLayouts/slideLayout1.xml" Id="Rc0d21da0fdd445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d21da0fdd445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3a66a02d324d47" /><Relationship Type="http://schemas.openxmlformats.org/officeDocument/2006/relationships/image" Target="/ppt/media/image.png" Id="R5fbb825d15334d3d" /><Relationship Type="http://schemas.openxmlformats.org/officeDocument/2006/relationships/image" Target="/ppt/media/image2.png" Id="Rd72eb5c7b8e84257" /><Relationship Type="http://schemas.openxmlformats.org/officeDocument/2006/relationships/notesSlide" Target="/ppt/notesSlides/notesSlide1.xml" Id="R783cb5857e7146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08cf2d9346497a" /><Relationship Type="http://schemas.openxmlformats.org/officeDocument/2006/relationships/image" Target="/ppt/media/image3.png" Id="R91a149e7f73e49ee" /><Relationship Type="http://schemas.openxmlformats.org/officeDocument/2006/relationships/image" Target="/ppt/media/image4.png" Id="R9d8d25ab14e64f68" /><Relationship Type="http://schemas.openxmlformats.org/officeDocument/2006/relationships/notesSlide" Target="/ppt/notesSlides/notesSlide2.xml" Id="R08e0e7c9ffaa4e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83a0940dcd49c1" /><Relationship Type="http://schemas.openxmlformats.org/officeDocument/2006/relationships/image" Target="/ppt/media/image5.png" Id="R75bb254f8a1a4762" /><Relationship Type="http://schemas.openxmlformats.org/officeDocument/2006/relationships/image" Target="/ppt/media/image6.png" Id="R4617266d77254f7e" /><Relationship Type="http://schemas.openxmlformats.org/officeDocument/2006/relationships/notesSlide" Target="/ppt/notesSlides/notesSlide3.xml" Id="R47aceeb19f1f45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c53d7ecf5549e1" /><Relationship Type="http://schemas.openxmlformats.org/officeDocument/2006/relationships/image" Target="/ppt/media/image7.png" Id="R42f91d621d974abb" /><Relationship Type="http://schemas.openxmlformats.org/officeDocument/2006/relationships/image" Target="/ppt/media/image8.png" Id="Rb19396d70f5244d9" /><Relationship Type="http://schemas.openxmlformats.org/officeDocument/2006/relationships/notesSlide" Target="/ppt/notesSlides/notesSlide4.xml" Id="Rd150bfca04ab47f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6798c811b7401b" /><Relationship Type="http://schemas.openxmlformats.org/officeDocument/2006/relationships/image" Target="/ppt/media/image9.png" Id="Rbad10cd724474c3a" /><Relationship Type="http://schemas.openxmlformats.org/officeDocument/2006/relationships/image" Target="/ppt/media/image10.png" Id="R73e8901901ce4ff9" /><Relationship Type="http://schemas.openxmlformats.org/officeDocument/2006/relationships/notesSlide" Target="/ppt/notesSlides/notesSlide5.xml" Id="Rcc046461157e457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5f25c8aeea488a" /><Relationship Type="http://schemas.openxmlformats.org/officeDocument/2006/relationships/image" Target="/ppt/media/image11.png" Id="Rfb537d2f73a94083" /><Relationship Type="http://schemas.openxmlformats.org/officeDocument/2006/relationships/image" Target="/ppt/media/image12.png" Id="R6b1c7c48bb55413d" /><Relationship Type="http://schemas.openxmlformats.org/officeDocument/2006/relationships/notesSlide" Target="/ppt/notesSlides/notesSlide6.xml" Id="R2ef6d1ee4a94473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f1bc94c6854afa" /><Relationship Type="http://schemas.openxmlformats.org/officeDocument/2006/relationships/image" Target="/ppt/media/image13.png" Id="Rced874e3a1804931" /><Relationship Type="http://schemas.openxmlformats.org/officeDocument/2006/relationships/image" Target="/ppt/media/image14.png" Id="R5df03b7233ee4f86" /><Relationship Type="http://schemas.openxmlformats.org/officeDocument/2006/relationships/notesSlide" Target="/ppt/notesSlides/notesSlide7.xml" Id="R57d2a14839124ef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9b760cc16548e0" /><Relationship Type="http://schemas.openxmlformats.org/officeDocument/2006/relationships/image" Target="/ppt/media/image15.png" Id="Rea566f22c1804e36" /><Relationship Type="http://schemas.openxmlformats.org/officeDocument/2006/relationships/image" Target="/ppt/media/image16.png" Id="R577f7cdc9622449f" /><Relationship Type="http://schemas.openxmlformats.org/officeDocument/2006/relationships/notesSlide" Target="/ppt/notesSlides/notesSlide8.xml" Id="Re5cadfae6abb459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71803ec8564214" /><Relationship Type="http://schemas.openxmlformats.org/officeDocument/2006/relationships/image" Target="/ppt/media/image17.png" Id="R985c0c595fd14dbe" /><Relationship Type="http://schemas.openxmlformats.org/officeDocument/2006/relationships/image" Target="/ppt/media/image18.png" Id="R726ef338bbac41fc" /><Relationship Type="http://schemas.openxmlformats.org/officeDocument/2006/relationships/notesSlide" Target="/ppt/notesSlides/notesSlide9.xml" Id="Re214115932474e6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1cd9ac89254a6f" /><Relationship Type="http://schemas.openxmlformats.org/officeDocument/2006/relationships/image" Target="/ppt/media/image19.png" Id="R07c79a406d3e48d0" /><Relationship Type="http://schemas.openxmlformats.org/officeDocument/2006/relationships/image" Target="/ppt/media/image20.png" Id="Rce14e4c154e44563" /><Relationship Type="http://schemas.openxmlformats.org/officeDocument/2006/relationships/notesSlide" Target="/ppt/notesSlides/notesSlide10.xml" Id="R6b043454820847b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d62117eaab46e5" /><Relationship Type="http://schemas.openxmlformats.org/officeDocument/2006/relationships/image" Target="/ppt/media/image21.png" Id="R59314aefa6c44912" /><Relationship Type="http://schemas.openxmlformats.org/officeDocument/2006/relationships/image" Target="/ppt/media/image22.png" Id="R681d06235cb04c5e" /><Relationship Type="http://schemas.openxmlformats.org/officeDocument/2006/relationships/notesSlide" Target="/ppt/notesSlides/notesSlide11.xml" Id="R52487c83160f485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19f94b79404435" /><Relationship Type="http://schemas.openxmlformats.org/officeDocument/2006/relationships/image" Target="/ppt/media/image23.png" Id="R6cc34029f46a42ec" /><Relationship Type="http://schemas.openxmlformats.org/officeDocument/2006/relationships/image" Target="/ppt/media/image24.png" Id="R2e52c6c3e0004040" /><Relationship Type="http://schemas.openxmlformats.org/officeDocument/2006/relationships/notesSlide" Target="/ppt/notesSlides/notesSlide12.xml" Id="R43c4b4ed13c849f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482cc50b80405d" /><Relationship Type="http://schemas.openxmlformats.org/officeDocument/2006/relationships/image" Target="/ppt/media/image25.png" Id="R209065d645db4165" /><Relationship Type="http://schemas.openxmlformats.org/officeDocument/2006/relationships/image" Target="/ppt/media/image26.png" Id="R5065e1c2d2bc490a" /><Relationship Type="http://schemas.openxmlformats.org/officeDocument/2006/relationships/notesSlide" Target="/ppt/notesSlides/notesSlide13.xml" Id="R392b17e2da3c47a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f589ebeae44aa1" /><Relationship Type="http://schemas.openxmlformats.org/officeDocument/2006/relationships/image" Target="/ppt/media/image27.png" Id="R4291d8503d5c4b2e" /><Relationship Type="http://schemas.openxmlformats.org/officeDocument/2006/relationships/image" Target="/ppt/media/image28.png" Id="R0842e6bf55ff4138" /><Relationship Type="http://schemas.openxmlformats.org/officeDocument/2006/relationships/notesSlide" Target="/ppt/notesSlides/notesSlide14.xml" Id="Rd52d8cf0d930478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1b323862b54098" /><Relationship Type="http://schemas.openxmlformats.org/officeDocument/2006/relationships/image" Target="/ppt/media/image29.png" Id="Rbf710833e50947d3" /><Relationship Type="http://schemas.openxmlformats.org/officeDocument/2006/relationships/image" Target="/ppt/media/image30.png" Id="R4fbdd02fcaec423b" /><Relationship Type="http://schemas.openxmlformats.org/officeDocument/2006/relationships/notesSlide" Target="/ppt/notesSlides/notesSlide15.xml" Id="R5245b14b5e72442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529e0517b74f91" /><Relationship Type="http://schemas.openxmlformats.org/officeDocument/2006/relationships/image" Target="/ppt/media/image31.png" Id="Rdffe1df3581246e2" /><Relationship Type="http://schemas.openxmlformats.org/officeDocument/2006/relationships/image" Target="/ppt/media/image32.png" Id="Reb93d9edf4d74738" /><Relationship Type="http://schemas.openxmlformats.org/officeDocument/2006/relationships/notesSlide" Target="/ppt/notesSlides/notesSlide16.xml" Id="Rca7753ca5e254de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4a691b0ded4539" /><Relationship Type="http://schemas.openxmlformats.org/officeDocument/2006/relationships/image" Target="/ppt/media/image33.png" Id="R69801ce043df4fa6" /><Relationship Type="http://schemas.openxmlformats.org/officeDocument/2006/relationships/image" Target="/ppt/media/image34.png" Id="Ra94f359cd24043ee" /><Relationship Type="http://schemas.openxmlformats.org/officeDocument/2006/relationships/notesSlide" Target="/ppt/notesSlides/notesSlide17.xml" Id="R7ae45ec70a25418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fca2bbf5f45c3" /><Relationship Type="http://schemas.openxmlformats.org/officeDocument/2006/relationships/image" Target="/ppt/media/image35.png" Id="R648401a632444552" /><Relationship Type="http://schemas.openxmlformats.org/officeDocument/2006/relationships/image" Target="/ppt/media/image36.png" Id="Ra049159f645045e8" /><Relationship Type="http://schemas.openxmlformats.org/officeDocument/2006/relationships/notesSlide" Target="/ppt/notesSlides/notesSlide18.xml" Id="Rb4770ba68d7c425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3918719f69458b" /><Relationship Type="http://schemas.openxmlformats.org/officeDocument/2006/relationships/image" Target="/ppt/media/image37.png" Id="R4098d3f96fb64946" /><Relationship Type="http://schemas.openxmlformats.org/officeDocument/2006/relationships/image" Target="/ppt/media/image38.png" Id="Rccd1f31e755c4047" /><Relationship Type="http://schemas.openxmlformats.org/officeDocument/2006/relationships/notesSlide" Target="/ppt/notesSlides/notesSlide19.xml" Id="R5e26423bd4e5483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b6684017c44523" /><Relationship Type="http://schemas.openxmlformats.org/officeDocument/2006/relationships/image" Target="/ppt/media/image39.png" Id="R4f5a70e212cc4214" /><Relationship Type="http://schemas.openxmlformats.org/officeDocument/2006/relationships/image" Target="/ppt/media/image40.png" Id="Rc9b7d39600174972" /><Relationship Type="http://schemas.openxmlformats.org/officeDocument/2006/relationships/notesSlide" Target="/ppt/notesSlides/notesSlide20.xml" Id="R670d7bd57c19466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a20acb459448ef" /><Relationship Type="http://schemas.openxmlformats.org/officeDocument/2006/relationships/image" Target="/ppt/media/image41.png" Id="Rd193462febab4dcf" /><Relationship Type="http://schemas.openxmlformats.org/officeDocument/2006/relationships/image" Target="/ppt/media/image42.png" Id="R438972b450fa490e" /><Relationship Type="http://schemas.openxmlformats.org/officeDocument/2006/relationships/notesSlide" Target="/ppt/notesSlides/notesSlide21.xml" Id="R2531c8d43b834ee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9af121de444d61" /><Relationship Type="http://schemas.openxmlformats.org/officeDocument/2006/relationships/image" Target="/ppt/media/image43.png" Id="R0621c4bfbe80461e" /><Relationship Type="http://schemas.openxmlformats.org/officeDocument/2006/relationships/image" Target="/ppt/media/image44.png" Id="R6b3fd181b51b4fbd" /><Relationship Type="http://schemas.openxmlformats.org/officeDocument/2006/relationships/notesSlide" Target="/ppt/notesSlides/notesSlide22.xml" Id="Rddbb3e03fcad4fa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bf004927be4358" /><Relationship Type="http://schemas.openxmlformats.org/officeDocument/2006/relationships/image" Target="/ppt/media/image45.png" Id="R3796f9dcac09467c" /><Relationship Type="http://schemas.openxmlformats.org/officeDocument/2006/relationships/image" Target="/ppt/media/image46.png" Id="R36f4e137da4442a9" /><Relationship Type="http://schemas.openxmlformats.org/officeDocument/2006/relationships/notesSlide" Target="/ppt/notesSlides/notesSlide23.xml" Id="Rcb756a59bf2c4d8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3bb80ae1d343e0" /><Relationship Type="http://schemas.openxmlformats.org/officeDocument/2006/relationships/image" Target="/ppt/media/image47.png" Id="R900a343b4fcf4eef" /><Relationship Type="http://schemas.openxmlformats.org/officeDocument/2006/relationships/image" Target="/ppt/media/image48.png" Id="R335d07a4997942b1" /><Relationship Type="http://schemas.openxmlformats.org/officeDocument/2006/relationships/notesSlide" Target="/ppt/notesSlides/notesSlide24.xml" Id="R001607924e6b49b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3ac1c7e9c74a68" /><Relationship Type="http://schemas.openxmlformats.org/officeDocument/2006/relationships/image" Target="/ppt/media/image49.png" Id="R5e28812e832b45ff" /><Relationship Type="http://schemas.openxmlformats.org/officeDocument/2006/relationships/image" Target="/ppt/media/image50.png" Id="R62e45731eef04aff" /><Relationship Type="http://schemas.openxmlformats.org/officeDocument/2006/relationships/notesSlide" Target="/ppt/notesSlides/notesSlide25.xml" Id="R96d25442ed9342a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a57eead7124859" /><Relationship Type="http://schemas.openxmlformats.org/officeDocument/2006/relationships/image" Target="/ppt/media/image51.png" Id="R383bd417a28b4059" /><Relationship Type="http://schemas.openxmlformats.org/officeDocument/2006/relationships/image" Target="/ppt/media/image52.png" Id="R5a8ef31bf4634f3d" /><Relationship Type="http://schemas.openxmlformats.org/officeDocument/2006/relationships/notesSlide" Target="/ppt/notesSlides/notesSlide26.xml" Id="R7809bc7765e54dc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2ce3ca9cb94d2b" /><Relationship Type="http://schemas.openxmlformats.org/officeDocument/2006/relationships/image" Target="/ppt/media/image53.png" Id="Raba9cb7bff754b78" /><Relationship Type="http://schemas.openxmlformats.org/officeDocument/2006/relationships/image" Target="/ppt/media/image54.png" Id="R8e5c660db07d4f80" /><Relationship Type="http://schemas.openxmlformats.org/officeDocument/2006/relationships/notesSlide" Target="/ppt/notesSlides/notesSlide27.xml" Id="Rc3b6dedcdb0b4e5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5fde64cefd4dc3" /><Relationship Type="http://schemas.openxmlformats.org/officeDocument/2006/relationships/image" Target="/ppt/media/image55.png" Id="R8c2a2b36763d43b3" /><Relationship Type="http://schemas.openxmlformats.org/officeDocument/2006/relationships/image" Target="/ppt/media/image56.png" Id="R455340b9d1584977" /><Relationship Type="http://schemas.openxmlformats.org/officeDocument/2006/relationships/notesSlide" Target="/ppt/notesSlides/notesSlide28.xml" Id="Rf42ca81835bb407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508e11c6514b90" /><Relationship Type="http://schemas.openxmlformats.org/officeDocument/2006/relationships/image" Target="/ppt/media/image57.png" Id="Rfa6251a2474b48d4" /><Relationship Type="http://schemas.openxmlformats.org/officeDocument/2006/relationships/image" Target="/ppt/media/image58.png" Id="Rf89a225dd4414a46" /><Relationship Type="http://schemas.openxmlformats.org/officeDocument/2006/relationships/notesSlide" Target="/ppt/notesSlides/notesSlide29.xml" Id="R21092564b53b4f7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fb1eb62baf4842" /><Relationship Type="http://schemas.openxmlformats.org/officeDocument/2006/relationships/image" Target="/ppt/media/image59.png" Id="R982a136bdc6b4a77" /><Relationship Type="http://schemas.openxmlformats.org/officeDocument/2006/relationships/image" Target="/ppt/media/image60.png" Id="Rb34887ee26e4445c" /><Relationship Type="http://schemas.openxmlformats.org/officeDocument/2006/relationships/notesSlide" Target="/ppt/notesSlides/notesSlide30.xml" Id="Rec1e4de1e520478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17af668f7e4ad1" /><Relationship Type="http://schemas.openxmlformats.org/officeDocument/2006/relationships/image" Target="/ppt/media/image61.png" Id="Rf56bceb7e1e14fa1" /><Relationship Type="http://schemas.openxmlformats.org/officeDocument/2006/relationships/image" Target="/ppt/media/image62.png" Id="R5e9b753d17f34e5e" /><Relationship Type="http://schemas.openxmlformats.org/officeDocument/2006/relationships/notesSlide" Target="/ppt/notesSlides/notesSlide31.xml" Id="Rd19237574ac24e2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d8e1a405944389" /><Relationship Type="http://schemas.openxmlformats.org/officeDocument/2006/relationships/image" Target="/ppt/media/image63.png" Id="Rd1d6ce6798224f43" /><Relationship Type="http://schemas.openxmlformats.org/officeDocument/2006/relationships/image" Target="/ppt/media/image64.png" Id="R4fe3a495516d49df" /><Relationship Type="http://schemas.openxmlformats.org/officeDocument/2006/relationships/notesSlide" Target="/ppt/notesSlides/notesSlide32.xml" Id="R1f0894f10a0a4e4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fc3c0c0d734293" /><Relationship Type="http://schemas.openxmlformats.org/officeDocument/2006/relationships/image" Target="/ppt/media/image65.png" Id="R1db927fc16c94209" /><Relationship Type="http://schemas.openxmlformats.org/officeDocument/2006/relationships/image" Target="/ppt/media/image66.png" Id="R8d5334cb47f74e19" /><Relationship Type="http://schemas.openxmlformats.org/officeDocument/2006/relationships/notesSlide" Target="/ppt/notesSlides/notesSlide33.xml" Id="Re143ad9317df45a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6f7d9c6fbf4f95" /><Relationship Type="http://schemas.openxmlformats.org/officeDocument/2006/relationships/image" Target="/ppt/media/image67.png" Id="R24eb75012c6f40a5" /><Relationship Type="http://schemas.openxmlformats.org/officeDocument/2006/relationships/image" Target="/ppt/media/image68.png" Id="R6ab64f794ec54bed" /><Relationship Type="http://schemas.openxmlformats.org/officeDocument/2006/relationships/notesSlide" Target="/ppt/notesSlides/notesSlide34.xml" Id="R381fa7f4f5fd45b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d07b6928dc4265" /><Relationship Type="http://schemas.openxmlformats.org/officeDocument/2006/relationships/image" Target="/ppt/media/image69.png" Id="Rd123ed4c55e34a0b" /><Relationship Type="http://schemas.openxmlformats.org/officeDocument/2006/relationships/image" Target="/ppt/media/image70.png" Id="Rbcf0754cf29c424f" /><Relationship Type="http://schemas.openxmlformats.org/officeDocument/2006/relationships/notesSlide" Target="/ppt/notesSlides/notesSlide35.xml" Id="R5922f19801eb4dd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26a96f2571407c" /><Relationship Type="http://schemas.openxmlformats.org/officeDocument/2006/relationships/image" Target="/ppt/media/image71.png" Id="Rbbd6aba10fae41cb" /><Relationship Type="http://schemas.openxmlformats.org/officeDocument/2006/relationships/image" Target="/ppt/media/image72.png" Id="Rb48dbac391b543f2" /><Relationship Type="http://schemas.openxmlformats.org/officeDocument/2006/relationships/notesSlide" Target="/ppt/notesSlides/notesSlide36.xml" Id="Rbf74a625ed6d43b6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dc37f10b414658" /><Relationship Type="http://schemas.openxmlformats.org/officeDocument/2006/relationships/image" Target="/ppt/media/image73.png" Id="Rd1d6f45f1e244b19" /><Relationship Type="http://schemas.openxmlformats.org/officeDocument/2006/relationships/image" Target="/ppt/media/image74.png" Id="Ra85693f4d45b41dd" /><Relationship Type="http://schemas.openxmlformats.org/officeDocument/2006/relationships/notesSlide" Target="/ppt/notesSlides/notesSlide37.xml" Id="R581d07da68384b94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efb28e57b3457f" /><Relationship Type="http://schemas.openxmlformats.org/officeDocument/2006/relationships/image" Target="/ppt/media/image75.png" Id="R73b16395dff643fb" /><Relationship Type="http://schemas.openxmlformats.org/officeDocument/2006/relationships/image" Target="/ppt/media/image76.png" Id="R6458b9ddd9984d20" /><Relationship Type="http://schemas.openxmlformats.org/officeDocument/2006/relationships/notesSlide" Target="/ppt/notesSlides/notesSlide38.xml" Id="R53d956b32a8f4e31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0e83ff9f454f3a" /><Relationship Type="http://schemas.openxmlformats.org/officeDocument/2006/relationships/image" Target="/ppt/media/image77.png" Id="R056ee179ac804b1e" /><Relationship Type="http://schemas.openxmlformats.org/officeDocument/2006/relationships/image" Target="/ppt/media/image78.png" Id="R36c49f76cf72493c" /><Relationship Type="http://schemas.openxmlformats.org/officeDocument/2006/relationships/notesSlide" Target="/ppt/notesSlides/notesSlide39.xml" Id="Rc85196f9d0ee4b66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4d45eadaaf4d69" /><Relationship Type="http://schemas.openxmlformats.org/officeDocument/2006/relationships/image" Target="/ppt/media/image79.png" Id="R162d1778294c40d2" /><Relationship Type="http://schemas.openxmlformats.org/officeDocument/2006/relationships/image" Target="/ppt/media/image80.png" Id="R8f81ebbf79204ded" /><Relationship Type="http://schemas.openxmlformats.org/officeDocument/2006/relationships/notesSlide" Target="/ppt/notesSlides/notesSlide40.xml" Id="R7d4a350235df43d4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2a57f3f7674587" /><Relationship Type="http://schemas.openxmlformats.org/officeDocument/2006/relationships/image" Target="/ppt/media/image81.png" Id="R47f0bbec57154d41" /><Relationship Type="http://schemas.openxmlformats.org/officeDocument/2006/relationships/image" Target="/ppt/media/image82.png" Id="R0c8ad2b2dde54e01" /><Relationship Type="http://schemas.openxmlformats.org/officeDocument/2006/relationships/notesSlide" Target="/ppt/notesSlides/notesSlide41.xml" Id="R948cade964194992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6f060f964143b6" /><Relationship Type="http://schemas.openxmlformats.org/officeDocument/2006/relationships/image" Target="/ppt/media/image83.png" Id="R56061e0503484668" /><Relationship Type="http://schemas.openxmlformats.org/officeDocument/2006/relationships/image" Target="/ppt/media/image84.png" Id="R7b10ac7850fd4928" /><Relationship Type="http://schemas.openxmlformats.org/officeDocument/2006/relationships/notesSlide" Target="/ppt/notesSlides/notesSlide42.xml" Id="R7b272dc5e3b641d0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39a16871494f29" /><Relationship Type="http://schemas.openxmlformats.org/officeDocument/2006/relationships/image" Target="/ppt/media/image85.png" Id="Rb13a52b0c2af4baf" /><Relationship Type="http://schemas.openxmlformats.org/officeDocument/2006/relationships/image" Target="/ppt/media/image86.png" Id="R863fe9d45344490b" /><Relationship Type="http://schemas.openxmlformats.org/officeDocument/2006/relationships/notesSlide" Target="/ppt/notesSlides/notesSlide43.xml" Id="Rd1984f6bc42d4f28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6af2c4406d46f0" /><Relationship Type="http://schemas.openxmlformats.org/officeDocument/2006/relationships/image" Target="/ppt/media/image87.png" Id="Re8cc4a1f98c34c8a" /><Relationship Type="http://schemas.openxmlformats.org/officeDocument/2006/relationships/image" Target="/ppt/media/image88.png" Id="R64d1361b32f24dc6" /><Relationship Type="http://schemas.openxmlformats.org/officeDocument/2006/relationships/notesSlide" Target="/ppt/notesSlides/notesSlide44.xml" Id="R036083b193734c40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ccdb548c624457" /><Relationship Type="http://schemas.openxmlformats.org/officeDocument/2006/relationships/image" Target="/ppt/media/image89.png" Id="R60391a2e659643a4" /><Relationship Type="http://schemas.openxmlformats.org/officeDocument/2006/relationships/image" Target="/ppt/media/image90.png" Id="R46355824771b40e9" /><Relationship Type="http://schemas.openxmlformats.org/officeDocument/2006/relationships/notesSlide" Target="/ppt/notesSlides/notesSlide45.xml" Id="Rcfd37733c79a4435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a092eb1618426d" /><Relationship Type="http://schemas.openxmlformats.org/officeDocument/2006/relationships/image" Target="/ppt/media/image91.png" Id="R4c1934ea40a64dc4" /><Relationship Type="http://schemas.openxmlformats.org/officeDocument/2006/relationships/image" Target="/ppt/media/image92.png" Id="R003ddfe982464674" /><Relationship Type="http://schemas.openxmlformats.org/officeDocument/2006/relationships/notesSlide" Target="/ppt/notesSlides/notesSlide46.xml" Id="R4db2502f74144ef8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50cfc733844721" /><Relationship Type="http://schemas.openxmlformats.org/officeDocument/2006/relationships/image" Target="/ppt/media/image93.png" Id="Rf0f504058ede4351" /><Relationship Type="http://schemas.openxmlformats.org/officeDocument/2006/relationships/image" Target="/ppt/media/image94.png" Id="R94531f5f0e244b09" /><Relationship Type="http://schemas.openxmlformats.org/officeDocument/2006/relationships/notesSlide" Target="/ppt/notesSlides/notesSlide47.xml" Id="R03123c43c0244c17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041b5a3d61479a" /><Relationship Type="http://schemas.openxmlformats.org/officeDocument/2006/relationships/image" Target="/ppt/media/image95.png" Id="Rb94904094b214d7d" /><Relationship Type="http://schemas.openxmlformats.org/officeDocument/2006/relationships/image" Target="/ppt/media/image96.png" Id="R489e14be33254a24" /><Relationship Type="http://schemas.openxmlformats.org/officeDocument/2006/relationships/notesSlide" Target="/ppt/notesSlides/notesSlide48.xml" Id="R34dedcf59a96452d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d4af8679ff4a53" /><Relationship Type="http://schemas.openxmlformats.org/officeDocument/2006/relationships/image" Target="/ppt/media/image97.png" Id="R379b6345d1fd474e" /><Relationship Type="http://schemas.openxmlformats.org/officeDocument/2006/relationships/image" Target="/ppt/media/image98.png" Id="Rcda6a5596af34e33" /><Relationship Type="http://schemas.openxmlformats.org/officeDocument/2006/relationships/notesSlide" Target="/ppt/notesSlides/notesSlide49.xml" Id="Rcca5ff2868494587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27343ca6f444ee" /><Relationship Type="http://schemas.openxmlformats.org/officeDocument/2006/relationships/image" Target="/ppt/media/image99.png" Id="R27b7ab0a97e544d6" /><Relationship Type="http://schemas.openxmlformats.org/officeDocument/2006/relationships/image" Target="/ppt/media/image100.png" Id="Ra9490d70bd124717" /><Relationship Type="http://schemas.openxmlformats.org/officeDocument/2006/relationships/notesSlide" Target="/ppt/notesSlides/notesSlide50.xml" Id="Raadb3ed887864c70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a15b1585b247db" /><Relationship Type="http://schemas.openxmlformats.org/officeDocument/2006/relationships/image" Target="/ppt/media/image101.png" Id="Rfac78b6c5e064be6" /><Relationship Type="http://schemas.openxmlformats.org/officeDocument/2006/relationships/image" Target="/ppt/media/image102.png" Id="R44298e31a2ba4598" /><Relationship Type="http://schemas.openxmlformats.org/officeDocument/2006/relationships/notesSlide" Target="/ppt/notesSlides/notesSlide51.xml" Id="R3b03fb137d8a440a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2d8632282344b0" /><Relationship Type="http://schemas.openxmlformats.org/officeDocument/2006/relationships/image" Target="/ppt/media/image103.png" Id="Rf4e4ae5d5964417d" /><Relationship Type="http://schemas.openxmlformats.org/officeDocument/2006/relationships/image" Target="/ppt/media/image104.png" Id="Re2d419d9da4b4f63" /><Relationship Type="http://schemas.openxmlformats.org/officeDocument/2006/relationships/notesSlide" Target="/ppt/notesSlides/notesSlide52.xml" Id="Ra242fb3cc13b483e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33c1c26af64e50" /><Relationship Type="http://schemas.openxmlformats.org/officeDocument/2006/relationships/image" Target="/ppt/media/image105.png" Id="R728e4f90767a429b" /><Relationship Type="http://schemas.openxmlformats.org/officeDocument/2006/relationships/image" Target="/ppt/media/image106.png" Id="Rc6e04bc129e6479c" /><Relationship Type="http://schemas.openxmlformats.org/officeDocument/2006/relationships/notesSlide" Target="/ppt/notesSlides/notesSlide53.xml" Id="R8a04847d65b6430b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d348a7c1c441b4" /><Relationship Type="http://schemas.openxmlformats.org/officeDocument/2006/relationships/image" Target="/ppt/media/image107.png" Id="R77235e35c7b240f6" /><Relationship Type="http://schemas.openxmlformats.org/officeDocument/2006/relationships/image" Target="/ppt/media/image108.png" Id="Rdccb4e7ae3cc42eb" /><Relationship Type="http://schemas.openxmlformats.org/officeDocument/2006/relationships/notesSlide" Target="/ppt/notesSlides/notesSlide54.xml" Id="R0134b253d4434bfd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94272e6cf64f84" /><Relationship Type="http://schemas.openxmlformats.org/officeDocument/2006/relationships/image" Target="/ppt/media/image109.png" Id="Rf4d17cc50f054cd7" /><Relationship Type="http://schemas.openxmlformats.org/officeDocument/2006/relationships/image" Target="/ppt/media/image110.png" Id="Rf606d28daa354e8b" /><Relationship Type="http://schemas.openxmlformats.org/officeDocument/2006/relationships/notesSlide" Target="/ppt/notesSlides/notesSlide55.xml" Id="R32692be5a57a4f73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f6f7bbdeae45a8" /><Relationship Type="http://schemas.openxmlformats.org/officeDocument/2006/relationships/image" Target="/ppt/media/image111.png" Id="R4326bd83522a4700" /><Relationship Type="http://schemas.openxmlformats.org/officeDocument/2006/relationships/image" Target="/ppt/media/image112.png" Id="Rf8baa936196243e6" /><Relationship Type="http://schemas.openxmlformats.org/officeDocument/2006/relationships/notesSlide" Target="/ppt/notesSlides/notesSlide56.xml" Id="R7eefcb4b446d4726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de0704ebca4e25" /><Relationship Type="http://schemas.openxmlformats.org/officeDocument/2006/relationships/image" Target="/ppt/media/image113.png" Id="R047c368aca5344ed" /><Relationship Type="http://schemas.openxmlformats.org/officeDocument/2006/relationships/image" Target="/ppt/media/image114.png" Id="R9981ee21ed4e4b02" /><Relationship Type="http://schemas.openxmlformats.org/officeDocument/2006/relationships/notesSlide" Target="/ppt/notesSlides/notesSlide57.xml" Id="Rac46e9578fd94388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9ba49928674f73" /><Relationship Type="http://schemas.openxmlformats.org/officeDocument/2006/relationships/image" Target="/ppt/media/image115.png" Id="R1d84ad68d4d241f4" /><Relationship Type="http://schemas.openxmlformats.org/officeDocument/2006/relationships/image" Target="/ppt/media/image116.png" Id="R803bde4ad7854df3" /><Relationship Type="http://schemas.openxmlformats.org/officeDocument/2006/relationships/notesSlide" Target="/ppt/notesSlides/notesSlide58.xml" Id="Rf89bf4cd3baf4557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35013c57ef4c4c" /><Relationship Type="http://schemas.openxmlformats.org/officeDocument/2006/relationships/image" Target="/ppt/media/image117.png" Id="R263957db8a164e57" /><Relationship Type="http://schemas.openxmlformats.org/officeDocument/2006/relationships/image" Target="/ppt/media/image118.png" Id="R61c4adce856144df" /><Relationship Type="http://schemas.openxmlformats.org/officeDocument/2006/relationships/notesSlide" Target="/ppt/notesSlides/notesSlide59.xml" Id="R9ed198fa944a4af3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19b42d471f45f2" /><Relationship Type="http://schemas.openxmlformats.org/officeDocument/2006/relationships/image" Target="/ppt/media/image119.png" Id="R583d30bb41f8464a" /><Relationship Type="http://schemas.openxmlformats.org/officeDocument/2006/relationships/image" Target="/ppt/media/image120.png" Id="Rf9dcaf3434104e7d" /><Relationship Type="http://schemas.openxmlformats.org/officeDocument/2006/relationships/notesSlide" Target="/ppt/notesSlides/notesSlide60.xml" Id="R3e53aabd893e4fa6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eabeb6c2bc4347" /><Relationship Type="http://schemas.openxmlformats.org/officeDocument/2006/relationships/image" Target="/ppt/media/image121.png" Id="Rc978a37106524a95" /><Relationship Type="http://schemas.openxmlformats.org/officeDocument/2006/relationships/image" Target="/ppt/media/image122.png" Id="Re46fcbe210d648e5" /><Relationship Type="http://schemas.openxmlformats.org/officeDocument/2006/relationships/notesSlide" Target="/ppt/notesSlides/notesSlide61.xml" Id="R445b266e01e54ac1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290d028aea47ff" /><Relationship Type="http://schemas.openxmlformats.org/officeDocument/2006/relationships/image" Target="/ppt/media/image123.png" Id="R8dcf1b4325f9454d" /><Relationship Type="http://schemas.openxmlformats.org/officeDocument/2006/relationships/image" Target="/ppt/media/image124.png" Id="R17da58f2019248ad" /><Relationship Type="http://schemas.openxmlformats.org/officeDocument/2006/relationships/notesSlide" Target="/ppt/notesSlides/notesSlide62.xml" Id="Reb452c2035a141b5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f0634e3dd94a48" /><Relationship Type="http://schemas.openxmlformats.org/officeDocument/2006/relationships/image" Target="/ppt/media/image125.png" Id="Rb886ff01d6394f99" /><Relationship Type="http://schemas.openxmlformats.org/officeDocument/2006/relationships/image" Target="/ppt/media/image126.png" Id="Re1f80ad1c6aa44ce" /><Relationship Type="http://schemas.openxmlformats.org/officeDocument/2006/relationships/notesSlide" Target="/ppt/notesSlides/notesSlide63.xml" Id="R9e7aacfced6549d5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4d3f8e5a614957" /><Relationship Type="http://schemas.openxmlformats.org/officeDocument/2006/relationships/image" Target="/ppt/media/image127.png" Id="Rcca832eeca8a49d6" /><Relationship Type="http://schemas.openxmlformats.org/officeDocument/2006/relationships/image" Target="/ppt/media/image128.png" Id="R83c09f1753f74710" /><Relationship Type="http://schemas.openxmlformats.org/officeDocument/2006/relationships/notesSlide" Target="/ppt/notesSlides/notesSlide64.xml" Id="R570948cf862442e6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4fddd242a64774" /><Relationship Type="http://schemas.openxmlformats.org/officeDocument/2006/relationships/image" Target="/ppt/media/image129.png" Id="Rd1d3d713d3c840cc" /><Relationship Type="http://schemas.openxmlformats.org/officeDocument/2006/relationships/image" Target="/ppt/media/image130.png" Id="R20c59a2d7c464bad" /><Relationship Type="http://schemas.openxmlformats.org/officeDocument/2006/relationships/notesSlide" Target="/ppt/notesSlides/notesSlide65.xml" Id="Rff0928e0eeec42d1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8be9e8344340a0" /><Relationship Type="http://schemas.openxmlformats.org/officeDocument/2006/relationships/image" Target="/ppt/media/image131.png" Id="Rf2cca60438e64596" /><Relationship Type="http://schemas.openxmlformats.org/officeDocument/2006/relationships/image" Target="/ppt/media/image132.png" Id="Rce4b11e746084f92" /><Relationship Type="http://schemas.openxmlformats.org/officeDocument/2006/relationships/notesSlide" Target="/ppt/notesSlides/notesSlide66.xml" Id="R8d6e3adf3ad44ccf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95c42c557a43ac" /><Relationship Type="http://schemas.openxmlformats.org/officeDocument/2006/relationships/image" Target="/ppt/media/image133.png" Id="R8b86572fb2224d5e" /><Relationship Type="http://schemas.openxmlformats.org/officeDocument/2006/relationships/image" Target="/ppt/media/image134.png" Id="Re0762b1f43844355" /><Relationship Type="http://schemas.openxmlformats.org/officeDocument/2006/relationships/notesSlide" Target="/ppt/notesSlides/notesSlide67.xml" Id="R9602fe0eb6924e96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edade9978a4486" /><Relationship Type="http://schemas.openxmlformats.org/officeDocument/2006/relationships/image" Target="/ppt/media/image135.png" Id="Rc0050199fc3f4e97" /><Relationship Type="http://schemas.openxmlformats.org/officeDocument/2006/relationships/image" Target="/ppt/media/image136.png" Id="Rb182f1e2fba14e0e" /><Relationship Type="http://schemas.openxmlformats.org/officeDocument/2006/relationships/notesSlide" Target="/ppt/notesSlides/notesSlide68.xml" Id="R140ac3e254a14a06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a33eaf0f684caa" /><Relationship Type="http://schemas.openxmlformats.org/officeDocument/2006/relationships/image" Target="/ppt/media/image137.png" Id="Rb81cdfdec9c844ee" /><Relationship Type="http://schemas.openxmlformats.org/officeDocument/2006/relationships/image" Target="/ppt/media/image138.png" Id="Rec1e56aba2fd4fe6" /><Relationship Type="http://schemas.openxmlformats.org/officeDocument/2006/relationships/notesSlide" Target="/ppt/notesSlides/notesSlide69.xml" Id="R4835a802052f4e88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dc7fdd3fbc4f73" /><Relationship Type="http://schemas.openxmlformats.org/officeDocument/2006/relationships/image" Target="/ppt/media/image139.png" Id="R2a1ef08a40da4be1" /><Relationship Type="http://schemas.openxmlformats.org/officeDocument/2006/relationships/image" Target="/ppt/media/image140.png" Id="Rf1ad31f96b254937" /><Relationship Type="http://schemas.openxmlformats.org/officeDocument/2006/relationships/notesSlide" Target="/ppt/notesSlides/notesSlide70.xml" Id="Raf43a9ecb02740c1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8cbf72161d4cf5" /><Relationship Type="http://schemas.openxmlformats.org/officeDocument/2006/relationships/image" Target="/ppt/media/image141.png" Id="R0b0428cd71a44d68" /><Relationship Type="http://schemas.openxmlformats.org/officeDocument/2006/relationships/image" Target="/ppt/media/image142.png" Id="R1fb6184a60c6428e" /><Relationship Type="http://schemas.openxmlformats.org/officeDocument/2006/relationships/notesSlide" Target="/ppt/notesSlides/notesSlide71.xml" Id="R9b5421bfda1248d8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deaf96ca3d4959" /><Relationship Type="http://schemas.openxmlformats.org/officeDocument/2006/relationships/image" Target="/ppt/media/image143.png" Id="R4cc8ee8ac9f449f3" /><Relationship Type="http://schemas.openxmlformats.org/officeDocument/2006/relationships/image" Target="/ppt/media/image144.png" Id="R9a04df5229784d29" /><Relationship Type="http://schemas.openxmlformats.org/officeDocument/2006/relationships/notesSlide" Target="/ppt/notesSlides/notesSlide72.xml" Id="Rdfcf701d5de4425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531FB4-0BE2-4899-BD8D-7602162B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EFB4EE-5053-470B-831C-52D2987A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476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82D4C8-9749-493F-83D5-312C2802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D8162C-D640-40AB-A694-B6C6E1A7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10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FE8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FE8FF"/>
                </a:solidFill>
                <a:latin typeface="Aptos"/>
                <a:ea typeface="Aptos"/>
                <a:cs typeface="Aptos"/>
              </a:rPr>
              <a:t>FO-64 | Version hybride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B4B2CF-6077-4798-A0DB-F4E45FE8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3524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Initiation à l'IA : comprendre, pratiquer, sécuriser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A1A412-AE57-4108-87C9-5F358C7D0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57550"/>
            <a:ext cx="3524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6F4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6F4FF"/>
                </a:solidFill>
                <a:latin typeface="Aptos"/>
                <a:ea typeface="Aptos"/>
                <a:cs typeface="Aptos"/>
              </a:rPr>
              <a:t>Une version équilibrée : cadre pédagogique, méthode CRAFT, défis pratiques, outils et plan d'action.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C61DC8-E106-45F8-9C63-C9B73F69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200150"/>
            <a:ext cx="37719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4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AD3931-F48A-408F-889D-1523B7096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5811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Cap de la formation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F3FA1A-0BB7-4582-8F8D-0C002DB5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924050"/>
            <a:ext cx="29908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561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À la fin, chaque participant dispose d'un usage priorisé, d'un prompt et d'un contrôle.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bb825d15334d3d"/>
          <a:stretch xmlns:a="http://schemas.openxmlformats.org/drawingml/2006/main"/>
        </p:blipFill>
        <p:spPr>
          <a:xfrm xmlns:a="http://schemas.openxmlformats.org/drawingml/2006/main">
            <a:off x="9906000" y="273653"/>
            <a:ext cx="742950" cy="424244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2eb5c7b8e84257"/>
          <a:stretch xmlns:a="http://schemas.openxmlformats.org/drawingml/2006/main"/>
        </p:blipFill>
        <p:spPr>
          <a:xfrm xmlns:a="http://schemas.openxmlformats.org/drawingml/2006/main">
            <a:off x="10859009" y="209550"/>
            <a:ext cx="608581" cy="5524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AD057B-4DC4-491E-96D8-6965FCEF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24815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Your Project Solution | Orizon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21DD16-5C2E-4DE2-B142-1DB58D99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6101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2 et 3 juillet 2026 - 8h30 à 12h00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D017F5-773A-4937-8577-79BD3586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FE8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FE8FF"/>
                </a:solidFill>
                <a:latin typeface="Aptos"/>
                <a:ea typeface="Aptos"/>
                <a:cs typeface="Aptos"/>
              </a:rPr>
              <a:t>FO-64 - Hybride CRAFT pratique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17DE12-0067-4781-B0EE-4582DBEB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1/72</a:t>
            </a:r>
          </a:p>
        </p:txBody>
      </p:sp>
    </p:spTree>
    <p:extLst>
      <p:ext uri="{BB962C8B-B14F-4D97-AF65-F5344CB8AC3E}">
        <p14:creationId xmlns:p14="http://schemas.microsoft.com/office/powerpoint/2010/main" val="13235639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E100A2-0613-44F8-A258-A37178CF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BD3617-1EC7-479B-BF8F-316FB1FE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FD2A87-5AE0-4469-8BCA-0910CF77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4E6A95-6501-423F-9F8C-50E1E1D3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OUVERTURE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15A29B-AE2D-4CDE-9F55-0E4790C0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Formateur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BAF1DC-7D59-4BA4-B695-4A88B41A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FO-64 - Hybride CRAFT pratique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41DD24-D2EC-48D1-909D-E32954E5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2/72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32D55C-E17F-4033-B82B-B097D60A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Jean-Baptiste MONIN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7E982F-141A-4842-BF2F-216335CB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Consultant et formateur, plus de 20 ans d'expérience en informatique, cybersécurité et transformation numérique.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BE4331-73E2-4088-BC4E-510C3151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573D1B-3820-452A-BCA2-D810B9BE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Expert en sécurité digitale, RNCP niveau 7.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8A9500-737F-409C-B762-E24A9066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00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0F4814-F6CF-479E-BA60-28049C4C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Intervient sur les enjeux techniques, organisationnels et stratégiques de la cybersécurité et de l'IA.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5CB4F1-E42E-40FB-AD6F-1334098A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52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EAA643-71BC-4EAC-B3A8-52356050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Dirigeant d'organismes de formation et ancien juge aux affaires économiques.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798ABB-43F8-4090-B5DF-12556BB6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05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204B85-6324-4294-AC0A-A69AD7ED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3870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Approche : expertise technique, cadre réglementaire et pédagogie opérationnelle.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49E165-5A98-4BB8-9B33-B99F902F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310515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4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4F8491-2783-4F33-9A8B-57A5C008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762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B960FB-17EB-4A1F-9B54-89EE22C9B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5280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3BF464-D072-4B08-896D-844AA7A3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76650"/>
            <a:ext cx="26098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Un cadre clair pour relier usages, sécurité et décisions opérationnelles.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a149e7f73e49ee"/>
          <a:stretch xmlns:a="http://schemas.openxmlformats.org/drawingml/2006/main"/>
        </p:blipFill>
        <p:spPr>
          <a:xfrm xmlns:a="http://schemas.openxmlformats.org/drawingml/2006/main">
            <a:off x="9906000" y="273653"/>
            <a:ext cx="742950" cy="424244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8d25ab14e64f68"/>
          <a:stretch xmlns:a="http://schemas.openxmlformats.org/drawingml/2006/main"/>
        </p:blipFill>
        <p:spPr>
          <a:xfrm xmlns:a="http://schemas.openxmlformats.org/drawingml/2006/main">
            <a:off x="10859009" y="209550"/>
            <a:ext cx="60858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19087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0BBA44-4174-42BF-8865-94B9DC04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68A28D-BC1A-4BED-87FB-CAD080C19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AFCBF8-DA3F-4A7D-85FD-902DA8A0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F58070-566F-46D6-9C0E-EE452F62D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A3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A36A"/>
                </a:solidFill>
                <a:latin typeface="Aptos"/>
                <a:ea typeface="Aptos"/>
                <a:cs typeface="Aptos"/>
              </a:rPr>
              <a:t>OUVERTURE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7DE659-8EDC-4B37-8A1F-3A82C9ED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Cap de travail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9A013D-DAE9-4CA2-A668-4AC7339D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FO-64 - Hybride CRAFT pratique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1F5C31-FF18-4826-801B-2B120DDA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3/72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EA6D26-2C1B-4BAA-954F-7BD7D240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À la fin, vous savez utiliser l'IA avec méthode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CCC49C-716C-4EE4-8B9B-C696D47F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Vous passez d'une curiosité IA à une pratique professionnelle contrôlée.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F55234-F21D-41CF-90C0-A7985777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325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E943C5-BC55-4013-89FD-0731C6AF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A36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A36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12FE46-1C99-4019-84AD-06EA730D7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38550"/>
            <a:ext cx="287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Expliquer simplement ce qu'est l'intelligence artificielle et ses usages.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4E3D52-B3DD-4E23-A5B5-B89610B5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3219450"/>
            <a:ext cx="325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AF68DC-5A01-46FC-98C6-C93CE8B51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33528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A36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A36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48C8DE-1E70-4605-906E-5466B795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3638550"/>
            <a:ext cx="287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Identifier les atouts, limites et risques de l'IA pour les TPME.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E8E02F-F5E3-4B8A-9D39-B34EAEC0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0650" y="3219450"/>
            <a:ext cx="325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63DDF7-B14B-4095-A52E-1C61C4AA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150" y="33528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A36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A36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0EA6C3-8CC1-4AD0-9E55-1B43C418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150" y="3638550"/>
            <a:ext cx="287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Repérer les opportunités d'utilisation dans son contexte de travail.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4B0BC2-70CD-4372-BA97-EACDEC9F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325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47915D-68BB-4B8A-B0B9-136DD932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196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A36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A36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6D1128-3035-4369-8383-C66A30030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05350"/>
            <a:ext cx="287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Tester des outils d'IA accessibles et choisir les plus pertinents.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B499EE-C827-4819-8C66-7970AC38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4286250"/>
            <a:ext cx="325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4A80C5-B478-4C09-99ED-2C9BEBE1E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44196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A36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A36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A59979-1962-4489-9565-3F4CD9F8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4705350"/>
            <a:ext cx="287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Définir une stratégie progressive d'intégration de l'IA dans son activité.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3BB3EC-FA28-41F5-8EA9-A483603F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353050"/>
            <a:ext cx="738187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4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52AEBA-EF08-4AF0-84DC-136B81A8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35305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B7D2F8-948E-424D-8CE5-01CD8A44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467350"/>
            <a:ext cx="6886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A36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A36A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8E1B9B-4DCE-4B9A-94E5-2107C288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676900"/>
            <a:ext cx="6886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Votre production finale : un plan d'intégration IA exploitable en 30 jours.</a:t>
            </a:r>
          </a:p>
        </p:txBody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bb254f8a1a4762"/>
          <a:stretch xmlns:a="http://schemas.openxmlformats.org/drawingml/2006/main"/>
        </p:blipFill>
        <p:spPr>
          <a:xfrm xmlns:a="http://schemas.openxmlformats.org/drawingml/2006/main">
            <a:off x="9906000" y="273653"/>
            <a:ext cx="742950" cy="424244"/>
          </a:xfrm>
          <a:prstGeom xmlns:a="http://schemas.openxmlformats.org/drawingml/2006/main" prst="rect">
            <a:avLst/>
          </a:prstGeom>
        </p:spPr>
      </p:pic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17266d77254f7e"/>
          <a:stretch xmlns:a="http://schemas.openxmlformats.org/drawingml/2006/main"/>
        </p:blipFill>
        <p:spPr>
          <a:xfrm xmlns:a="http://schemas.openxmlformats.org/drawingml/2006/main">
            <a:off x="10859009" y="209550"/>
            <a:ext cx="60858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93980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2514A9-914E-477A-A8A0-43D32E6F7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5D31B1-D5E5-4BE2-816F-4581E0D7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869BEA-465F-4D34-8F24-4935EBAC5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53AC79-5B93-44D1-A041-C0A018E2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C6FB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C6FB7"/>
                </a:solidFill>
                <a:latin typeface="Aptos"/>
                <a:ea typeface="Aptos"/>
                <a:cs typeface="Aptos"/>
              </a:rPr>
              <a:t>OUVERTURE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D4AEE2-8C1F-4109-AC51-7E915C44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Fil rouge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4AAC22-CD9E-4C9E-A923-568240F6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FO-64 - Hybride CRAFT pratique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F64D5F-7499-4DCC-A4D4-2120F192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4/72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5B7DA3-24AA-4D3C-99BE-C880F1FC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La formation suit une progression en 7 étapes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A788DA-884D-4B26-A49E-8D2642B2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Chaque étape répond à une question simple avant de passer à la pratique suivante.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42A953-98C7-464E-BB93-12DA53376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9900"/>
            <a:ext cx="49339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783D86-4FB1-4129-9400-2943F999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337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F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39B4AC-90EA-41D0-9E6C-13EC6F5E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8135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4169AD-4730-43DA-B9F5-B4FC4B4A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114675"/>
            <a:ext cx="421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Comprendre le terrain de jeu : usages, limites, données.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4B8377-BBCB-49A3-9E4A-47FF0C2C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38550"/>
            <a:ext cx="49339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FD99D3-589C-4293-BF0F-CCC709F39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623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F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F9D7BE-636D-4F25-BABD-D70F4885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1000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FC9605-0D26-495C-98F3-682DFF58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43325"/>
            <a:ext cx="421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Apprendre CRAFT : transformer une idée en consigne exploitable.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ECFC19-3209-4670-B5B9-8A071660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67200"/>
            <a:ext cx="49339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32FEC5-163E-41D6-95C8-DBD8A83C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910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F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F97371-CF37-4C2A-B661-5EAA5A99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3865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BC7919-AE7A-4BF8-AB4E-9779BC17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71975"/>
            <a:ext cx="421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Produire sur des cas simples : email, résumé, adaptation, tableau.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573D9D-13A4-4987-B652-2C07E5A2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95850"/>
            <a:ext cx="49339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8CE4E9-0B80-4716-B12C-F7E31A63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19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F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CA3C7B-B923-491F-ACE6-CD0C2CED1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6730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5482DB-F1D6-4BBB-8DDA-8FCF7266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00625"/>
            <a:ext cx="421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Choisir les cas d'usage TPME : prioriser ce qui vaut le test.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C38338-D77F-486D-80E5-0D390608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009900"/>
            <a:ext cx="49339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E1DA36-C9A4-4853-B4E0-0E33D18B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337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F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A331BA-09C2-4B32-BAFD-E79FA4ED3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8135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B1B579-609E-41AD-B727-B0A319F5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14675"/>
            <a:ext cx="421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Explorer les formats avancés : image, vidéo, voix, agents.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BDDB8E-141F-4322-B7C7-5813B638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38550"/>
            <a:ext cx="49339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5581D0-92E6-466D-AD23-9E361D2F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623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F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37C67B-AE84-4220-8290-A509CCCB5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1000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5F3392-C47A-4028-A260-636E5680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43325"/>
            <a:ext cx="421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Sécuriser : vérifier, protéger, décider.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8EF7D1-6746-4BFF-863B-0534A05E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267200"/>
            <a:ext cx="49339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DFC502-BC52-422E-B7AB-BF18E3F1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3910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F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42FB87-C26C-4E15-ACF3-BF57D5737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3865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DFE36B5-79CA-4BE3-B3A5-F636AE70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71975"/>
            <a:ext cx="421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Formaliser : plan d'action IA en 30 jours.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7FF8CDE-4323-49D6-B703-DF1786416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695950"/>
            <a:ext cx="738187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4E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EF002DB-9BC6-499F-9457-1C407ADC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69595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DFBBA6A-8477-4F07-898B-C5CC4EF6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810250"/>
            <a:ext cx="6886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C6FB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C6FB7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8D34A86-F58F-49CF-80FA-497C398F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019800"/>
            <a:ext cx="6886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Repère permanent : objectif, prompt, production, contrôle.</a:t>
            </a:r>
          </a:p>
        </p:txBody>
      </p:sp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f91d621d974abb"/>
          <a:stretch xmlns:a="http://schemas.openxmlformats.org/drawingml/2006/main"/>
        </p:blipFill>
        <p:spPr>
          <a:xfrm xmlns:a="http://schemas.openxmlformats.org/drawingml/2006/main">
            <a:off x="9906000" y="273653"/>
            <a:ext cx="742950" cy="424244"/>
          </a:xfrm>
          <a:prstGeom xmlns:a="http://schemas.openxmlformats.org/drawingml/2006/main" prst="rect">
            <a:avLst/>
          </a:prstGeom>
        </p:spPr>
      </p:pic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9396d70f5244d9"/>
          <a:stretch xmlns:a="http://schemas.openxmlformats.org/drawingml/2006/main"/>
        </p:blipFill>
        <p:spPr>
          <a:xfrm xmlns:a="http://schemas.openxmlformats.org/drawingml/2006/main">
            <a:off x="10859009" y="209550"/>
            <a:ext cx="60858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91978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91D00A-A107-4241-A0E9-272D528D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22F552-31E4-4888-897D-5B4E08EB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AAF2EE-633A-4914-9FB2-0484CAD0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96FE7-EAE1-493B-A3D8-900BCBE4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C6FB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C6FB7"/>
                </a:solidFill>
                <a:latin typeface="Aptos"/>
                <a:ea typeface="Aptos"/>
                <a:cs typeface="Aptos"/>
              </a:rPr>
              <a:t>OUVERTURE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F0C735-CF9C-4E0A-BB21-F950C32D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Déroulé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2BA086-EF40-43D9-861F-0969B9D9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FO-64 - Hybride CRAFT pratique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073258-750A-4CF0-ADC9-76A37D568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5/72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BD0132-0C68-42FB-B60D-9ABEFAFB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Deux demi-journées, une progression lisible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4C3349-39DC-4983-8AE2-4B6066ED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Jour 1 : comprendre et produire. Jour 2 : choisir, sécuriser et planifier.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3F95B1-0256-4D07-BC13-B320DE6B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43300"/>
            <a:ext cx="942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E7B57C-144B-432D-BC93-BC264491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71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F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571C5E-84E9-44A7-AE34-FB737041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57575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F41805-EDE0-43C9-8706-B65CA0EBA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43350"/>
            <a:ext cx="2343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2 juillet : cadre, outils, méthode CRAFT et premiers TP.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766047-A121-41E0-83B6-4A459F5D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371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F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8B4CF1-259E-450E-A8A4-B0EE8D6D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457575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E1F03F-79FD-4A4F-9C7C-7E3C1A97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43350"/>
            <a:ext cx="2343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2 juillet : productions simples avec email, synthèse, adaptation et tableau.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E7DA9C-44A0-443C-8959-1B3837C3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71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F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37501D-C3EA-497C-BAF5-89A178DD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457575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AB614B-7D14-4946-B794-9218E059B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43350"/>
            <a:ext cx="2343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3 juillet : cas d'usage, formats avancés, risques et contrôles.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9F0E44-6669-46E3-902B-33F46F62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371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F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83DB4B-12E4-4CC1-8E26-F33A52BD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457575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835832-6FCD-4197-8A8A-8D87BB9F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943350"/>
            <a:ext cx="2343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3 juillet : choix d'outil, plan d'action individuel et évaluation.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d10cd724474c3a"/>
          <a:stretch xmlns:a="http://schemas.openxmlformats.org/drawingml/2006/main"/>
        </p:blipFill>
        <p:spPr>
          <a:xfrm xmlns:a="http://schemas.openxmlformats.org/drawingml/2006/main">
            <a:off x="9906000" y="273653"/>
            <a:ext cx="742950" cy="424244"/>
          </a:xfrm>
          <a:prstGeom xmlns:a="http://schemas.openxmlformats.org/drawingml/2006/main" prst="rect">
            <a:avLst/>
          </a:prstGeom>
        </p:spPr>
      </p:pic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e8901901ce4ff9"/>
          <a:stretch xmlns:a="http://schemas.openxmlformats.org/drawingml/2006/main"/>
        </p:blipFill>
        <p:spPr>
          <a:xfrm xmlns:a="http://schemas.openxmlformats.org/drawingml/2006/main">
            <a:off x="10859009" y="209550"/>
            <a:ext cx="60858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93502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380F1D-922A-48CA-B5F8-706E0429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D57770-EEF3-42F7-B5B3-DCE3878E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EA7182-117C-471C-A67A-038CE604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49508E-B730-475C-9E67-7481827D0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PROGRESSION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7248EA-A091-4F4C-95FF-D7A19F24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Partie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32FCE4-0F11-4470-85A6-DDCBF560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FO-64 - Hybride CRAFT pratique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51890F-81A6-42CB-8187-9B7894DE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6/72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1FA816-11E4-42DD-AADB-257E46E7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Comprendre le terrain de jeu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09005C-AA80-45A1-85E4-25C8B5F2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Avant de prompter, les participants clarifient ce que l'IA peut faire, ce qu'elle ne garantit pas et quelles données sont autorisées.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4C3051-39B6-4639-9052-44AFE12C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6DE8AD-A05C-416C-8C78-546F3478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Identifier les usages déjà présents dans le travail quotidien.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F42E32-F4FB-4B7F-8BAE-27F48F92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00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ED9E7D-7610-499E-9A0D-280511584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Distinguer outil, modèle, prompt et données.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D2B871-215A-4908-9F24-0C0505CF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52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2F8F76-A77E-44DF-9149-F85BE75C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Repérer les limites : erreurs, hallucinations, confidentialité.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C45FEC-5EC6-42A0-9429-EFD9BDBF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05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FC5F53-11A2-43CD-8B2A-2408518C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3870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Installer la règle des données vertes, orange et rouges.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15C553-62A6-463A-97E0-69FA6860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310515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4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E6185F-3F50-4DBC-9A28-D309F2A97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762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6C350B-230C-4B35-9FBA-5774C302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5280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75794F-0569-4CCC-AE55-EB0EB5A6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76650"/>
            <a:ext cx="26098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Sortie de partie : chacun sait ce qu'il peut tester sans exposer l'organisation.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537d2f73a94083"/>
          <a:stretch xmlns:a="http://schemas.openxmlformats.org/drawingml/2006/main"/>
        </p:blipFill>
        <p:spPr>
          <a:xfrm xmlns:a="http://schemas.openxmlformats.org/drawingml/2006/main">
            <a:off x="9906000" y="273653"/>
            <a:ext cx="742950" cy="424244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1c7c48bb55413d"/>
          <a:stretch xmlns:a="http://schemas.openxmlformats.org/drawingml/2006/main"/>
        </p:blipFill>
        <p:spPr>
          <a:xfrm xmlns:a="http://schemas.openxmlformats.org/drawingml/2006/main">
            <a:off x="10859009" y="209550"/>
            <a:ext cx="60858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72524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4A0EEE-868C-4E65-BF7B-4176A887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B5BF00-5D4C-45D8-B72F-C1425FC3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2F0675-0D16-419A-B07C-DE04286AE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8B60C9-CF1A-4757-98BF-3269A522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A3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A36A"/>
                </a:solidFill>
                <a:latin typeface="Aptos"/>
                <a:ea typeface="Aptos"/>
                <a:cs typeface="Aptos"/>
              </a:rPr>
              <a:t>OUVERTURE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C750E4-36E5-4B28-94B2-EA3F1900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Contrat de pratique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EE9A4C-5F41-4725-A3AB-B16B7391E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FO-64 - Hybride CRAFT pratique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E77DD4-9C57-424B-AE6E-94EFD224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7/72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412929-EF7A-493D-B61C-5F7DDDEC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La formation fonctionne comme un banc d'essai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9A8120-5A58-4966-8FB5-E1FAFBDF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Les participants testent de petites tâches, comparent les sorties et gardent les formulations efficaces.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773725-97F9-4363-AE4D-2CAF8305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325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76F61B-2419-47B8-A857-6C91787B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A36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A36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DF44E4-4886-4756-A7A9-558A1B311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38550"/>
            <a:ext cx="287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1 tâche = 1 prompt = 1 sortie = 1 contrôle.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764B6E-508D-4BDF-8E47-5FF49ABC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3219450"/>
            <a:ext cx="325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A23F47-E3D5-429B-B29D-CCF3FC98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33528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A36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A36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8C446D-0A73-48CB-B35A-57871EBB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3638550"/>
            <a:ext cx="287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Le prompt est visible dans la slide, pas seulement raconté.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20DFCA-4FB3-4F1C-9809-062D27AF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0650" y="3219450"/>
            <a:ext cx="325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093BE4-F487-40B4-892B-0BC24868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150" y="33528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A36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A36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463ECB-C538-4FA3-8654-799FD0CD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150" y="3638550"/>
            <a:ext cx="287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Les exemples sont courts pour pouvoir être recopiés et adaptés.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04769E-4A78-4EA8-8E3B-FC8A0096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325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610873-374C-4F45-8C8E-BC8F0F31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196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A36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A36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6D8236-A087-4162-9A00-195C0666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05350"/>
            <a:ext cx="287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Les résultats sont jugés sur utilité, clarté, sécurité et temps gagné.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B53B78-3DC7-4C29-A661-A90FA98C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353050"/>
            <a:ext cx="738187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4E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283922-E1C0-43F0-9DC5-58B61CBB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35305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8A30D0-2AC1-44C4-BC03-CED6D6A4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467350"/>
            <a:ext cx="6886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A36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A36A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6AB6C7-0D4C-49B8-B7D1-042A5B53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676900"/>
            <a:ext cx="6886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On apprend mieux avec une sortie imparfaite qu'avec une définition parfaite.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d874e3a1804931"/>
          <a:stretch xmlns:a="http://schemas.openxmlformats.org/drawingml/2006/main"/>
        </p:blipFill>
        <p:spPr>
          <a:xfrm xmlns:a="http://schemas.openxmlformats.org/drawingml/2006/main">
            <a:off x="9906000" y="273653"/>
            <a:ext cx="742950" cy="424244"/>
          </a:xfrm>
          <a:prstGeom xmlns:a="http://schemas.openxmlformats.org/drawingml/2006/main" prst="rect">
            <a:avLst/>
          </a:prstGeom>
        </p:spPr>
      </p:pic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f03b7233ee4f86"/>
          <a:stretch xmlns:a="http://schemas.openxmlformats.org/drawingml/2006/main"/>
        </p:blipFill>
        <p:spPr>
          <a:xfrm xmlns:a="http://schemas.openxmlformats.org/drawingml/2006/main">
            <a:off x="10859009" y="209550"/>
            <a:ext cx="60858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24178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3A07A6-76EF-4116-9076-7BAC3C70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BA07DE-8EBD-4457-A9C6-E03109A1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895F36-CC70-42A3-B360-9F911CA5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DD521F-3289-492C-A4F8-58D335F4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OUVERTURE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5916E5-9CEC-40D7-A13A-A30012A7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Données autorisées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06793A-ADA2-42C5-B819-3BE20DEB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FO-64 - Hybride CRAFT pratique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4BB2CC-3E1D-493F-8656-44F05A99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8/72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6C1C95-8261-462A-8107-AB216BAE3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Tout ce qui est testé ici reste en zone verte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8ED1D1-B906-4F35-B768-A892BE4E4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Les exercices utilisent des situations fictives, anonymisées ou publiques.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5E91A7-522C-4DAF-98A1-B09E3872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86100"/>
            <a:ext cx="9334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6C4578-F82D-458F-99F4-15AC2977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8C3E50-C8B1-44BC-A125-79007D06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219450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A36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A36A"/>
                </a:solidFill>
                <a:latin typeface="Aptos"/>
                <a:ea typeface="Aptos"/>
                <a:cs typeface="Aptos"/>
              </a:rPr>
              <a:t>Vert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BF1134-0060-44A8-8112-05F9E1CC9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257550"/>
            <a:ext cx="666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Exemples fictifs, données publiques ou anonymisées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84A5B6-7CDB-4A87-BC6B-4CD9E9AE5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62400"/>
            <a:ext cx="9334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0A6BC7-9A8D-4412-9E1D-6CACAA0F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338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F0DB5F-518E-4EFC-9766-EE083C78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095750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Orange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023AE3-4D23-4D36-B9BF-C95810E3B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133850"/>
            <a:ext cx="666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Données internes non sensibles, minimisation et cadre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292825-3F3A-4BF6-B3F3-2A1282C1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38700"/>
            <a:ext cx="9334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EBB369-5EDD-4B4D-BE46-3145050C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01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53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12575E-9FBF-438C-A0C3-90DA913E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972050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5534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5534B"/>
                </a:solidFill>
                <a:latin typeface="Aptos"/>
                <a:ea typeface="Aptos"/>
                <a:cs typeface="Aptos"/>
              </a:rPr>
              <a:t>Rouge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E4F4BC-EF01-47B2-BFC8-E3EB68E1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010150"/>
            <a:ext cx="666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Données personnelles sensibles, secrets, dossiers clients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566f22c1804e36"/>
          <a:stretch xmlns:a="http://schemas.openxmlformats.org/drawingml/2006/main"/>
        </p:blipFill>
        <p:spPr>
          <a:xfrm xmlns:a="http://schemas.openxmlformats.org/drawingml/2006/main">
            <a:off x="9906000" y="273653"/>
            <a:ext cx="742950" cy="424244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7f7cdc9622449f"/>
          <a:stretch xmlns:a="http://schemas.openxmlformats.org/drawingml/2006/main"/>
        </p:blipFill>
        <p:spPr>
          <a:xfrm xmlns:a="http://schemas.openxmlformats.org/drawingml/2006/main">
            <a:off x="10859009" y="209550"/>
            <a:ext cx="60858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8001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DF6DE7-D5B2-4C66-B63D-639AF988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039BAF-B1AB-489A-9B79-EAA7D103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747794-CA0C-47E6-9DB9-F036F4F0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9C5545-3A0D-4A12-9DA3-63A51307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OUVERTURE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154C22-F853-4ED7-A9AE-81104C2B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Bingo 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B1FFCA-F348-4E29-BCA7-EE9CC12A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FO-64 - Hybride CRAFT pratique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7EB3CA-74C5-4D10-BC7F-59C925A4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9/72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D137D2-DA33-4CB3-899D-E554E1B2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Repérer les usages déjà présents autour de soi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0605FF-8756-4925-9EDF-375ED4AC4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L'IA est souvent invisible : assistant bureautique, résumé, recherche, retouche, transcription, recommandation.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5DF918-24C3-48C8-8678-D06A2D6EE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011A13-6132-4F75-A3E4-7DFCD8B4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Un outil qui résume une réunion coche une case.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0693B0-C9B0-4E4C-82CA-98382168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00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003B39-B3CE-460A-86C8-2910FC4C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Un outil qui reformule un email coche une case.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A031C1-2141-4B45-8D60-3F40DF4C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52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935DAD-1E62-420A-9D84-F34F65EB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Un outil qui génère une image ou une voix coche une case.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50C84E-5D08-4FC8-9DF8-013BE53B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05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85EA1E-6E84-4160-B369-81C07C846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3870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Un outil qui agit dans un workflow coche deux cases : IA + automatisation.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12B6C9-B928-42AF-B9CC-359D03B2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310515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4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9622C2-28D2-447A-BE6C-0A2EB8DA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762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6689AD-FAAF-40D1-B413-3613E9C8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5280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725670-9EB9-45D2-9125-5ECED189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76650"/>
            <a:ext cx="26098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But du jeu : voir l'IA comme une boîte à usages, pas comme un seul chatbot.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5c0c595fd14dbe"/>
          <a:stretch xmlns:a="http://schemas.openxmlformats.org/drawingml/2006/main"/>
        </p:blipFill>
        <p:spPr>
          <a:xfrm xmlns:a="http://schemas.openxmlformats.org/drawingml/2006/main">
            <a:off x="9906000" y="273653"/>
            <a:ext cx="742950" cy="424244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6ef338bbac41fc"/>
          <a:stretch xmlns:a="http://schemas.openxmlformats.org/drawingml/2006/main"/>
        </p:blipFill>
        <p:spPr>
          <a:xfrm xmlns:a="http://schemas.openxmlformats.org/drawingml/2006/main">
            <a:off x="10859009" y="209550"/>
            <a:ext cx="60858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57659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993639-BCE4-4B8A-891E-0205B5E9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58B45C-3CB3-45C5-BF6D-CDB8AD06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840EA3-25FC-464E-9D9F-5C69A4F7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D2CD58-1EBF-43B2-8F98-E95936A5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D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D6"/>
                </a:solidFill>
                <a:latin typeface="Aptos"/>
                <a:ea typeface="Aptos"/>
                <a:cs typeface="Aptos"/>
              </a:rPr>
              <a:t>PANORAMA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F244A9-6053-4C4F-A646-F53163DD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Carte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57EA0B-45BE-4D05-B54F-FBA5BE77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FO-64 - Hybride CRAFT pratique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7F0FC6-4190-4CBF-BBEB-02C65311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10/72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189227-31B0-4FB8-80E1-08098A5B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L'IA générative devient multimodale et opérationnelle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26FF90-5AF3-44BE-968B-2ED0E46CC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Les outils ne produisent plus seulement du texte : ils écrivent, parlent, chantent, montent, résument, appellent et déclenchent des actions.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D34602-CC01-4747-B833-EC1E96C98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325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78F5E2-175D-467A-901A-488D8AA7E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D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A6D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666F76-9971-4DA3-9B90-F49AB1DB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38550"/>
            <a:ext cx="287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Texte : rédaction, synthèse, recherche augmentée.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FFCFEF-3563-42A5-861C-55168DE3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3219450"/>
            <a:ext cx="325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A31DD5-C8C9-4EBF-85F0-4D51F721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33528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D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A6D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12FF71-6C16-4B90-84C9-0E97E171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3638550"/>
            <a:ext cx="287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Image : visuels, retouche, variation, mockups.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62FBAF-1524-4650-91D8-1117E058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0650" y="3219450"/>
            <a:ext cx="325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C056BC-B441-43A7-826E-3C9564C4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150" y="33528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D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A6D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AA57B9-75DA-41F2-8184-B3DA05B31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150" y="3638550"/>
            <a:ext cx="287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Audio : voix, transcription, doublage, musique.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D5EDB4-F97A-42AD-81C9-B4E308D8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325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4620CE-BB00-48E5-AA11-565DDBEA7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196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D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A6D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561175-529B-441A-92E4-7792C8B0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05350"/>
            <a:ext cx="287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Vidéo : avatars, clips, montage, synchronisation labiale.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004301-CB30-4D85-A1FE-151DE80BC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4286250"/>
            <a:ext cx="325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537E09-6F2E-4409-96BD-905467B7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44196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D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A6D6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778997-1DBB-40EF-87EA-10C683AB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4705350"/>
            <a:ext cx="287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Agents : suites d'actions supervisées dans des outils métier.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F48314-868F-4B11-B1FC-BD6CC0A9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353050"/>
            <a:ext cx="738187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4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53E5F4-5032-44DD-A851-4DFF196C5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35305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402B7F-772A-4EC0-B35C-6AAF2F5DB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467350"/>
            <a:ext cx="6886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6D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A6D6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EEC3F0-AC2E-4F19-8E2C-33AB0317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676900"/>
            <a:ext cx="6886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La question utile : quelle tâche, quelles données, quel contrôle ?</a:t>
            </a:r>
          </a:p>
        </p:txBody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c79a406d3e48d0"/>
          <a:stretch xmlns:a="http://schemas.openxmlformats.org/drawingml/2006/main"/>
        </p:blipFill>
        <p:spPr>
          <a:xfrm xmlns:a="http://schemas.openxmlformats.org/drawingml/2006/main">
            <a:off x="9906000" y="273653"/>
            <a:ext cx="742950" cy="424244"/>
          </a:xfrm>
          <a:prstGeom xmlns:a="http://schemas.openxmlformats.org/drawingml/2006/main" prst="rect">
            <a:avLst/>
          </a:prstGeom>
        </p:spPr>
      </p:pic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14e4c154e44563"/>
          <a:stretch xmlns:a="http://schemas.openxmlformats.org/drawingml/2006/main"/>
        </p:blipFill>
        <p:spPr>
          <a:xfrm xmlns:a="http://schemas.openxmlformats.org/drawingml/2006/main">
            <a:off x="10859009" y="209550"/>
            <a:ext cx="60858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31193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71CD4B-0E37-48DC-B4E7-C3E0A3C1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D77FA2-C8F7-486D-ADCD-1F3CBA67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53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BE6898-24FC-474E-9F2C-6E4AF371D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53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D10787-55BD-48E3-A435-3859AD9A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5534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5534B"/>
                </a:solidFill>
                <a:latin typeface="Aptos"/>
                <a:ea typeface="Aptos"/>
                <a:cs typeface="Aptos"/>
              </a:rPr>
              <a:t>COMPRENDRE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F2114A-636A-4E7D-B647-7D42C0EC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AI 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AEC2C4-4D41-4441-A280-6EB7F304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FO-64 - Hybride CRAFT pratique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D50488-6336-4695-A7E5-F00C93CA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11/72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112CB0-DA9A-4F0E-8EC6-909365C8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La littératie IA devient une obligation de compétence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534152-DF6A-49FF-8C39-D7D27A8E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Depuis le 02/02/2025, l'article 4 du règlement européen sur l'IA demande un niveau suffisant de littératie IA pour les personnes qui utilisent des systèmes d'IA.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88709B-3FC4-459D-90F0-D8A60DE6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53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8082D2-B295-44C3-96A0-1F29C1B46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Former selon le contexte d'usage, l'expérience et les risques.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B69983-83DC-4788-A1BC-4D3869D2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00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53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DE88B2-8CB7-4270-9ECB-06252C1B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Comprendre les interdictions et les usages sensibles.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953242-CE36-4482-AB97-2F284B548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52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53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8D2B3B-8433-41CD-BDC1-968E9E02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Documenter les usages et progresser avant les échéances 2026-2027.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752159-DCE8-4723-BDC8-7F21F420B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310515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4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88D918-E5A1-4185-B8EE-DA9F059F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762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53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4FAEF7-009E-4F74-AE72-48CFAACC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5280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553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5534B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15804F-AF59-4475-B2CE-F8580472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76650"/>
            <a:ext cx="26098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Se former à l'IA devient une preuve concrète de montée en compétence.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314aefa6c44912"/>
          <a:stretch xmlns:a="http://schemas.openxmlformats.org/drawingml/2006/main"/>
        </p:blipFill>
        <p:spPr>
          <a:xfrm xmlns:a="http://schemas.openxmlformats.org/drawingml/2006/main">
            <a:off x="9906000" y="273653"/>
            <a:ext cx="742950" cy="424244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1d06235cb04c5e"/>
          <a:stretch xmlns:a="http://schemas.openxmlformats.org/drawingml/2006/main"/>
        </p:blipFill>
        <p:spPr>
          <a:xfrm xmlns:a="http://schemas.openxmlformats.org/drawingml/2006/main">
            <a:off x="10859009" y="209550"/>
            <a:ext cx="60858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39357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639812-99F9-4E23-8E8B-073C77E7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83D69B-1333-4914-B1D7-819FF850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6218A5-74DA-4636-B2BB-E1F36239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660D03-011A-4D71-8557-D1AC4B64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COMPRENDRE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6D2E8A-9D99-4F03-92EC-66997187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Démystification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4C7670-AC0E-405D-B11A-55CA29BB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FO-64 - Hybride CRAFT pratique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9ED4F3-C523-4939-8D8B-676D1D5D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12/72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B8581D-05E3-4EEF-B4DF-EE6C9DC8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Ce que l'IA sait bien faire, et ce qui reste fragile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418EC4-7F4D-44C7-955F-12FF613B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Les modèles sont puissants pour structurer, reformuler et explorer ; ils restent imparfaits pour garantir seuls une vérité.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2714DA-5E2C-4E93-80D6-A6C0DE14C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796313-245C-453C-8343-7D8EAB0AC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Fort : brouillon, synthèse, reformulation, idéation, extraction simple.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E953E9-612C-429F-8F92-F36BB597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00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1464B2-845D-447D-B183-B9237B39C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Variable : calculs, droit, données récentes, informations locales.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700276-FC7B-44E4-8AFF-3FB1E708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52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61C988-ABA1-4F7F-BB69-DB86A5AA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Risque : hallucination, biais, confusion de contexte, fuite de données.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1E1ADF-BB00-4251-B6C8-F03F2E3E0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310515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4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771384-6151-47DE-95D9-1C045939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762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17B03E-0DBA-4727-BCFB-0692B446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5280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112189-10E4-494D-A6E0-B4A1427DE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76650"/>
            <a:ext cx="26098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Le bon usage ajoute un contrôle humain explicite.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c34029f46a42ec"/>
          <a:stretch xmlns:a="http://schemas.openxmlformats.org/drawingml/2006/main"/>
        </p:blipFill>
        <p:spPr>
          <a:xfrm xmlns:a="http://schemas.openxmlformats.org/drawingml/2006/main">
            <a:off x="9906000" y="273653"/>
            <a:ext cx="742950" cy="424244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52c6c3e0004040"/>
          <a:stretch xmlns:a="http://schemas.openxmlformats.org/drawingml/2006/main"/>
        </p:blipFill>
        <p:spPr>
          <a:xfrm xmlns:a="http://schemas.openxmlformats.org/drawingml/2006/main">
            <a:off x="10859009" y="209550"/>
            <a:ext cx="60858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99053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601C7A-247A-42D4-8399-782AE2D7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C513B-6311-491E-8279-B91F35B9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50B7A5-2D14-4ACD-A7F7-4FDC9B90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E4A403-8BE6-4BAB-852C-E8F6714DC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D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D6"/>
                </a:solidFill>
                <a:latin typeface="Aptos"/>
                <a:ea typeface="Aptos"/>
                <a:cs typeface="Aptos"/>
              </a:rPr>
              <a:t>PANORAMA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1BDBED-AFB5-4D3D-82CB-1216725F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Outils accessibles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F3C835-7606-4F3D-ADF7-A5F831957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FO-64 - Hybride CRAFT pratique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19F436-EFC7-4F97-A4F5-9CE1C0FC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13/72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EAB01A-860D-4F96-80FC-F140D9A8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Une boîte à outils, pas une course au gadget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1B69A4-BB84-4854-808C-BC3D7C7C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Le bon outil dépend de la tâche et du niveau de risque.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4DBF4F-EF04-490F-9F58-312B839E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325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27A31E-7D91-4D19-ADDB-7761E020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D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A6D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B64D80-EE89-4272-AD11-1E6D0717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38550"/>
            <a:ext cx="287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ChatGPT, Copilot, Gemini, Le Chat : polyvalence texte et raisonnement.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FD6F6D-06C0-4F24-B4E4-82B74305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3219450"/>
            <a:ext cx="325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BFDAAE-84FD-43AE-8D15-0F55E9A0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33528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D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A6D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56B756-469F-411A-8217-E0E2426E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3638550"/>
            <a:ext cx="287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Perplexity, NotebookLM : recherche, sources et synthèse documentaire.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35AAE4-88D9-4E88-963A-22854BE0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0650" y="3219450"/>
            <a:ext cx="325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AD48F2-17CC-49A3-9F88-6ACE8BD0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150" y="33528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D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A6D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79F4D7-D299-45C9-835B-153A3079B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150" y="3638550"/>
            <a:ext cx="287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Canva, Adobe Express : visuels simples et déclinaisons.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CA598F-96BB-4219-AC8A-7DD39C1D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325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F9F78A-0D0D-4A34-BAC4-80221752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196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D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A6D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55FC18-4443-44E9-A5B7-DCEA0870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05350"/>
            <a:ext cx="287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Suno : musique, paroles, ambiance sonore.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EEAAF7-CAB6-4F9D-A498-ED5451BEF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4286250"/>
            <a:ext cx="325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F1C4D9-F76E-4935-926A-9396E63E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44196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D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A6D6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A4D85D-4BB9-4C6B-930E-F196989DD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4705350"/>
            <a:ext cx="287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ElevenLabs, HeyGen, Zoom, Teams Phone : voix, vidéo, appels, réunions.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10C33B-19EB-46FD-BBFE-734026D94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353050"/>
            <a:ext cx="738187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4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E7D8A8-F93C-4A8D-A033-13E86A9A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35305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ADB830-F2F2-40CE-923E-800D4156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467350"/>
            <a:ext cx="6886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6D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A6D6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B8D0A7-DD16-4CF2-A770-4AEC1F61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676900"/>
            <a:ext cx="6886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Un outil spectaculaire n'est pas forcément un outil publiable.</a:t>
            </a:r>
          </a:p>
        </p:txBody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9065d645db4165"/>
          <a:stretch xmlns:a="http://schemas.openxmlformats.org/drawingml/2006/main"/>
        </p:blipFill>
        <p:spPr>
          <a:xfrm xmlns:a="http://schemas.openxmlformats.org/drawingml/2006/main">
            <a:off x="9906000" y="273653"/>
            <a:ext cx="742950" cy="424244"/>
          </a:xfrm>
          <a:prstGeom xmlns:a="http://schemas.openxmlformats.org/drawingml/2006/main" prst="rect">
            <a:avLst/>
          </a:prstGeom>
        </p:spPr>
      </p:pic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65e1c2d2bc490a"/>
          <a:stretch xmlns:a="http://schemas.openxmlformats.org/drawingml/2006/main"/>
        </p:blipFill>
        <p:spPr>
          <a:xfrm xmlns:a="http://schemas.openxmlformats.org/drawingml/2006/main">
            <a:off x="10859009" y="209550"/>
            <a:ext cx="60858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3717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D82B92-687B-4472-8761-67C456371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09B566-F962-4ED9-9DB8-05E23162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A204A0-87F8-40D8-ABC8-4A4A998D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940A33-3BC4-48BB-9D46-EAF4F38E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PROGRESSION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A78291-F2FE-4B40-8CB8-C3E13A7C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Partie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3DFE59-E1EB-46FF-9C09-48088AA2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FO-64 - Hybride CRAFT pratique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3CE84C-BC35-4532-9812-BA175A3B6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14/72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9B14C6-0D28-4754-8BF2-CC6E4B63D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Apprendre la méthode CRAFT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A3D109-9AA4-440F-AC7A-FA8F6D3A2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Cette partie donne une méthode stable pour passer d'une demande vague à une consigne professionnelle.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ED9E77-C2F7-480D-BFE2-A7FCB190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C8498E-D754-449C-893F-B348E2E56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6248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Contexte : poser la situation et le public.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F7EE9E-ECCE-489A-94F7-B9ADCE14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052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48F54E-D94D-4ACA-B5A0-DAA36057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38550"/>
            <a:ext cx="6248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Rôle : donner l'angle de réponse attendu.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1AA770-C630-4508-8174-B55520D6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624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8E8852-F9A1-40FA-AEB9-9B0425357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95750"/>
            <a:ext cx="6248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Action : demander une tâche précise.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61C0A3-291A-4D11-B96A-97F59196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96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A25194-1D0B-4C1D-B3F5-90E0A966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52950"/>
            <a:ext cx="6248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Format : rendre la sortie exploitable.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015F57-85B0-49A0-B77F-F67FA94E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768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54F7F1-E282-481A-8F95-8930A399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10150"/>
            <a:ext cx="6248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Test : exiger les contrôles et limites.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7B6808-3653-4E9F-BA49-208EACB6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310515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4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BF070F-5378-4032-BAF8-F1B0A8BF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762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70BE3D-8429-41B4-A40F-EB0B2FE7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5280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811DCB-018C-4AC8-8F4E-CE3A39B3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76650"/>
            <a:ext cx="26098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Sortie de partie : un modèle CRAFT prêt à copier et adapter.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91d8503d5c4b2e"/>
          <a:stretch xmlns:a="http://schemas.openxmlformats.org/drawingml/2006/main"/>
        </p:blipFill>
        <p:spPr>
          <a:xfrm xmlns:a="http://schemas.openxmlformats.org/drawingml/2006/main">
            <a:off x="9906000" y="273653"/>
            <a:ext cx="742950" cy="424244"/>
          </a:xfrm>
          <a:prstGeom xmlns:a="http://schemas.openxmlformats.org/drawingml/2006/main" prst="rect">
            <a:avLst/>
          </a:prstGeom>
        </p:spPr>
      </p:pic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42e6bf55ff4138"/>
          <a:stretch xmlns:a="http://schemas.openxmlformats.org/drawingml/2006/main"/>
        </p:blipFill>
        <p:spPr>
          <a:xfrm xmlns:a="http://schemas.openxmlformats.org/drawingml/2006/main">
            <a:off x="10859009" y="209550"/>
            <a:ext cx="60858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49876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544690-5AEE-484F-ADEE-59D77626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A18220-7983-4CF3-86F5-E9733941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EBB831-4430-4209-AAF5-59C50339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F73538-D262-4766-BC85-2FD50256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D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D6"/>
                </a:solidFill>
                <a:latin typeface="Aptos"/>
                <a:ea typeface="Aptos"/>
                <a:cs typeface="Aptos"/>
              </a:rPr>
              <a:t>MÉTHODE CRAFT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FA40E7-41FC-4336-856B-6F2D4D22D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Vue d'ensemble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06C443-486A-42A3-A83B-34F4019A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FO-64 - Hybride CRAFT pratique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B37E9C-43B7-4411-B74F-0940A0BC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15/72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796CBF-2779-47CB-9462-7F6BFEF0A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CRAFT transforme une demande floue en consigne exploitable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97F067-7D6D-4097-9342-63BA4938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La méthode tient en cinq blocs à vérifier avant d'envoyer le prompt.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A2700A-84DB-4DA0-9679-8702EBA4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325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52F50D-1EC3-4FF1-93FE-446BE031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D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A6D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23269E-952C-4950-B186-248C0A43C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38550"/>
            <a:ext cx="287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 - Contexte : situation, public, objectif, contraintes.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E16CB1-941B-4813-B09D-20A8852F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3219450"/>
            <a:ext cx="325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E9ABA2-340E-4A52-94D6-C26346F1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33528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D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A6D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DAD94C-FDC0-4337-ABAF-EFEFC679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3638550"/>
            <a:ext cx="287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R - Rôle : expertise demandée à l'assistant.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9680F4-359A-4903-9296-1D822ED3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0650" y="3219450"/>
            <a:ext cx="325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817FE4-2BDB-4323-8B8A-CBCFD5B0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150" y="33528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D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A6D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B3A29B-4E4E-4E69-B491-831D5624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150" y="3638550"/>
            <a:ext cx="287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A - Action : tâche précise, verbe clair, limites.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B00ED5-20E6-4F21-8F6C-5C640BC8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325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B297E8-98F9-4C8F-B47C-B1BFBF5F5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196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D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A6D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121237-2DBF-4F61-8BE8-FD183F14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05350"/>
            <a:ext cx="287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F - Format : structure, longueur, ton, langue.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58A9B1-79F1-4A2E-AF9C-B1984DBA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4286250"/>
            <a:ext cx="325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346A9D-8592-4801-B06D-B676638F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44196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D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A6D6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E2C7F5-8A2B-4B8C-ADD5-EA893765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4705350"/>
            <a:ext cx="287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T - Tests : questions, critères, vérifications et sources.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C6C422-E8F1-4AB2-AB94-42B5DD3B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353050"/>
            <a:ext cx="738187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4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7C3B8B-5760-40AE-9A57-99BEEC28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35305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A5143A-CDAF-4151-BC0C-02A0368F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467350"/>
            <a:ext cx="6886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6D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A6D6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E504E0-B096-4873-84BF-9A86B69D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676900"/>
            <a:ext cx="6886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Un bon prompt est une mini-fiche de mission.</a:t>
            </a:r>
          </a:p>
        </p:txBody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710833e50947d3"/>
          <a:stretch xmlns:a="http://schemas.openxmlformats.org/drawingml/2006/main"/>
        </p:blipFill>
        <p:spPr>
          <a:xfrm xmlns:a="http://schemas.openxmlformats.org/drawingml/2006/main">
            <a:off x="9906000" y="273653"/>
            <a:ext cx="742950" cy="424244"/>
          </a:xfrm>
          <a:prstGeom xmlns:a="http://schemas.openxmlformats.org/drawingml/2006/main" prst="rect">
            <a:avLst/>
          </a:prstGeom>
        </p:spPr>
      </p:pic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bdd02fcaec423b"/>
          <a:stretch xmlns:a="http://schemas.openxmlformats.org/drawingml/2006/main"/>
        </p:blipFill>
        <p:spPr>
          <a:xfrm xmlns:a="http://schemas.openxmlformats.org/drawingml/2006/main">
            <a:off x="10859009" y="209550"/>
            <a:ext cx="60858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20905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9D790A-39FB-4EB9-AF63-0D960F2B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8096D-4C90-4DE3-9C50-EE20EA5C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7BA9CC-E312-40F4-9FEC-DEBD63FE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B955F7-1542-475D-B6D3-AA1FE9272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A3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A36A"/>
                </a:solidFill>
                <a:latin typeface="Aptos"/>
                <a:ea typeface="Aptos"/>
                <a:cs typeface="Aptos"/>
              </a:rPr>
              <a:t>MÉTHODE CRAFT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EF750A-D074-4E24-A736-7E69E36C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Avant / après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0B1390-F0F4-457E-B4D6-73AB83AF8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FO-64 - Hybride CRAFT pratique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7A5123-75B6-4B7B-8C9B-C6DA54E4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16/72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43D9BC-32D9-4D61-9CAD-2B62F52C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La différence se voit immédiatement dans la qualité de sortie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CBFF35-D346-4C80-864F-D051992BC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Une demande courte peut marcher, mais elle oblige souvent à corriger davantage.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5F2E5D-BF6D-4690-8D05-85A9458B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CA6B5C-EAD2-4CE4-B4CB-45EE6B6F5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Demande faible : « Fais-moi un email de relance. 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EE7C53-FDE0-4140-951A-A6BC98D7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00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128DDA-5E8B-45A7-9DC8-A25DD86A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951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Demande CRAFT : « Tu es assistant commercial. Rédige une relance courtoise pour un devis fictif envoyé il y a 10 jours. Ton professionnel, 120 mots, avec objet et appel à action. 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8EC90B-C745-47BF-898F-F2B40935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52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015D31-8A7B-4DDF-9F31-84F3ADE3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Ajout T : « Signale les points à personnaliser avant envoi. 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F553E8-B8E9-43F0-B271-3A6A1691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310515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4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449031-AD54-4F64-AF88-FB067C5B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762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920B50-50D7-4CEA-8271-7FC0C47A0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5280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A36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A36A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625071-7223-4738-B4DB-28FBE5C4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76650"/>
            <a:ext cx="26098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La précision économise les allers-retours.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fe1df3581246e2"/>
          <a:stretch xmlns:a="http://schemas.openxmlformats.org/drawingml/2006/main"/>
        </p:blipFill>
        <p:spPr>
          <a:xfrm xmlns:a="http://schemas.openxmlformats.org/drawingml/2006/main">
            <a:off x="9906000" y="273653"/>
            <a:ext cx="742950" cy="424244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93d9edf4d74738"/>
          <a:stretch xmlns:a="http://schemas.openxmlformats.org/drawingml/2006/main"/>
        </p:blipFill>
        <p:spPr>
          <a:xfrm xmlns:a="http://schemas.openxmlformats.org/drawingml/2006/main">
            <a:off x="10859009" y="209550"/>
            <a:ext cx="60858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81362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6FF51E-795C-420E-B9CC-CC4EA149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FBAAB6-06AC-4519-B1D0-43472217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AF95A3-0F6B-4F4E-9A8D-1669CC85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56F8B3-784C-49FB-A3F4-91451FCA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A3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A36A"/>
                </a:solidFill>
                <a:latin typeface="Aptos"/>
                <a:ea typeface="Aptos"/>
                <a:cs typeface="Aptos"/>
              </a:rPr>
              <a:t>CRAFT - 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556584-3A61-4A72-9317-6DAF7773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Contexte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E4DA61-6281-4F2D-80EE-AD83DF59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FO-64 - Hybride CRAFT pratique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6967BE-EBA5-42C4-9D9A-282665DC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17/72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D5C332-862B-4C15-8718-D156D765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Le contexte évite les réponses génériques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C8D2AF-D456-4255-8230-8DB69629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Il donne à l'IA les informations utiles sans exposer de données sensibles.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59A817-98CB-4A53-BE59-C1A444FE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325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49D61C-0A0C-4454-8419-9F939A6B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A36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A36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FA9AED-A79A-4A23-98BC-CF80F567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38550"/>
            <a:ext cx="287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Situation : salon professionnel, devis, réclamation, réunion, article.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25E230-81AA-4886-9A59-A75C903E4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3219450"/>
            <a:ext cx="325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5BBEF9-B0F2-4CF7-B298-AE44333C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33528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A36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A36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C28125-EA87-4B23-8B2C-8D6EFA6ED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3638550"/>
            <a:ext cx="287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Public : client, prospect, équipe, fournisseur, dirigeant.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15CB26-2C97-4382-B5F0-DFD639771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0650" y="3219450"/>
            <a:ext cx="325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7C24EC-E2DB-4C0F-9A78-9C6B2F60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150" y="33528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A36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A36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E67765-3495-4D04-A35B-72A50220F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150" y="3638550"/>
            <a:ext cx="287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Objectif : informer, convaincre, résumer, structurer, préparer.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57FDA3-FB22-46F6-8426-5CCE9821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325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EF8378-0BB6-421A-A5FD-A2A3CFE1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196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A36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A36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D1E40D-3696-4570-A816-9803BE46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05350"/>
            <a:ext cx="287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Contraintes : délai, ton, niveau de détail, mots interdits, données fictives.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C22D80-A7CE-4F29-914F-9354BF87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353050"/>
            <a:ext cx="738187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4E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AE4DD5-31CE-4CB7-BD06-4F47B3974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35305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CC73F1-30DA-4A09-B66B-EC6AF622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467350"/>
            <a:ext cx="6886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A36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A36A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2105F5-BA85-482B-8B7D-931AFC07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676900"/>
            <a:ext cx="6886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Sans contexte, l'IA devine. Avec contexte, elle travaille.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801ce043df4fa6"/>
          <a:stretch xmlns:a="http://schemas.openxmlformats.org/drawingml/2006/main"/>
        </p:blipFill>
        <p:spPr>
          <a:xfrm xmlns:a="http://schemas.openxmlformats.org/drawingml/2006/main">
            <a:off x="9906000" y="273653"/>
            <a:ext cx="742950" cy="424244"/>
          </a:xfrm>
          <a:prstGeom xmlns:a="http://schemas.openxmlformats.org/drawingml/2006/main" prst="rect">
            <a:avLst/>
          </a:prstGeom>
        </p:spPr>
      </p:pic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4f359cd24043ee"/>
          <a:stretch xmlns:a="http://schemas.openxmlformats.org/drawingml/2006/main"/>
        </p:blipFill>
        <p:spPr>
          <a:xfrm xmlns:a="http://schemas.openxmlformats.org/drawingml/2006/main">
            <a:off x="10859009" y="209550"/>
            <a:ext cx="60858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21181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73AD3B-67F3-4CDB-8A1E-2123893B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9312A1-B054-4B2B-8ACC-D7D916CF2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5DF306-9871-4E32-816F-75E284DB9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EB0755-1F1F-4988-933D-F92E02F6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A3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A36A"/>
                </a:solidFill>
                <a:latin typeface="Aptos"/>
                <a:ea typeface="Aptos"/>
                <a:cs typeface="Aptos"/>
              </a:rPr>
              <a:t>CRAFT - 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B04242-093D-4A5D-8429-619F9725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Rôle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3969E6-AC02-4CEF-A526-468D09FF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FO-64 - Hybride CRAFT pratique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3A051D-18A8-4A21-B03B-DA95310A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18/72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33FB30-5B0F-40F0-8C03-C983AF1A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Le rôle fixe l'angle de réponse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F82D5C-D5FE-48EA-B76B-979FBB1F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Demander un rôle ne donne pas une vérité, mais il améliore le style et les priorités.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A1F0A0-41D4-434C-92BF-97A1EF604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325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F719A4-99B2-430D-BDA1-D7666A12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A36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A36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0C6A07-D006-4C87-8571-D677CB9A4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38550"/>
            <a:ext cx="287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Assistant administratif : clarté, classement, procédure.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93D2EA-B420-4958-8FDD-F3EEFF0D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3219450"/>
            <a:ext cx="325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BEA2B7-F93A-49FE-908C-E7A84482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33528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A36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A36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4CA853-0D53-4C14-8868-5F7F9B41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3638550"/>
            <a:ext cx="287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Conseiller client : empathie, réponse utile, prochaine étape.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BAA494-05F8-450D-8104-8C2555D5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0650" y="3219450"/>
            <a:ext cx="325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52E8EF-89CA-43DA-9476-52F7D619F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150" y="33528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A36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A36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5B62FD-22E2-4652-800F-4477687F7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150" y="3638550"/>
            <a:ext cx="287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Chargé marketing : message, cible, bénéfice, canal.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9AF154-7C02-4EB5-9B70-45170787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325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099B8B-DE81-4583-921A-21C03C43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196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A36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A36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70AD32-9D50-40E4-839A-4524D3AD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05350"/>
            <a:ext cx="287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Contrôleur qualité : incohérences, risques, points à vérifier.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2A9AC9-6D40-466F-A057-36BDE3D2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353050"/>
            <a:ext cx="738187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4E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AAA92D-3E58-4802-ACBD-9A96AC64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35305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A086F4-A911-4E04-9AB8-4BAEDC91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467350"/>
            <a:ext cx="6886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A36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A36A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7BADBD-F961-4EA9-A5EF-A9BEAD37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676900"/>
            <a:ext cx="6886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Un même contexte donne quatre réponses selon le rôle choisi.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8401a632444552"/>
          <a:stretch xmlns:a="http://schemas.openxmlformats.org/drawingml/2006/main"/>
        </p:blipFill>
        <p:spPr>
          <a:xfrm xmlns:a="http://schemas.openxmlformats.org/drawingml/2006/main">
            <a:off x="9906000" y="273653"/>
            <a:ext cx="742950" cy="424244"/>
          </a:xfrm>
          <a:prstGeom xmlns:a="http://schemas.openxmlformats.org/drawingml/2006/main" prst="rect">
            <a:avLst/>
          </a:prstGeom>
        </p:spPr>
      </p:pic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49159f645045e8"/>
          <a:stretch xmlns:a="http://schemas.openxmlformats.org/drawingml/2006/main"/>
        </p:blipFill>
        <p:spPr>
          <a:xfrm xmlns:a="http://schemas.openxmlformats.org/drawingml/2006/main">
            <a:off x="10859009" y="209550"/>
            <a:ext cx="60858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295362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AF4608-5A2A-4339-9E1D-DBB56F1C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DE03FC-EF70-479F-993B-EE976D28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474F12-7751-406E-BE5A-8F63C55F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BA9A3E-E335-432B-9376-556145C7A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A3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A36A"/>
                </a:solidFill>
                <a:latin typeface="Aptos"/>
                <a:ea typeface="Aptos"/>
                <a:cs typeface="Aptos"/>
              </a:rPr>
              <a:t>CRAFT - 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046CB2-A3B7-416E-9C6F-E49B917A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3F857D-DA81-442C-B252-4F4FEFCB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FO-64 - Hybride CRAFT pratique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1C3D18-197C-44A8-A1D6-B1DBA1F74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19/72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AF5346-3D34-4395-9EB5-75F5AFF0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L'action doit commencer par un verbe clair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2F4C8C-4B19-437D-ACA9-BF71E7357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Un prompt efficace demande une tâche précise, pas une intention vague.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19D27E-08ED-49E6-8D6C-EDDD5E7AF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325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466BEB-717C-45FD-AE30-2AE78FFFD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A36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A36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05C0A1-6F4F-49C3-8DD6-CED3E78C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38550"/>
            <a:ext cx="287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Rédige, reformule, résume, classe, compare, extrait, vérifie.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9B0205-7DC6-4D3C-A4A0-D3BC4C60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3219450"/>
            <a:ext cx="325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F156D8-5A03-4466-83DB-940B183B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33528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A36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A36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19734D-A83C-4E8F-A12A-C78F129EC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3638550"/>
            <a:ext cx="287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Évite : « aide-moi sur », « parle-moi de », « fais quelque chose avec ».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CB7528-A196-427E-AA69-7A3B3CC7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0650" y="3219450"/>
            <a:ext cx="325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49C07F-BB4D-4108-8E86-F71B1567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150" y="33528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A36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A36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31A64A-8F7F-4A2D-9137-6E9AA142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150" y="3638550"/>
            <a:ext cx="287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Ajoute une limite : « sans inventer », « sans données personnelles », « en 5 points ».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0B818A-65BF-4AB6-AE0A-419B60FA1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325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99E201-6761-4D72-9A04-290E0F68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196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A36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A36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E3D41A-3B71-47E2-9D6B-9C51A496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05350"/>
            <a:ext cx="287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Demande une étape : « pose 3 questions si une information manque ». 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2B8580-3A57-4515-B758-4F5B2E52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353050"/>
            <a:ext cx="738187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4E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3A5A7F-E65C-43EB-AE08-7539ED45F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35305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5DBB3A-E056-4E62-A1C4-96BB2A7A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467350"/>
            <a:ext cx="6886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A36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A36A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8E6DC9-7138-4B9F-9EDA-CCAD7263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676900"/>
            <a:ext cx="6886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Le verbe pilote la sortie.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98d3f96fb64946"/>
          <a:stretch xmlns:a="http://schemas.openxmlformats.org/drawingml/2006/main"/>
        </p:blipFill>
        <p:spPr>
          <a:xfrm xmlns:a="http://schemas.openxmlformats.org/drawingml/2006/main">
            <a:off x="9906000" y="273653"/>
            <a:ext cx="742950" cy="424244"/>
          </a:xfrm>
          <a:prstGeom xmlns:a="http://schemas.openxmlformats.org/drawingml/2006/main" prst="rect">
            <a:avLst/>
          </a:prstGeom>
        </p:spPr>
      </p:pic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d1f31e755c4047"/>
          <a:stretch xmlns:a="http://schemas.openxmlformats.org/drawingml/2006/main"/>
        </p:blipFill>
        <p:spPr>
          <a:xfrm xmlns:a="http://schemas.openxmlformats.org/drawingml/2006/main">
            <a:off x="10859009" y="209550"/>
            <a:ext cx="60858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979321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70FD8A-D1E5-4FBB-A004-59481DB3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FB5BE0-7023-4DD7-A219-0340B0E0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388649-B39A-4833-8C94-4528B4887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95204C-DF10-439A-94E5-19C7F2CE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A3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A36A"/>
                </a:solidFill>
                <a:latin typeface="Aptos"/>
                <a:ea typeface="Aptos"/>
                <a:cs typeface="Aptos"/>
              </a:rPr>
              <a:t>CRAFT - 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D91BE6-22EE-41A7-B573-5F981809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Format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B0AC48-8C6D-4665-99B9-B05D01C62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FO-64 - Hybride CRAFT pratique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841A77-7519-4E70-A5DC-3FF34799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20/72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7E745B-B49C-4DCC-960B-967FA7C7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Le format rend la sortie directement exploitable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C1539D-54C1-4D4C-9770-53C7322E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La plupart des corrections viennent d'un format oublié.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AAB687-A17A-45E3-A207-FE6C7EE4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325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A9E3DD-DE63-4E66-80A1-C25E0E8D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A36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A36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7D6EC9-CC15-44E3-A8D9-79F46598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38550"/>
            <a:ext cx="287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Structure : email avec objet, tableau, liste d'actions, script.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16F466-7630-4E13-AC4A-96BB1ED5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3219450"/>
            <a:ext cx="325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3A2570-8D3B-45D6-B92F-1F0CD81C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33528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A36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A36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A3428B-D7E9-4E5C-AE7F-4E882451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3638550"/>
            <a:ext cx="287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Longueur : 80 mots, 5 lignes, 3 options, 1 page.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FA5F92-6F9A-400B-A594-3184D53A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0650" y="3219450"/>
            <a:ext cx="325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6A2608-97FE-4329-BB0B-A41E9689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150" y="33528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A36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A36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F374BD-DE56-43F3-96C5-7E5F66E7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150" y="3638550"/>
            <a:ext cx="287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Ton : professionnel, simple, chaleureux, ferme, pédagogique.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031FC0-7B9A-40AD-8F22-7ADC1E94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325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F08C1F-334B-4DCE-96D2-0FB1B666C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196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A36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A36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8278A9-5AB6-48B3-AC2B-8FE97BFD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05350"/>
            <a:ext cx="287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Langue : français, anglais, créole simplifié, niveau débutant.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465FD1-BCEA-4715-A2F1-03E95ACD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353050"/>
            <a:ext cx="738187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4E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AEABF9-F6A0-4D32-84D1-DEFC3CBB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35305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0FC4A4-FA2E-4F34-A65D-E0EBA7DA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467350"/>
            <a:ext cx="6886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A36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A36A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B58CD0-924C-465F-A5FC-FC722C5A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676900"/>
            <a:ext cx="6886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Un format précis rapproche la sortie de l'usage réel.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5a70e212cc4214"/>
          <a:stretch xmlns:a="http://schemas.openxmlformats.org/drawingml/2006/main"/>
        </p:blipFill>
        <p:spPr>
          <a:xfrm xmlns:a="http://schemas.openxmlformats.org/drawingml/2006/main">
            <a:off x="9906000" y="273653"/>
            <a:ext cx="742950" cy="424244"/>
          </a:xfrm>
          <a:prstGeom xmlns:a="http://schemas.openxmlformats.org/drawingml/2006/main" prst="rect">
            <a:avLst/>
          </a:prstGeom>
        </p:spPr>
      </p:pic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b7d39600174972"/>
          <a:stretch xmlns:a="http://schemas.openxmlformats.org/drawingml/2006/main"/>
        </p:blipFill>
        <p:spPr>
          <a:xfrm xmlns:a="http://schemas.openxmlformats.org/drawingml/2006/main">
            <a:off x="10859009" y="209550"/>
            <a:ext cx="60858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70945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145FA4-E3E1-447D-932A-43CD6262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98D053-3605-4CBA-B5D3-EC813C99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2BB847-F217-47E0-95C2-99853716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C47AB5-11C8-42A2-ABC0-38321C2A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A3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A36A"/>
                </a:solidFill>
                <a:latin typeface="Aptos"/>
                <a:ea typeface="Aptos"/>
                <a:cs typeface="Aptos"/>
              </a:rPr>
              <a:t>CRAFT - 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F4B107-FD6C-418A-AB1B-91B43CE7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Tests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7B0CDC-537F-472B-9667-4D4F44C6E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FO-64 - Hybride CRAFT pratique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944569-1D33-4508-9B39-DB05FDAF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21/72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98D148-5CDE-49EF-B404-981165D4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Le T oblige l'IA à rendre la sortie vérifiable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344079-D2ED-45F7-86FB-8176D772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Le contrôle se prévoit dans le prompt, pas seulement après.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994EF4-5661-4F3C-980E-DD1839B1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4A945E-EBDF-41B1-8BE1-54A081EF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Questions : « Si une information manque, pose-moi 3 questions avant de répondre. 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A4255C-8020-403D-8BBE-928B447C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00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E55DE1-8E52-44A0-9170-A4F9C013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Fiabilité : « Liste les hypothèses que tu as dû faire. 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5EA8C6-5226-4717-9D6F-FBC01574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52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F0D8A6-D763-4A04-B118-982B44A5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Sources : « Sépare faits vérifiés et suggestions. 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019EEC-E895-4F13-97BE-12429565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05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ADAAD9-8F81-4021-B810-57DF21B2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3870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Risque : « Signale toute donnée sensible à retirer. 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DD1FEB-4FE8-4699-8DB9-219A5DC2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310515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4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F07050-4689-4D26-B1B2-B2DD2A69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762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760FAC-C06E-4238-9ED7-AC3C4B1C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5280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A36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A36A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418963-9C71-4269-9442-3D128601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76650"/>
            <a:ext cx="26098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Tester la sortie fait partie du travail.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93462febab4dcf"/>
          <a:stretch xmlns:a="http://schemas.openxmlformats.org/drawingml/2006/main"/>
        </p:blipFill>
        <p:spPr>
          <a:xfrm xmlns:a="http://schemas.openxmlformats.org/drawingml/2006/main">
            <a:off x="9906000" y="273653"/>
            <a:ext cx="742950" cy="424244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8972b450fa490e"/>
          <a:stretch xmlns:a="http://schemas.openxmlformats.org/drawingml/2006/main"/>
        </p:blipFill>
        <p:spPr>
          <a:xfrm xmlns:a="http://schemas.openxmlformats.org/drawingml/2006/main">
            <a:off x="10859009" y="209550"/>
            <a:ext cx="60858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831922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C6A79D-972A-4B85-8022-4FCD2BA53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594932-95A9-44EC-9D82-96D9F2B3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FDB15E-366C-43F5-91CC-E97CD70AF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AD49F8-3A93-4CC9-8975-8C16E71A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D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D6"/>
                </a:solidFill>
                <a:latin typeface="Aptos"/>
                <a:ea typeface="Aptos"/>
                <a:cs typeface="Aptos"/>
              </a:rPr>
              <a:t>CRAFT COMPLET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842F4C-8029-4B1D-9764-8107E8DF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Canevas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B0DEAC-F9BB-4414-B7B4-D22AAC5F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FO-64 - Hybride CRAFT pratique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BA46C0-4474-4D5D-9996-93FC7E81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22/72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5A8647-E629-490A-8A1A-9FF8C0C3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Le modèle prêt à copier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DCF491-5059-4FC0-ACBE-F2CC0999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Ce canevas sert de base pour tous les ateliers.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BA7667-0F2C-45A7-A2CA-3D0FA51FC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325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3B9BE6-316A-41B9-B606-900CBEC5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D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A6D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414C2F-8823-4D61-8CE8-607CA89FB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38550"/>
            <a:ext cx="287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 : voici la situation, le public, l'objectif et les contraintes.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FC637F-1B4B-4140-B372-1A8A9C0C9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3219450"/>
            <a:ext cx="325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D112BF-C551-46DC-AFF3-B1D2894B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33528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D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A6D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97638D-B716-4005-84CC-F2623AB1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3638550"/>
            <a:ext cx="287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R : tu es [rôle utile pour la tâche].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03D806-9E66-421E-9D4C-543F11E0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0650" y="3219450"/>
            <a:ext cx="325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0F7ACF-8AB6-4379-8263-E472D0B6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150" y="33528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D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A6D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F8923F-60DB-4036-A6E7-7862EF8A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150" y="3638550"/>
            <a:ext cx="287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A : réalise [action précise] sans inventer d'information.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56CFFC-967A-4113-B1A3-13BF811D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325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87DEEC-84B2-431D-B812-24785742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196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D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A6D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9503B0-44B3-4177-9F59-D102EC19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05350"/>
            <a:ext cx="287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F : réponds sous la forme [format, longueur, ton].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575F8C-C76B-42F8-A9E0-0CF7F2E0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4286250"/>
            <a:ext cx="325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0900C0-7B7D-4E7A-B363-7187D962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44196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D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A6D6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AFAA04-B353-48AC-A302-2571A99E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4705350"/>
            <a:ext cx="287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T : pose des questions si besoin et liste les points à vérifier.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78C6C8-4BB4-4D1F-B036-4C35F7D9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353050"/>
            <a:ext cx="738187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4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96D818-788B-436C-9EA1-8A42ED1E8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35305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FAB21C-8FC4-4E34-898F-317C90EFA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467350"/>
            <a:ext cx="6886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6D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A6D6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8E1501-751E-4FE6-B2DA-7172394C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676900"/>
            <a:ext cx="6886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Copier le canevas, puis remplacer les crochets.</a:t>
            </a:r>
          </a:p>
        </p:txBody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21c4bfbe80461e"/>
          <a:stretch xmlns:a="http://schemas.openxmlformats.org/drawingml/2006/main"/>
        </p:blipFill>
        <p:spPr>
          <a:xfrm xmlns:a="http://schemas.openxmlformats.org/drawingml/2006/main">
            <a:off x="9906000" y="273653"/>
            <a:ext cx="742950" cy="424244"/>
          </a:xfrm>
          <a:prstGeom xmlns:a="http://schemas.openxmlformats.org/drawingml/2006/main" prst="rect">
            <a:avLst/>
          </a:prstGeom>
        </p:spPr>
      </p:pic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3fd181b51b4fbd"/>
          <a:stretch xmlns:a="http://schemas.openxmlformats.org/drawingml/2006/main"/>
        </p:blipFill>
        <p:spPr>
          <a:xfrm xmlns:a="http://schemas.openxmlformats.org/drawingml/2006/main">
            <a:off x="10859009" y="209550"/>
            <a:ext cx="60858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588639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12A18D-0BC8-41AD-90CA-9CCCB3ADE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19C10E-AB64-44FD-B342-38C8B530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679883-C487-4A5A-A81C-3A23A2FF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A3D65D-01C0-4FE5-9692-99BD315CE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MÉTHODE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74F9F5-2F68-43A2-A96F-86E61F69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Mode battle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E8B262-AB47-4514-B817-417D8C22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FO-64 - Hybride CRAFT pratique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483996-F063-469C-8B7A-C4D1BF222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23/72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62AA33-E392-4F5F-B2D2-461B61B5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Comparer deux prompts rend la progression visible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FF15D4-D82D-436C-B39A-E3619439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Une même tâche produit des résultats très différents selon le niveau de contexte.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8449CE-539A-4FB6-898D-B0E47231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B19205-01CD-432D-A8E5-5BC632E0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Round 1 : demande courte.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B4636E-7A1D-4395-8A37-73035F8F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00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5E34A7-066B-4A8C-9E44-3BFBD1E9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Round 2 : contexte + destinataire + ton + longueur.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2E095D-7A24-44FF-8416-68D5E819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52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48D1EC-8BF5-46BA-AF76-DB82250E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Round 3 : critères de contrôle + questions de clarification.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C91AA7-6F01-4B5B-A82E-1898E268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05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B35958-72EC-4DB7-B959-02E9114B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3870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Victoire : la sortie qui demande le moins de corrections utiles.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FA06B2-1706-4094-9BD8-F85D224A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310515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4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1DDB9C-9515-4940-AB48-671962BF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762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EF6A3C-C18B-4722-B2B9-701B1B29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5280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FF4CDB-D70E-42B3-8611-50B68112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76650"/>
            <a:ext cx="26098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La comparaison vaut mieux qu'une explication abstraite.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96f9dcac09467c"/>
          <a:stretch xmlns:a="http://schemas.openxmlformats.org/drawingml/2006/main"/>
        </p:blipFill>
        <p:spPr>
          <a:xfrm xmlns:a="http://schemas.openxmlformats.org/drawingml/2006/main">
            <a:off x="9906000" y="273653"/>
            <a:ext cx="742950" cy="424244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f4e137da4442a9"/>
          <a:stretch xmlns:a="http://schemas.openxmlformats.org/drawingml/2006/main"/>
        </p:blipFill>
        <p:spPr>
          <a:xfrm xmlns:a="http://schemas.openxmlformats.org/drawingml/2006/main">
            <a:off x="10859009" y="209550"/>
            <a:ext cx="60858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93652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49F973-2E90-452F-A494-19B37E80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04BAE2-E83B-45D8-9E34-ABF8CB8C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152623-500B-4EDF-A437-24BBCF70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FD2981-69B7-44E4-81D8-B4559AE0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PROGRESSION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1A620C-8824-44F9-B4EA-62B0863A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Partie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A1D6CF-464A-4FB6-AFEC-F2C01ACC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FO-64 - Hybride CRAFT pratique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926FC0-6F3B-4CDE-8519-989C4C10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24/72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2451CF-428D-46C0-9551-694D1E4C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Produire sur des cas simples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E2D1E0-20BC-405A-BC8F-83329272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Les participants appliquent CRAFT à des tâches fréquentes et faciles à vérifier.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667F64-CD26-4465-88AC-D921B1F4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68AB12-9324-4EEF-B311-6D1142A5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Rédiger et corriger un email professionnel.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F2F1AA-A781-45B0-A6C3-4C9D447A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00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68CE41-4B66-4B24-A9ED-8058C733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Transformer des notes brutes en compte rendu actionnable.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398A98-8ED3-4C75-9527-911F7427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52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5ABF92-2C75-48B0-B598-EFC80FF5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Adapter un contenu à une cible différente.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2C3473-BA17-41AC-B89E-195685A5B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05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003547-C400-4640-A0A6-7C891005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3870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Structurer une liste en tableau exploitable.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E4556C-4A25-467F-BA9F-DE08FA08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310515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4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720B46-18ED-4959-91B2-4545C8A8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762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8E97BD-DFD4-4A2B-A80A-414E3858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5280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11F18B-0D8A-4C6F-8E91-E9696C01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76650"/>
            <a:ext cx="26098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Sortie de partie : plusieurs prompts testés et une première logique de contrôle.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0a343b4fcf4eef"/>
          <a:stretch xmlns:a="http://schemas.openxmlformats.org/drawingml/2006/main"/>
        </p:blipFill>
        <p:spPr>
          <a:xfrm xmlns:a="http://schemas.openxmlformats.org/drawingml/2006/main">
            <a:off x="9906000" y="273653"/>
            <a:ext cx="742950" cy="424244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5d07a4997942b1"/>
          <a:stretch xmlns:a="http://schemas.openxmlformats.org/drawingml/2006/main"/>
        </p:blipFill>
        <p:spPr>
          <a:xfrm xmlns:a="http://schemas.openxmlformats.org/drawingml/2006/main">
            <a:off x="10859009" y="209550"/>
            <a:ext cx="60858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200438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D64246-61B3-4BE0-B4D7-CF9E898A3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3E6634-1D88-49DE-A959-910C40F2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3C87C5-F610-43FC-A72D-D741447A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72AC17-A4A5-49D0-BAC5-75F27E9F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ATELIER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41096A-5C39-4857-BCEB-C4BB467E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Email pro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7F7A6E-DDF4-46FE-8C00-82EBD9A5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FO-64 - Hybride CRAFT pratique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28A12B-A31B-4759-95FF-140E9BD3F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25/72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F7602C-6BB1-45A9-92FD-9B9D1D34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47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Prompt CRAFT : relance de devis fictif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125E9D-210A-4AF5-BA27-C1BDD8CD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647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Objectif : produire un email prêt à personnaliser, sans pression inutile.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FF6D32-228C-41F5-A154-BE1BC1354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09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563C3A-E8DC-4186-B8DB-228F8A07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5772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 : devis fictif envoyé il y a 10 jours pour une prestation de maintenance.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49D190-9617-4E52-87ED-31704881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433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07A9D1-8F0E-4104-9657-45AE45A35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76650"/>
            <a:ext cx="5772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R : assistant commercial d'une TPME de services.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5D0508-C34D-4C18-AFC3-C4CADE9D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76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4F4F4B-D17A-4A46-B39F-5BA83A82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10050"/>
            <a:ext cx="5772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A : rédige une relance courtoise avec une proposition d'appel.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F493AE-26A5-40E0-88F0-8CA90C85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01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274BA7-71D9-4312-8FCC-090D200E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43450"/>
            <a:ext cx="5772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F : objet + email de 120 mots maximum, ton professionnel.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2EBC1F-376E-439B-9C03-BA882D49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257300"/>
            <a:ext cx="3143250" cy="39814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8EA"/>
          </a:solidFill>
          <a:ln xmlns:a="http://schemas.openxmlformats.org/drawingml/2006/main" w="11430">
            <a:solidFill>
              <a:srgbClr val="F6D28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579DF1-E8DE-41A5-8DC2-9121F843A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621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Mise en pratique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D0B6FE-AC2A-4A35-A269-014A06329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764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7086"/>
                </a:solidFill>
                <a:latin typeface="Aptos"/>
                <a:ea typeface="Aptos"/>
                <a:cs typeface="Aptos"/>
              </a:rPr>
              <a:t>Production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2E83B8-7883-43AB-B597-1F9245DC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6220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Production : une version courte, claire et vérifiable.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A44D4B-AA74-4A8F-8C20-876639036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052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7086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E0BA37-BFC2-4356-BAFD-6E27F705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719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Comparez les prompts, identifiez les contrôles utiles, conservez une version réutilisable.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28812e832b45ff"/>
          <a:stretch xmlns:a="http://schemas.openxmlformats.org/drawingml/2006/main"/>
        </p:blipFill>
        <p:spPr>
          <a:xfrm xmlns:a="http://schemas.openxmlformats.org/drawingml/2006/main">
            <a:off x="9906000" y="273653"/>
            <a:ext cx="742950" cy="424244"/>
          </a:xfrm>
          <a:prstGeom xmlns:a="http://schemas.openxmlformats.org/drawingml/2006/main" prst="rect">
            <a:avLst/>
          </a:prstGeom>
        </p:spPr>
      </p:pic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e45731eef04aff"/>
          <a:stretch xmlns:a="http://schemas.openxmlformats.org/drawingml/2006/main"/>
        </p:blipFill>
        <p:spPr>
          <a:xfrm xmlns:a="http://schemas.openxmlformats.org/drawingml/2006/main">
            <a:off x="10859009" y="209550"/>
            <a:ext cx="60858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426520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F957C9-39CC-43E8-9F06-B90AC4AA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F562A4-82BA-4A8C-B22F-0F32923F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8B1C7F-0AE6-4B42-A4A1-0D35E216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274CA8-CF72-46D9-9486-06808FF4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D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D6"/>
                </a:solidFill>
                <a:latin typeface="Aptos"/>
                <a:ea typeface="Aptos"/>
                <a:cs typeface="Aptos"/>
              </a:rPr>
              <a:t>ATELIER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3ECAA6-A6A2-40FA-A980-7BD4282B1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Exemple de sortie attendue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75F4FC-8551-47A9-A13F-26DB9531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FO-64 - Hybride CRAFT pratique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945491-8573-412D-A8DD-B49E8057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26/72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8DFD5-851E-4923-82CD-FE36A34F4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Email pro : relance de devis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3A1FB7-C467-4EDE-8E5E-30865485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La sortie doit rester sobre et personnalisable.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C44B91-5FA2-4E2C-9545-DD922866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325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79FB94-7775-49D9-81BD-ECE3D547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D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A6D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055801-CE36-45D0-9BF9-A8DE1A16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38550"/>
            <a:ext cx="287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Objet : Suite à notre proposition de maintenance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53AEB4-D1DE-426E-B8EE-90DAE444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3219450"/>
            <a:ext cx="325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296727-264B-40A8-8BC0-4B406DC7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33528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D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A6D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DC6DA7-C331-4D31-A864-1BDEB3B9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3638550"/>
            <a:ext cx="287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48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Bonjour, je me permets de revenir vers vous concernant la proposition transmise il y a quelques jours.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463DC1-A3CC-42E3-AA01-5718BFC7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0650" y="3219450"/>
            <a:ext cx="325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91526F-E6B4-4A37-AA6B-4D6BFC10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150" y="33528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D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A6D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FCF5CD-A90D-4F6B-8B76-53C8BAC6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150" y="3638550"/>
            <a:ext cx="287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79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Je reste disponible pour répondre à vos questions ou ajuster certains éléments si nécessaire.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E7B996-A416-441E-B7E2-EB99C05C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325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BDEE6C-B3F2-499E-80FC-75DCBFB3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196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D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A6D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866104-397D-4F01-B87B-DBB36E64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05350"/>
            <a:ext cx="287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Souhaitez-vous prévoir un échange de 15 minutes cette semaine 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D77E27-7541-4F72-9EEE-2130779B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353050"/>
            <a:ext cx="738187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4E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9B4BC6-E83E-4B5F-AEF3-9568FCD3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35305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A82266-F37D-49AC-AE00-4F59F973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467350"/>
            <a:ext cx="6886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6D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A6D6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A43F91-7A0E-4024-9C12-FB54D9D1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676900"/>
            <a:ext cx="6886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À personnaliser : nom, prestation, date d'envoi, créneau proposé.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3bd417a28b4059"/>
          <a:stretch xmlns:a="http://schemas.openxmlformats.org/drawingml/2006/main"/>
        </p:blipFill>
        <p:spPr>
          <a:xfrm xmlns:a="http://schemas.openxmlformats.org/drawingml/2006/main">
            <a:off x="9906000" y="273653"/>
            <a:ext cx="742950" cy="424244"/>
          </a:xfrm>
          <a:prstGeom xmlns:a="http://schemas.openxmlformats.org/drawingml/2006/main" prst="rect">
            <a:avLst/>
          </a:prstGeom>
        </p:spPr>
      </p:pic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8ef31bf4634f3d"/>
          <a:stretch xmlns:a="http://schemas.openxmlformats.org/drawingml/2006/main"/>
        </p:blipFill>
        <p:spPr>
          <a:xfrm xmlns:a="http://schemas.openxmlformats.org/drawingml/2006/main">
            <a:off x="10859009" y="209550"/>
            <a:ext cx="60858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71577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612879-14BE-499D-B647-45CEECD1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320917-49E0-44A3-B89D-8432FEB1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C1F24A-89F8-4C50-B762-7FEC978C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AA1B7A-A237-43C8-8661-87BF832A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ATELIER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ECE74E-E740-4C24-90BE-79580A95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Améliorer la sortie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F62BBF-6D63-4769-B7ED-39BADCF9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FO-64 - Hybride CRAFT pratique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485AF5-6A32-459F-88D4-17A3BA09E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27/72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B4B10D-9E13-4E7B-8EDF-C616EC79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47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Prompt de correction : rendre l'email plus naturel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3C84EB-14C9-4710-A5F7-B5FA5E5C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647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Un second prompt sert à améliorer, pas à recommencer de zéro.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CD1A68-97E6-4A7A-AB66-1E3E38A7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09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5D100F-2238-4AAC-A116-C3657F4C1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5772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« Réécris cet email avec un ton plus humain, sans être familier. 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124AA3-4926-4035-B244-F07E10EE5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433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934EE6-0603-43C1-857F-64BD8DAB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76650"/>
            <a:ext cx="5772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« Réduis à 90 mots et supprime toute formule trop commerciale. 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251A69-2A68-4613-A4E6-59430256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76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E7390B-692E-4BC0-9AFB-30B3EB21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10050"/>
            <a:ext cx="5772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« Propose 3 objets d'email, du plus direct au plus chaleureux. 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727AC0-1D2A-45B9-B31F-921AA94E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01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7128B6-A8E7-4160-B20D-620DD14A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43450"/>
            <a:ext cx="5772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« Vérifie qu'aucune promesse de résultat n'est formulée. 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00E5CB-6BE4-420E-968F-378F107A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257300"/>
            <a:ext cx="3143250" cy="39814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8EA"/>
          </a:solidFill>
          <a:ln xmlns:a="http://schemas.openxmlformats.org/drawingml/2006/main" w="11430">
            <a:solidFill>
              <a:srgbClr val="F6D28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B36085-359A-4044-877B-98D24D66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621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Mise en pratique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614E4F-EE2A-46D5-A1A3-495F1DAD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764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7086"/>
                </a:solidFill>
                <a:latin typeface="Aptos"/>
                <a:ea typeface="Aptos"/>
                <a:cs typeface="Aptos"/>
              </a:rPr>
              <a:t>Production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EB67F5-C03B-4FBB-A3F8-00BFD638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6220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L'itération transforme un brouillon en support utilisable.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58ED20-E0C6-4774-9B2C-223A384B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052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7086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8CB1A8-4004-45D4-80C9-FF7D502C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719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Comparez les prompts, identifiez les contrôles utiles, conservez une version réutilisable.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a9cb7bff754b78"/>
          <a:stretch xmlns:a="http://schemas.openxmlformats.org/drawingml/2006/main"/>
        </p:blipFill>
        <p:spPr>
          <a:xfrm xmlns:a="http://schemas.openxmlformats.org/drawingml/2006/main">
            <a:off x="9906000" y="273653"/>
            <a:ext cx="742950" cy="424244"/>
          </a:xfrm>
          <a:prstGeom xmlns:a="http://schemas.openxmlformats.org/drawingml/2006/main" prst="rect">
            <a:avLst/>
          </a:prstGeom>
        </p:spPr>
      </p:pic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5c660db07d4f80"/>
          <a:stretch xmlns:a="http://schemas.openxmlformats.org/drawingml/2006/main"/>
        </p:blipFill>
        <p:spPr>
          <a:xfrm xmlns:a="http://schemas.openxmlformats.org/drawingml/2006/main">
            <a:off x="10859009" y="209550"/>
            <a:ext cx="60858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020549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C453ED-CD9C-4AB3-874B-6CDD1FF2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842E6B-4996-4352-9BC7-E896E7A5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DBC86B-60FA-4370-8B80-A82E52F3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3755A9-7F64-49FF-ABAA-3888F72C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ATELIER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A05C0C-9E34-460E-88CE-6BD19530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Compte rendu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B23403-4A5F-4BE3-B63A-7B9CD494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FO-64 - Hybride CRAFT pratique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4C24DF-ADE5-4A8F-81FC-37ABD504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28/72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A25446-95FA-4A35-9231-AD9390373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47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Prompt CRAFT : notes brutes vers synthèse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001264-C970-4E70-8937-20A2B3C5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647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Objectif : convertir des notes désordonnées en décisions et actions.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8271B8-E243-424C-ABB5-C1A08D5DB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09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4A3B85-F4F9-486D-B5E8-08ACEE45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5772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 : notes fictives d'une réunion d'équipe sur l'accueil client.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6A6200-9D9D-4C48-829D-001FD5D0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433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A78AE2-BF4D-4BD1-81F0-D7AD2D85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76650"/>
            <a:ext cx="5772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R : assistant de direction structuré.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79974F-2997-4A37-8722-E34838E45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76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AB4CAE-1DD4-43AC-980E-FD51785D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10050"/>
            <a:ext cx="5772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A : transforme les notes en compte rendu court.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6FD28B-CDFA-4858-B366-79A6198B1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01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3DE6D4-7A95-4948-B8D3-7C45396F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43450"/>
            <a:ext cx="5772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F : tableau avec décisions, actions, responsable, échéance.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90594A-1075-4F24-BA74-7E467838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257300"/>
            <a:ext cx="3143250" cy="39814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8EA"/>
          </a:solidFill>
          <a:ln xmlns:a="http://schemas.openxmlformats.org/drawingml/2006/main" w="11430">
            <a:solidFill>
              <a:srgbClr val="F6D28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9A69F0-6E2C-4F1D-949F-CAF5B90CE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621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Mise en pratique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C7EFE8-F340-44EE-A8D4-6C3F36C5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764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7086"/>
                </a:solidFill>
                <a:latin typeface="Aptos"/>
                <a:ea typeface="Aptos"/>
                <a:cs typeface="Aptos"/>
              </a:rPr>
              <a:t>Production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9EF40B-C4FA-4682-80A4-15FAEA30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6220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Production : un compte rendu actionnable.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C31BC9-DAC5-471F-BDEC-DD481218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052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7086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69915D-CC66-4F88-BEE5-5406BB5D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719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Comparez les prompts, identifiez les contrôles utiles, conservez une version réutilisable.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2a2b36763d43b3"/>
          <a:stretch xmlns:a="http://schemas.openxmlformats.org/drawingml/2006/main"/>
        </p:blipFill>
        <p:spPr>
          <a:xfrm xmlns:a="http://schemas.openxmlformats.org/drawingml/2006/main">
            <a:off x="9906000" y="273653"/>
            <a:ext cx="742950" cy="424244"/>
          </a:xfrm>
          <a:prstGeom xmlns:a="http://schemas.openxmlformats.org/drawingml/2006/main" prst="rect">
            <a:avLst/>
          </a:prstGeom>
        </p:spPr>
      </p:pic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5340b9d1584977"/>
          <a:stretch xmlns:a="http://schemas.openxmlformats.org/drawingml/2006/main"/>
        </p:blipFill>
        <p:spPr>
          <a:xfrm xmlns:a="http://schemas.openxmlformats.org/drawingml/2006/main">
            <a:off x="10859009" y="209550"/>
            <a:ext cx="60858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309497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F7399D-FAD8-41DD-84F4-9076E0D9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84EDF7-8C42-48D8-8C72-95E1795E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9181A6-4924-4FF4-AC0F-BE99D8EC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132023-9BD7-45E8-B2B4-1897A2468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D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D6"/>
                </a:solidFill>
                <a:latin typeface="Aptos"/>
                <a:ea typeface="Aptos"/>
                <a:cs typeface="Aptos"/>
              </a:rPr>
              <a:t>ATELIER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6EDACE-8B10-4D25-8250-056ECF1A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Exemple notes brutes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6FCB33-9394-4B7B-B002-BEA59248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FO-64 - Hybride CRAFT pratique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5BE52F-44FE-490B-8A8A-8F9BCF48D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29/72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5C4CB9-ABAD-4BBF-B9D4-00FBC373D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Matière de départ à donner à l'IA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953F9B-AC69-4FD3-B218-070EFE6D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Les notes restent fictives pour l'exercice.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B2F779-131E-4960-8204-AC200B9BA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325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5976EA-B979-4B20-8235-A18DBF3E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D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A6D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B35B90-AA7C-4F0B-BD1D-25EB2251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38550"/>
            <a:ext cx="287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Accueil : attente trop longue lundi matin.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8BB375-F7DD-4E9D-87DA-9BBCFF95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3219450"/>
            <a:ext cx="325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6C1043-4166-486B-A27A-337067243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33528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D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A6D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C30FF6-98A3-44DE-9201-E24695FC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3638550"/>
            <a:ext cx="287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FAQ papier pas à jour, horaires d'été absents.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17066F-E3E6-430D-9C0D-BD7AEBA5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0650" y="3219450"/>
            <a:ext cx="325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0F63E2-5E60-457E-9C82-17F5DCE7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150" y="33528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D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A6D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1CD0C6-DEC9-48DD-AC07-403DC7035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150" y="3638550"/>
            <a:ext cx="287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Nadia propose réponse type pour demandes fréquentes.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AB49FB-60C0-46DD-88B7-1508F7AA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325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9BC02D-FB05-4C99-A2A9-FF97F8BA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196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D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A6D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0FBEEB-939A-4B23-B590-F992DFC2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05350"/>
            <a:ext cx="287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Décision : tester une FAQ courte pendant deux semaines.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E52B3D-D6FC-44D5-B4E1-DD5967CC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4286250"/>
            <a:ext cx="325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1D0793-4DCB-40B0-BB9C-E55CD158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44196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D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A6D6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B1AD7F-4B38-4BA8-B840-22934DAD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4705350"/>
            <a:ext cx="287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À revoir : qui valide les réponses avant diffusion 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74F400-FC10-4653-8143-6C2FE98A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353050"/>
            <a:ext cx="738187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4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4D85E7-8C07-4EFE-B054-F32D8050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35305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2E5D5F-823C-4AE4-93C5-A5944DEA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467350"/>
            <a:ext cx="6886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6D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A6D6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26692F-23F9-41A5-8544-87FCCD29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676900"/>
            <a:ext cx="6886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Des notes simples suffisent pour apprendre la méthode.</a:t>
            </a:r>
          </a:p>
        </p:txBody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6251a2474b48d4"/>
          <a:stretch xmlns:a="http://schemas.openxmlformats.org/drawingml/2006/main"/>
        </p:blipFill>
        <p:spPr>
          <a:xfrm xmlns:a="http://schemas.openxmlformats.org/drawingml/2006/main">
            <a:off x="9906000" y="273653"/>
            <a:ext cx="742950" cy="424244"/>
          </a:xfrm>
          <a:prstGeom xmlns:a="http://schemas.openxmlformats.org/drawingml/2006/main" prst="rect">
            <a:avLst/>
          </a:prstGeom>
        </p:spPr>
      </p:pic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9a225dd4414a46"/>
          <a:stretch xmlns:a="http://schemas.openxmlformats.org/drawingml/2006/main"/>
        </p:blipFill>
        <p:spPr>
          <a:xfrm xmlns:a="http://schemas.openxmlformats.org/drawingml/2006/main">
            <a:off x="10859009" y="209550"/>
            <a:ext cx="60858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684866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EFB236-1F45-4CC1-ACF5-819242CA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FCCAF1-3B08-43A9-83FE-3003E721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992D7B-A6BB-41F5-9E29-7BDAA6E7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DE72E0-2518-44E4-819B-11E4760C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A3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A36A"/>
                </a:solidFill>
                <a:latin typeface="Aptos"/>
                <a:ea typeface="Aptos"/>
                <a:cs typeface="Aptos"/>
              </a:rPr>
              <a:t>ATELIER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3D8376-3A98-402C-8E7A-D2A4321E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Exemple de sortie attendue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6EA8C3-447A-40BB-9653-7AFAC8F5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FO-64 - Hybride CRAFT pratique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7BF531-DDFD-45B7-9BA6-F4C7A4D8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30/72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285F93-C18E-439E-8E32-0BC958468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Compte rendu actionnable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A1983B-9AEB-415D-ACE3-A553C81F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La valeur vient du classement, pas de la longueur.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4AC87F-8155-4D34-ACA9-EC45A411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2842B7-C9BB-4182-8ED5-A3573386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6248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Décision : tester une FAQ courte pendant deux semaines.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E9D808-5878-428E-BBA7-FF6A52510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052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44B46D-97A3-485C-81E3-4C842492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38550"/>
            <a:ext cx="6248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Action : rédiger 10 réponses types aux questions fréquentes.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E14CDF-48AD-4EBB-964A-A4D79E1A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624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C59C36-46B6-45A2-85C6-5CAD5011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95750"/>
            <a:ext cx="6248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Responsable : Nadia pour la première version.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5CC49D-1298-43BA-AD93-FDFF68A4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96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76C6E7-13A9-45C5-A45B-10D76D62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52950"/>
            <a:ext cx="6248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Échéance : à confirmer.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B1F883-55A1-4181-A774-CD194B3C0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768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A87FB8-5383-40A9-9288-9443372F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10150"/>
            <a:ext cx="6248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Point ambigu : validation finale non attribuée.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9650AB-A90E-4000-957C-1E19675A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310515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4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EE7AEA-BCA8-4754-AD0E-2C10D412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762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9B88E-18C1-4A0F-A974-ED124E65D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5280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A36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A36A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FAEFBB-29AD-44CB-A6DB-BB7A7A26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76650"/>
            <a:ext cx="26098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Une bonne synthèse révèle aussi ce qui manque.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2a136bdc6b4a77"/>
          <a:stretch xmlns:a="http://schemas.openxmlformats.org/drawingml/2006/main"/>
        </p:blipFill>
        <p:spPr>
          <a:xfrm xmlns:a="http://schemas.openxmlformats.org/drawingml/2006/main">
            <a:off x="9906000" y="273653"/>
            <a:ext cx="742950" cy="424244"/>
          </a:xfrm>
          <a:prstGeom xmlns:a="http://schemas.openxmlformats.org/drawingml/2006/main" prst="rect">
            <a:avLst/>
          </a:prstGeom>
        </p:spPr>
      </p:pic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4887ee26e4445c"/>
          <a:stretch xmlns:a="http://schemas.openxmlformats.org/drawingml/2006/main"/>
        </p:blipFill>
        <p:spPr>
          <a:xfrm xmlns:a="http://schemas.openxmlformats.org/drawingml/2006/main">
            <a:off x="10859009" y="209550"/>
            <a:ext cx="60858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16245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704AC9-3BB1-4299-920E-658C2961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321C58-5F5C-494A-9F07-055B84EE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3E470C-DCDB-4B2A-B711-B9A118659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818FC0-6B56-4E3F-AAB3-8CD7DA91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ATELIER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DB1EBA-228C-4C08-A722-35B68D0E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Résumé de document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675A4C-12D3-458E-8D2A-EC13C8A2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FO-64 - Hybride CRAFT pratique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6C35EA-7D5F-4AB2-A771-55BEFF28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31/72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B6A480-5F28-4B7B-A0AC-15E9369D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47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Prompt CRAFT : synthèse exploitable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85F6DB-63F9-47C8-88AF-36F085DF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647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Objectif : faire ressortir les décisions utiles d'un texte long.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96E666-1DEB-4EE3-B048-BC29C7D9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09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65721C-01DE-4798-89EE-756AF3CA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5772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 : extrait public ou document fictif de 2 pages.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D0D945-F356-4C78-B4CE-0ACFD19C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433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BCE2C1-7525-4ACA-93F3-D96913F5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76650"/>
            <a:ext cx="5772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R : analyste opérationnel pour dirigeant de TPME.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E72A4C-7803-44BA-84C1-C392C3C2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76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391FB7-2563-4971-BCB7-4B793E86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10050"/>
            <a:ext cx="5772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A : résume les informations utiles pour décider.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A730F7-A6E1-48C3-9A76-91A35F50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01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126A16-C815-4C61-91E8-EAA0FFBE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43450"/>
            <a:ext cx="5772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F : 5 points clés, 3 risques, 3 actions possibles.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BE015C-DA2B-48B5-86BA-695727BD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257300"/>
            <a:ext cx="3143250" cy="39814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8EA"/>
          </a:solidFill>
          <a:ln xmlns:a="http://schemas.openxmlformats.org/drawingml/2006/main" w="11430">
            <a:solidFill>
              <a:srgbClr val="F6D28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7149C0-2DBC-40A3-B487-5E5001A5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621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Mise en pratique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DACE85-BB0B-459F-BAB0-A8EDCEEA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764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7086"/>
                </a:solidFill>
                <a:latin typeface="Aptos"/>
                <a:ea typeface="Aptos"/>
                <a:cs typeface="Aptos"/>
              </a:rPr>
              <a:t>Production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8EA20B-2BB5-4F5D-A2F5-950D488D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6220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Le résumé doit aider à décider, pas seulement raccourcir.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B90452-633D-4D67-B615-BDB04FF56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052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7086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2B7A39-0172-4C3C-ABB2-DD450439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719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Comparez les prompts, identifiez les contrôles utiles, conservez une version réutilisable.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6bceb7e1e14fa1"/>
          <a:stretch xmlns:a="http://schemas.openxmlformats.org/drawingml/2006/main"/>
        </p:blipFill>
        <p:spPr>
          <a:xfrm xmlns:a="http://schemas.openxmlformats.org/drawingml/2006/main">
            <a:off x="9906000" y="273653"/>
            <a:ext cx="742950" cy="424244"/>
          </a:xfrm>
          <a:prstGeom xmlns:a="http://schemas.openxmlformats.org/drawingml/2006/main" prst="rect">
            <a:avLst/>
          </a:prstGeom>
        </p:spPr>
      </p:pic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9b753d17f34e5e"/>
          <a:stretch xmlns:a="http://schemas.openxmlformats.org/drawingml/2006/main"/>
        </p:blipFill>
        <p:spPr>
          <a:xfrm xmlns:a="http://schemas.openxmlformats.org/drawingml/2006/main">
            <a:off x="10859009" y="209550"/>
            <a:ext cx="60858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446207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2B68A2-A648-4896-BD29-FFAA1626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854FF0-3591-40D1-B275-D19989BD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53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EFE08D-A139-44FC-8D29-25A66E9AB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53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7EC526-AC00-4E12-BB0A-22DC5018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5534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5534B"/>
                </a:solidFill>
                <a:latin typeface="Aptos"/>
                <a:ea typeface="Aptos"/>
                <a:cs typeface="Aptos"/>
              </a:rPr>
              <a:t>ATELIER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01C17C-BC72-4767-B781-1B67359A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Prompt anti-hallucination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E8D843-8F4B-4141-AB04-E542180E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FO-64 - Hybride CRAFT pratique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C08699-BA5C-4ABF-B2F5-B674A96E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32/72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2C19EB-54EA-4D87-804B-2A45FB7D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Demander à l'IA de séparer source et suggestion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74A129-9588-40C2-9632-0BA6B53F8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Ce prompt limite les ajouts invisibles.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935624-4FB8-4F92-8F91-0782E2A7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53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92DDA1-983A-4599-B0CB-3B532038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« Ne complète pas avec des connaissances externes. 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168F40-E413-4D0B-9F65-7584ECD2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00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53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20DB3A-C1E5-403F-8F05-DA657042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« Si une information n'est pas dans le texte, écris Non indiqué. 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35A95D-616E-422C-BE96-D8A71250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52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53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461023-9E69-417A-BEBB-25C17C5C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« Ajoute une colonne Source : phrase ou passage utilisé. 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8ADA93-17E7-499D-92FA-924F77E3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05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53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477F37-461B-47B6-B6C0-83F0094E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3870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« Termine par les zones d'incertitude. 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86C6F4-D9AC-4F44-82A2-935EC271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310515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4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BE607A-24AA-4A73-A390-ED7D2620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762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53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141C77-111E-47A0-925C-542FDF1E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5280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553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5534B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A9E745-8233-46C2-86EB-1206E7F0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76650"/>
            <a:ext cx="26098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Ce qui n'est pas dans la source doit rester visible.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d6ce6798224f43"/>
          <a:stretch xmlns:a="http://schemas.openxmlformats.org/drawingml/2006/main"/>
        </p:blipFill>
        <p:spPr>
          <a:xfrm xmlns:a="http://schemas.openxmlformats.org/drawingml/2006/main">
            <a:off x="9906000" y="273653"/>
            <a:ext cx="742950" cy="424244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e3a495516d49df"/>
          <a:stretch xmlns:a="http://schemas.openxmlformats.org/drawingml/2006/main"/>
        </p:blipFill>
        <p:spPr>
          <a:xfrm xmlns:a="http://schemas.openxmlformats.org/drawingml/2006/main">
            <a:off x="10859009" y="209550"/>
            <a:ext cx="60858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111031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2CE8D0-58AD-46B7-922A-E943BEA5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79685E-F8F3-4C7E-9E0D-16EBE2EB3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0B36A5-E7F1-4AEF-996F-11760B99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9D2589-3C0F-470A-A85B-187C36CFB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ATELIER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FB59C4-4386-4ED0-8A28-92786E731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Traduction et adaptation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922EFB-EDA0-45E2-A325-51DC5D87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FO-64 - Hybride CRAFT pratique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530EC7-0D14-4E01-80F3-23AC19B3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33/72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EE87C8-0B95-4C25-9B3D-2CD71110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47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Prompt CRAFT : adapter sans trahir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1F7544-B301-44E9-B666-C493337C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647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Objectif : produire une version compréhensible pour un autre public.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415519-70E0-4315-8A32-3613BB42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09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C3ED4B-A37B-493F-8BBC-BD333B7B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5772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 : message fictif destiné à des clients touristiques.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99BB48-2D30-40C9-82D3-FEE5E17D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433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B07F76-3924-4888-8116-03EAE51D0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76650"/>
            <a:ext cx="5772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R : traducteur professionnel et conseiller relation client.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D7180F-C1A0-42F9-AEC9-8359D236C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76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AD5E64-CDA1-4A33-86F6-7A4AA0F5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10050"/>
            <a:ext cx="5772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A : traduis puis adapte le ton pour un client non spécialiste.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F8DA32-F9E0-4D3E-8CB5-210ED387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01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A8FC0B-01E6-4090-A3D9-D1AD8F66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43450"/>
            <a:ext cx="5772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F : version courte, ton clair, sans jargon.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19CD2C-D1B6-442B-887E-446F7C64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257300"/>
            <a:ext cx="3143250" cy="39814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8EA"/>
          </a:solidFill>
          <a:ln xmlns:a="http://schemas.openxmlformats.org/drawingml/2006/main" w="11430">
            <a:solidFill>
              <a:srgbClr val="F6D28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B45A13-CC5F-4CDC-93BF-5779B8BB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621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Mise en pratique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83B235-BD4A-46BB-A96C-2FE84C20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764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7086"/>
                </a:solidFill>
                <a:latin typeface="Aptos"/>
                <a:ea typeface="Aptos"/>
                <a:cs typeface="Aptos"/>
              </a:rPr>
              <a:t>Production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D4527D-C653-461F-A3DE-4EBC40CC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6220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Adapter n'est pas simplement traduire mot à mot.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F6B50C-06BC-4000-9302-402322A8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052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7086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569854-C12C-4EC1-96A5-00EFD38C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719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Comparez les prompts, identifiez les contrôles utiles, conservez une version réutilisable.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b927fc16c94209"/>
          <a:stretch xmlns:a="http://schemas.openxmlformats.org/drawingml/2006/main"/>
        </p:blipFill>
        <p:spPr>
          <a:xfrm xmlns:a="http://schemas.openxmlformats.org/drawingml/2006/main">
            <a:off x="9906000" y="273653"/>
            <a:ext cx="742950" cy="424244"/>
          </a:xfrm>
          <a:prstGeom xmlns:a="http://schemas.openxmlformats.org/drawingml/2006/main" prst="rect">
            <a:avLst/>
          </a:prstGeom>
        </p:spPr>
      </p:pic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5334cb47f74e19"/>
          <a:stretch xmlns:a="http://schemas.openxmlformats.org/drawingml/2006/main"/>
        </p:blipFill>
        <p:spPr>
          <a:xfrm xmlns:a="http://schemas.openxmlformats.org/drawingml/2006/main">
            <a:off x="10859009" y="209550"/>
            <a:ext cx="60858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62574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D726DB-A64A-4F21-9B44-3257F651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74B77B-507B-4D07-84D7-C90D69932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BEAA9D-DF48-4A17-9DDF-1CF5E60D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54C215-1C8C-42B8-BCC7-ED103E5F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ATELIER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D0C305-E7B6-4E2A-902D-0A81B94A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Données et tableau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6DE3A1-80F3-4193-B1B3-D896B127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FO-64 - Hybride CRAFT pratique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55A755-0672-4550-9F26-227E785E9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34/72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5220FC-BFB0-485E-BEC5-47DDCD01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47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Prompt CRAFT : transformer une liste en tableau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55DA1E-774E-4048-B413-0A7FB1F0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647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Objectif : passer d'une liste brouillon à une structure exploitable.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659C15-A759-4974-AAE1-EAA6568F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09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6ACFA9-3CB1-4A21-A024-D9DB03D6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5772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 : liste fictive de demandes clients reçues cette semaine.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7B5F68-E1FA-4C40-92EF-95E18698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433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9479AB-54C6-48B1-8AA3-5509BD56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76650"/>
            <a:ext cx="5772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R : assistant administratif rigoureux.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2EDC57-D4E1-4479-BF55-EADFE1E1B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76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8FBB56-4101-4C03-80E2-74C7B4AB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10050"/>
            <a:ext cx="5772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A : classe les demandes par type et priorité.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290D5C-F3B5-45A2-B491-124B31A5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01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B987E8-B0AB-4A82-B385-6EF28E465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43450"/>
            <a:ext cx="5772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F : tableau avec type, urgence, réponse suggérée, responsable.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147330-D6EF-424A-8811-A1166B52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257300"/>
            <a:ext cx="3143250" cy="39814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8EA"/>
          </a:solidFill>
          <a:ln xmlns:a="http://schemas.openxmlformats.org/drawingml/2006/main" w="11430">
            <a:solidFill>
              <a:srgbClr val="F6D28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3C6988-D4AA-4FD7-A16B-0BDE20FA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621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Mise en pratique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19575B-D900-41FB-9070-DE9B5975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764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7086"/>
                </a:solidFill>
                <a:latin typeface="Aptos"/>
                <a:ea typeface="Aptos"/>
                <a:cs typeface="Aptos"/>
              </a:rPr>
              <a:t>Production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071D67-07DA-4DB3-808C-108F9A23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6220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La structure rend les données utilisables.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FB38A3-8B43-4C3A-A54F-44ABE3A3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052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7086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B86448-A533-420F-8A4B-1F95ED374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719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Comparez les prompts, identifiez les contrôles utiles, conservez une version réutilisable.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eb75012c6f40a5"/>
          <a:stretch xmlns:a="http://schemas.openxmlformats.org/drawingml/2006/main"/>
        </p:blipFill>
        <p:spPr>
          <a:xfrm xmlns:a="http://schemas.openxmlformats.org/drawingml/2006/main">
            <a:off x="9906000" y="273653"/>
            <a:ext cx="742950" cy="424244"/>
          </a:xfrm>
          <a:prstGeom xmlns:a="http://schemas.openxmlformats.org/drawingml/2006/main" prst="rect">
            <a:avLst/>
          </a:prstGeom>
        </p:spPr>
      </p:pic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b64f794ec54bed"/>
          <a:stretch xmlns:a="http://schemas.openxmlformats.org/drawingml/2006/main"/>
        </p:blipFill>
        <p:spPr>
          <a:xfrm xmlns:a="http://schemas.openxmlformats.org/drawingml/2006/main">
            <a:off x="10859009" y="209550"/>
            <a:ext cx="60858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17363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1D853C-5DCE-4C9C-89F2-AEA0EE22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35B10-7ADE-42FA-A8DF-262AB6D0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83FA16-BCA0-4C89-B512-53FC6627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321F4F-58C2-4BD0-83AF-8BEC58FD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D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D6"/>
                </a:solidFill>
                <a:latin typeface="Aptos"/>
                <a:ea typeface="Aptos"/>
                <a:cs typeface="Aptos"/>
              </a:rPr>
              <a:t>ATELIER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1E6C14-FA2E-4C6B-BC48-B2C7420E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Exemple de tableau attendu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5BCB60-CFDF-46A1-86D2-36FA985B3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FO-64 - Hybride CRAFT pratique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9F2EE1-7B61-4AFB-9FE7-68058E0B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35/72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1E6F58-0743-450D-B6F1-B388A932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Une sortie utile prépare l'action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11FB13-BA3D-4C3E-BC02-98771B95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Le tableau doit éviter les données superflues.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A79AC6-E595-4B72-94EB-3BB83434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325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67EC05-5E37-4AAC-B3BC-D59CB08D2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D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A6D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34443E-0B14-414D-80C4-100EE54E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38550"/>
            <a:ext cx="287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Type : commercial, support, administratif, information.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DFF565-A4B5-4EF9-BDA3-D154A268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3219450"/>
            <a:ext cx="325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4FFB6B-0844-4577-A091-3C5D3121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33528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D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A6D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2FEF94-F493-4DB5-8267-E72C6CEE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3638550"/>
            <a:ext cx="287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Urgence : faible, moyenne, élevée, à confirmer.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A2F76A-1460-4FEB-8622-B2CC3426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0650" y="3219450"/>
            <a:ext cx="325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CF2107-D3FD-4C42-A263-4854056EF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150" y="33528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D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A6D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4836D9-57BC-46CC-87DA-27A48B08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150" y="3638550"/>
            <a:ext cx="287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Réponse suggérée : première phrase ou prochaine action.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D7D326-52FF-4AF4-848A-EFEC2C0E8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325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C53072-6E29-476B-BC61-9B576AF4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196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D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A6D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82E948-D193-404F-814C-386A54C7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05350"/>
            <a:ext cx="287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Responsable : commercial, support, facturation, accueil.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C5453B-C891-47C8-BE4F-69C9BD9B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4286250"/>
            <a:ext cx="325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60B25A-739F-4383-995A-48F97F28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44196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D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A6D6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D062F7-CC50-4BC4-BA16-3045C253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4705350"/>
            <a:ext cx="287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À revoir : informations manquantes ou formulation incertaine.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E3FDA0-0F91-4C30-A806-420EC1878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353050"/>
            <a:ext cx="738187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4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EC35AF-120A-4A71-9A21-F9C47798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35305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AFAEC8-3E83-42E0-9414-02AA3E88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467350"/>
            <a:ext cx="6886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6D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A6D6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5BF9D0-C335-4930-9E60-2344493A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676900"/>
            <a:ext cx="6886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Un tableau utile est simple à relire.</a:t>
            </a:r>
          </a:p>
        </p:txBody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23ed4c55e34a0b"/>
          <a:stretch xmlns:a="http://schemas.openxmlformats.org/drawingml/2006/main"/>
        </p:blipFill>
        <p:spPr>
          <a:xfrm xmlns:a="http://schemas.openxmlformats.org/drawingml/2006/main">
            <a:off x="9906000" y="273653"/>
            <a:ext cx="742950" cy="424244"/>
          </a:xfrm>
          <a:prstGeom xmlns:a="http://schemas.openxmlformats.org/drawingml/2006/main" prst="rect">
            <a:avLst/>
          </a:prstGeom>
        </p:spPr>
      </p:pic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f0754cf29c424f"/>
          <a:stretch xmlns:a="http://schemas.openxmlformats.org/drawingml/2006/main"/>
        </p:blipFill>
        <p:spPr>
          <a:xfrm xmlns:a="http://schemas.openxmlformats.org/drawingml/2006/main">
            <a:off x="10859009" y="209550"/>
            <a:ext cx="60858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42237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22F32E-CB1C-4216-8DDD-241A3FEA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57C27B-7A7D-4503-AA93-38C0CBBF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ACC42D-E29E-4BD2-918D-5A77E7A2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9773B7-5173-42B8-81B7-69BAE71D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PROGRESSION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FEA29F-3DB8-4455-B707-DD2EE1A9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Partie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65E03D-8D59-4E6F-B023-A8DC801A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FO-64 - Hybride CRAFT pratique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0130C6-C112-4723-9C27-BFA33CD3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36/72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CBA419-C6DB-4783-B801-E3030524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Choisir des cas d'usage TPME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EF1572-9A3E-4AFB-9969-76FC4BE1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Cette partie aide à passer de « l'IA peut faire beaucoup » à « voici ce qui vaut un test dans mon activité ».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4F08D2-E550-4AB3-BCA6-7E048DC9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17A4BD-5576-44F6-825A-3EAE8003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Repérer les tâches répétitives et irritantes.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D72698-E858-4AEF-8B58-61F9D49B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00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E5A2E3-3781-4224-B42D-FC4FB7FF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Classer les usages par domaine : administratif, communication, client, données.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DD7C04-087F-4371-9FBC-009398439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52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48B8F4-66E1-4EE0-91A0-AB349CE26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Évaluer impact, risque et facilité.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41ED4D-36B0-4DFC-B659-1128BA544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05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8D51D4-E5CC-4612-BAFF-52FB985E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3870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Choisir les premiers cas à faible risque.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E1484A-91F3-4697-B2DF-886E8A8C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310515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4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6F47DC-F255-4717-BDAA-EEE58C02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762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C2BA94-5EF3-4E9C-8BC5-C0186CA1E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5280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16775C-6798-4484-9251-3C4518B7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76650"/>
            <a:ext cx="26098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Sortie de partie : une shortlist de cas d'usage réalistes.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d6aba10fae41cb"/>
          <a:stretch xmlns:a="http://schemas.openxmlformats.org/drawingml/2006/main"/>
        </p:blipFill>
        <p:spPr>
          <a:xfrm xmlns:a="http://schemas.openxmlformats.org/drawingml/2006/main">
            <a:off x="9906000" y="273653"/>
            <a:ext cx="742950" cy="424244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8dbac391b543f2"/>
          <a:stretch xmlns:a="http://schemas.openxmlformats.org/drawingml/2006/main"/>
        </p:blipFill>
        <p:spPr>
          <a:xfrm xmlns:a="http://schemas.openxmlformats.org/drawingml/2006/main">
            <a:off x="10859009" y="209550"/>
            <a:ext cx="60858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9845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CCC203-141C-4060-8F69-57A1C8B06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F41037-E2BD-45B4-BCD9-27B5ABB0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51CB9E-3755-4828-ADC5-AF36FAE9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BD5399-080B-42D8-87C2-B3BBFAB2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D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D6"/>
                </a:solidFill>
                <a:latin typeface="Aptos"/>
                <a:ea typeface="Aptos"/>
                <a:cs typeface="Aptos"/>
              </a:rPr>
              <a:t>TPME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03A43B-E74C-4AFA-BFC6-92717583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Carte d'opportunités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B8DA68-B2F0-4FD5-92DB-2261F2D43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FO-64 - Hybride CRAFT pratique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7EAD2A-B1AC-425E-B94D-93160B221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37/72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49393B-96E7-47B6-8EF0-43F46AF7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Les meilleurs usages sont répétitifs, rédactionnels ou structurants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AB0E31-197E-4BF8-8C52-2E5E2ADF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Les gains rapides viennent de tâches déjà connues, répétées et faciles à vérifier.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0EA446-CD6B-4351-995F-D71DD7D1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325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99AEE9-B23E-4CE9-8EA8-47847327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D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A6D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A1A137-A620-4F96-B5B6-E9975349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38550"/>
            <a:ext cx="287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Administratif : comptes rendus, procédures, courriers.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D1BC9D-0BC4-4D7C-8F61-7E7CF3D0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3219450"/>
            <a:ext cx="325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F4A787-074A-4E56-A910-C3A74F29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33528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D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A6D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157EDE-7FA1-41E9-A456-62FAA031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3638550"/>
            <a:ext cx="287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Communication : posts, flyers, messages clients.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28A0BE-52AB-44EC-9AB5-AC614AC4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0650" y="3219450"/>
            <a:ext cx="325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2EE283-4626-4A26-9586-DC542DD4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150" y="33528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D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A6D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1B4381-9794-4CDC-AD7B-2C6B1CFF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150" y="3638550"/>
            <a:ext cx="287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Marketing : personas, offres, angles de campagne.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939153-9EAB-4897-983C-B7B9C1927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325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923F91-1F87-44BC-BA85-66460E1F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196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D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A6D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3C12B1-0671-43CF-A872-71200B89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05350"/>
            <a:ext cx="287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Relation client : FAQ, réponses types, suivi.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67DC6B-E9AD-4BF2-9AFD-F08E84C3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353050"/>
            <a:ext cx="738187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4E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DA33D7-9070-45A6-994A-30F80AE1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35305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704AE1-CBA2-46CF-93E1-3392F4B1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467350"/>
            <a:ext cx="6886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6D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A6D6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89E4FA-41AB-4529-BA45-8E86366C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676900"/>
            <a:ext cx="6886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Priorité : faible risque, forte fréquence, résultat facile à vérifier.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d6f45f1e244b19"/>
          <a:stretch xmlns:a="http://schemas.openxmlformats.org/drawingml/2006/main"/>
        </p:blipFill>
        <p:spPr>
          <a:xfrm xmlns:a="http://schemas.openxmlformats.org/drawingml/2006/main">
            <a:off x="9906000" y="273653"/>
            <a:ext cx="742950" cy="424244"/>
          </a:xfrm>
          <a:prstGeom xmlns:a="http://schemas.openxmlformats.org/drawingml/2006/main" prst="rect">
            <a:avLst/>
          </a:prstGeom>
        </p:spPr>
      </p:pic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5693f4d45b41dd"/>
          <a:stretch xmlns:a="http://schemas.openxmlformats.org/drawingml/2006/main"/>
        </p:blipFill>
        <p:spPr>
          <a:xfrm xmlns:a="http://schemas.openxmlformats.org/drawingml/2006/main">
            <a:off x="10859009" y="209550"/>
            <a:ext cx="60858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560328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204B43-B716-4522-8B86-67D8CFFE9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FB04AB-1573-4419-AD9E-07664C42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6D501B-A26A-4FC5-91C5-4C226005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AD2435-35B0-43A9-9561-145C773D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CAS D'USAGE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C8B71C-A0C6-40A5-95E4-2043E640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Administratif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EC3C98-0E49-470F-8886-FDF4D9B93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FO-64 - Hybride CRAFT pratique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6D1B50-B5EA-4A78-BD59-B3ED25880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38/72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792C2B-B7EA-48B0-AD80-E704D22FA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Gagner du temps sur les tâches répétitives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70B5F5-2E7C-4107-BDA1-8AFD6948C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Les gains les plus rapides sont dans les écrits courts, les résumés et les tableaux.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98E9B8-C9CF-4CEC-B486-BB260610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E1DEB7-E467-43F3-A487-D1D48DAB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Courriers, relances, procédures, notes internes.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95F6F8-945C-437C-8F5F-818B92EB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00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A925CD-07A4-4696-B6E5-6AD3E705C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Comptes rendus, listes d'actions, checklists.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3F8694-73E0-4B42-BCBC-60909594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52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AD1C92-CB00-48F2-B79E-7B6C10F2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Classement de documents publics ou fictifs.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4FA8BE-0D34-4A72-8A93-443E4FC5E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05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698C7A-0606-4EDD-8426-17408773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3870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Préparation de formulaires et réponses types.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06860E-F0EC-4F2D-ADC2-77837E15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310515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4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DEE3F3-5650-496F-A983-6EA704F8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762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FF03B3-50B2-4310-AEBE-F95BF59F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5280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D83A3E-F00C-4A6D-9346-3DE432902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76650"/>
            <a:ext cx="26098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Priorité : produire plus vite, relire mieux.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b16395dff643fb"/>
          <a:stretch xmlns:a="http://schemas.openxmlformats.org/drawingml/2006/main"/>
        </p:blipFill>
        <p:spPr>
          <a:xfrm xmlns:a="http://schemas.openxmlformats.org/drawingml/2006/main">
            <a:off x="9906000" y="273653"/>
            <a:ext cx="742950" cy="424244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58b9ddd9984d20"/>
          <a:stretch xmlns:a="http://schemas.openxmlformats.org/drawingml/2006/main"/>
        </p:blipFill>
        <p:spPr>
          <a:xfrm xmlns:a="http://schemas.openxmlformats.org/drawingml/2006/main">
            <a:off x="10859009" y="209550"/>
            <a:ext cx="60858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191473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70CE68-B956-4F8A-9751-6EF3BC144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5E6310-C954-4B8D-B9D0-C6800425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4B6DD9-E043-4B69-8B18-225968E12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4C96EE-50D4-40FF-9E18-8D0EB574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CAS D'USAGE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D16E5B-BC68-48ED-9B8B-D7079878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Marketing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BB1341-9B3F-4809-B90B-5A8637752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FO-64 - Hybride CRAFT pratique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3DBD9B-20B6-455F-82B1-D60BF372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39/72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0067B4-E661-4B1A-AF7A-CC49236B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Passer d'une idée à plusieurs angles de campagne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01F54A-76C4-49B6-9FAF-02A6717F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L'IA accélère l'exploration des messages et des publics.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19E2C7-E5F0-4757-B777-DAE15B7AF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024F77-8CA3-4191-93B1-6BF0EBDF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Personas fictifs et objections probables.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16B133-FFAC-4B7A-B19D-7AC73DDA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00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3CDB2C-F164-49A0-B9BC-10C18521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Angles de campagne, promesse, ton, accroches.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2AEC4B-DA65-436E-9B7A-73CFCCC3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52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D60426-E091-47F2-B466-0541EC5D6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Posts, flyers, scripts courts, newsletters.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CDA57E-CAAF-46FE-A937-3D836C7A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05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FA116F-7F50-4C3E-946B-A1708867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3870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Déclinaison d'un message par canal.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7D9495-9EA4-46B1-8190-D7FBEC878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310515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4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488292-238F-41B1-AEF0-13E56A332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762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958739-A3AB-49C6-AB9B-0309F30A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5280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07093F-E180-4BBD-84D4-5CAD8A4AF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76650"/>
            <a:ext cx="26098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Le terrain valide les hypothèses que l'IA formule.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6ee179ac804b1e"/>
          <a:stretch xmlns:a="http://schemas.openxmlformats.org/drawingml/2006/main"/>
        </p:blipFill>
        <p:spPr>
          <a:xfrm xmlns:a="http://schemas.openxmlformats.org/drawingml/2006/main">
            <a:off x="9906000" y="273653"/>
            <a:ext cx="742950" cy="424244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c49f76cf72493c"/>
          <a:stretch xmlns:a="http://schemas.openxmlformats.org/drawingml/2006/main"/>
        </p:blipFill>
        <p:spPr>
          <a:xfrm xmlns:a="http://schemas.openxmlformats.org/drawingml/2006/main">
            <a:off x="10859009" y="209550"/>
            <a:ext cx="60858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996472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468CD6-D1F4-4C20-A24A-974966C0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E332DC-8601-4BE7-A143-6C4DE45C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100085-6987-401F-B3CA-903E75768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ED697E-2C23-45AB-A33D-9F819C96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CAS D'USAGE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E4DB29-9E78-40BD-809C-62E3B50B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Relation client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339D37-E5F6-4D16-93B0-1672627B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FO-64 - Hybride CRAFT pratique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7C7490-2D45-4167-A442-FECB475C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40/72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E2E12D-3165-4776-9A94-DE368B20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Répondre plus vite sans perdre l'humain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248E70-F9A1-4EB1-B043-EF5A96C4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Les réponses types deviennent utiles quand elles restent personnalisables.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2FB654-3C22-445C-9D13-44270758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3955C6-26C6-4797-A97D-C90A2A19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FAQ interne ou publique.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3FC6F7-4129-458F-8551-6FB3E0B0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00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81CE2A-A4B2-4BE5-AD74-BD6B6657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Réponses à réclamation simple.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28B482-06E2-43CB-98C7-4136D8C67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52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9F2A87-71ED-42F5-B199-C14293B8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Préparation d'appel à partir d'un historique non sensible.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498539-A08E-405A-A0FA-C3E0AC06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05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0C4D9E-5061-413F-BF86-10F321C0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3870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Scripts d'accueil et d'escalade humaine.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01B8A1-F9F8-4807-B949-D21C7A6D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310515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4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277DB0-3374-44B4-A561-C520C288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762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F72F50-FA99-42DE-8753-EE3A74BB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5280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F36926-8AEB-402F-97F5-251043CC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76650"/>
            <a:ext cx="26098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Un client doit sentir la qualité, pas l'automatisation.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2d1778294c40d2"/>
          <a:stretch xmlns:a="http://schemas.openxmlformats.org/drawingml/2006/main"/>
        </p:blipFill>
        <p:spPr>
          <a:xfrm xmlns:a="http://schemas.openxmlformats.org/drawingml/2006/main">
            <a:off x="9906000" y="273653"/>
            <a:ext cx="742950" cy="424244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81ebbf79204ded"/>
          <a:stretch xmlns:a="http://schemas.openxmlformats.org/drawingml/2006/main"/>
        </p:blipFill>
        <p:spPr>
          <a:xfrm xmlns:a="http://schemas.openxmlformats.org/drawingml/2006/main">
            <a:off x="10859009" y="209550"/>
            <a:ext cx="60858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291265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275924-18A2-4F69-8CC5-FB3BD0D1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781B31-B76E-4D23-A823-BB6E2B3B4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CA4DE7-5AA0-4571-A08D-E5347165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3602B0-952A-45F2-BF4E-EFCD9D7D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CAS D'USAGE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258764-2A6D-43E8-9C1E-28E32CFF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Commercial et CRM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F810D3-4A7D-430E-AC29-539C980B8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FO-64 - Hybride CRAFT pratique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6C8B6F-3574-4A8E-B7E3-15BDB1D0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41/72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C35673-9C93-4C99-B245-772D2F8E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Aider à préparer, relancer et qualifier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5641E3-7683-4BE7-AC02-F623EAC8F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Les usages commerciaux doivent éviter la promesse excessive.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899E95-1DAE-47D9-AF3F-D491BD4D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3CC54C-F01A-43CF-831E-EDDF4CEE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Email de prospection ou relance douce.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6C10CB-0348-42ED-B8C0-CC3BD07A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00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4C25DB-9EB6-45B9-A2BA-DE3C77B0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Synthèse de besoins à partir de notes fictives.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A34BDC-D821-452E-9BD9-130FC817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52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61F1E5-4FAF-4BFC-84DB-C8F5B75B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Argumentaire par segment client.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48BDB2-EC7B-492A-BDA7-671DC7F5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05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5CAD78-DBE6-450A-B944-1E61EC71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3870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Questions de qualification avant devis.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B80B9C-0041-4824-A0B6-B600A440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310515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4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EDEEAB-7C36-4BEC-A42A-E685CACBF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762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8C81AC-186E-45BB-99CB-3B12143C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5280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FD4356-966F-4341-BB57-71D8C6D4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76650"/>
            <a:ext cx="26098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Le bon usage augmente la pertinence, pas la pression.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f0bbec57154d41"/>
          <a:stretch xmlns:a="http://schemas.openxmlformats.org/drawingml/2006/main"/>
        </p:blipFill>
        <p:spPr>
          <a:xfrm xmlns:a="http://schemas.openxmlformats.org/drawingml/2006/main">
            <a:off x="9906000" y="273653"/>
            <a:ext cx="742950" cy="424244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8ad2b2dde54e01"/>
          <a:stretch xmlns:a="http://schemas.openxmlformats.org/drawingml/2006/main"/>
        </p:blipFill>
        <p:spPr>
          <a:xfrm xmlns:a="http://schemas.openxmlformats.org/drawingml/2006/main">
            <a:off x="10859009" y="209550"/>
            <a:ext cx="60858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962269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AAF983-72FA-4670-A8AB-BB8E5915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409FFE-C480-4D1B-87CE-F5347707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74CC25-76DE-49BC-A440-0BBDC65F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A77394-C6DB-417A-AB48-854BDD62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CAS D'USAGE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4EABEE-A40F-4267-92FB-9523E5DFF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RH et formation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C58686-909F-49E5-829C-269FCB59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FO-64 - Hybride CRAFT pratique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9A81ED-006B-49D5-82F1-979777D9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42/72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71343E-2DA5-4306-9F83-0E4231DDA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Préparer des contenus sans exposer les salariés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1A9868-5533-4FE9-BF1E-FFF83E96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Les données RH réelles passent rarement en zone verte.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B361B6-C5BF-49BA-B213-5C658F84A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0DF41F-768D-4CE4-9112-BEBF1ECC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Fiches pratiques, quiz, supports d'accueil.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571907-2AB9-4247-A409-4394D26B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00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AE1C4E-588B-49AD-A0DF-A9AEB147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Reformulation d'annonces ou procédures internes.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7565BF-8D36-41B7-AEFB-921EE7F2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52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3E3185-1947-4FCF-86D3-88598CAA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Scénarios de formation sur cas fictifs.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EEFC41-7901-46D2-935E-B78D6146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05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AD83D9-3552-4E54-8188-6FB3E55B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3870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Synthèse de référentiels publics.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CDD2FF-9322-4AA8-A9EC-3F1FE37C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310515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4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22C4AB-FB19-4447-A337-C097A61A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762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388E13-4D14-49A6-92D6-8F860795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5280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E14170-A9F7-47FE-B10A-EDAB3075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76650"/>
            <a:ext cx="26098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Les situations individuelles restent hors outils gratuits.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061e0503484668"/>
          <a:stretch xmlns:a="http://schemas.openxmlformats.org/drawingml/2006/main"/>
        </p:blipFill>
        <p:spPr>
          <a:xfrm xmlns:a="http://schemas.openxmlformats.org/drawingml/2006/main">
            <a:off x="9906000" y="273653"/>
            <a:ext cx="742950" cy="424244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10ac7850fd4928"/>
          <a:stretch xmlns:a="http://schemas.openxmlformats.org/drawingml/2006/main"/>
        </p:blipFill>
        <p:spPr>
          <a:xfrm xmlns:a="http://schemas.openxmlformats.org/drawingml/2006/main">
            <a:off x="10859009" y="209550"/>
            <a:ext cx="60858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711536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86A913-B0D0-40FF-94F3-CA45ACB6D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73C31B-5498-4AB6-9274-E9783A72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8C6EE5-65E1-4A56-8111-EC93663F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E923B6-7D61-4430-949E-AC6BFE2D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CAS D'USAGE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0E4463-3CE4-48B6-A7B3-9E76C5E2B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Finance et gestion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525CEF-239B-4AFC-A784-6298D6BA6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FO-64 - Hybride CRAFT pratique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3B6395-CB5C-4205-B12A-61A1D1EB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43/72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1E1A6D-8573-465F-B9B8-117C7603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Structurer sans déléguer le contrôle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C94249-788A-4651-B07F-64A521D2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L'IA peut expliquer et organiser ; elle ne valide pas les chiffres à votre place.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641995-268E-456E-B404-B2E00152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13820C-48EF-4F7A-A8A6-B596B512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Catégorisation de dépenses fictives.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7B092F-7390-4FD3-8B79-A07005D3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00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996F2F-45F5-44B5-9DFE-1E5883C14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Tableau de suivi et alertes de cohérence.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A9B9F6-422D-40A7-AC64-E1200599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52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670ACB-2362-423D-873D-EB29C40E8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Explication pédagogique d'un indicateur.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B726F5-9B21-408E-9185-F0B21D1A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05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D522A5-B1CD-424D-B908-4726D88F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3870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Préparation de questions pour l'expert-comptable.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CEB656-4020-456E-BBC7-A169C478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310515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4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28F519-2FDF-4B94-9DFA-22147D5E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762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E81B16-96B0-4279-8E39-2F74ADFD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5280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74A111-0B83-498E-89E8-A8EDBC5B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76650"/>
            <a:ext cx="26098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Chaque montant, formule et date reste à vérifier.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3a52b0c2af4baf"/>
          <a:stretch xmlns:a="http://schemas.openxmlformats.org/drawingml/2006/main"/>
        </p:blipFill>
        <p:spPr>
          <a:xfrm xmlns:a="http://schemas.openxmlformats.org/drawingml/2006/main">
            <a:off x="9906000" y="273653"/>
            <a:ext cx="742950" cy="424244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3fe9d45344490b"/>
          <a:stretch xmlns:a="http://schemas.openxmlformats.org/drawingml/2006/main"/>
        </p:blipFill>
        <p:spPr>
          <a:xfrm xmlns:a="http://schemas.openxmlformats.org/drawingml/2006/main">
            <a:off x="10859009" y="209550"/>
            <a:ext cx="60858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446822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2A2999-EE43-4F3D-B889-966C6F034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73CD40-7879-4F43-BE86-3D96297B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E63751-C4B5-49C2-A8DE-6228626A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F0A5AB-D41D-4F1A-BA46-9F52E229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CAS D'USAGE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7EEDB3-6A90-45D6-A3A2-4F202E7F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Opérations et logistique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FFD6CD-91D0-4191-A3D8-E906234B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FO-64 - Hybride CRAFT pratique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310F82-368F-4C9C-B778-06F059EE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44/72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2091C8-4816-4FAC-8938-4CDA7587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Rendre les routines plus lisibles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BC1238-36DC-43DF-BC71-E5E2B8FA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Les processus simples gagnent en qualité quand les étapes sont explicites.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E92CA5-3069-4D68-BA29-0E8741A4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24BDF8-CA26-416B-B0E4-C01FA485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Checklist d'ouverture ou fermeture.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32ADF9-D3F4-4158-9E37-AF9F068F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00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1FCAE8-0393-46FE-9169-81F48CFA8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Procédure de réception ou contrôle qualité.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1FEF8B-7C9D-4E4F-A749-71B3FD16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52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DBCAFF-9016-48BD-92FD-FE92A0E8F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Planning fictif et priorisation de tâches.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DA24D7-DF37-4332-B3E2-F86910ED8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05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61A5FC-01C0-4ACD-95CA-C08EA684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3870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Analyse de blocages récurrents.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C36C64-154F-41A0-9B31-D3947EA0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310515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4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24B442-6523-4393-B828-C76DB65C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762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1746EB-7A77-4784-820E-24A4C2399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5280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4C5BA8-22BA-4EC4-B343-52E9925B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76650"/>
            <a:ext cx="26098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L'IA aide à formaliser ce que l'équipe fait déjà.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cc4a1f98c34c8a"/>
          <a:stretch xmlns:a="http://schemas.openxmlformats.org/drawingml/2006/main"/>
        </p:blipFill>
        <p:spPr>
          <a:xfrm xmlns:a="http://schemas.openxmlformats.org/drawingml/2006/main">
            <a:off x="9906000" y="273653"/>
            <a:ext cx="742950" cy="424244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d1361b32f24dc6"/>
          <a:stretch xmlns:a="http://schemas.openxmlformats.org/drawingml/2006/main"/>
        </p:blipFill>
        <p:spPr>
          <a:xfrm xmlns:a="http://schemas.openxmlformats.org/drawingml/2006/main">
            <a:off x="10859009" y="209550"/>
            <a:ext cx="60858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045557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6A5F9C-52F9-413C-9C3D-C64971BD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4668E6-9327-4956-AA59-F926245E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53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30530D-B800-46E1-8CE7-626837A1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53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0235D2-2C16-4001-B9C5-2F053A82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5534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5534B"/>
                </a:solidFill>
                <a:latin typeface="Aptos"/>
                <a:ea typeface="Aptos"/>
                <a:cs typeface="Aptos"/>
              </a:rPr>
              <a:t>CAS D'USAGE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5DE599-2264-4134-8A9C-DF87FEE2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Juridique et conformité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4D4604-6F81-4063-ACE8-35D7D8AB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FO-64 - Hybride CRAFT pratique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CF786B-FF4D-491A-9A8B-A7866D8F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45/72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737FCE-0FBE-40E6-A3E4-7762FE3EC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Préparer des questions, jamais remplacer le conseil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B12353-5D61-4135-B04E-4C6B3E94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L'IA peut vulgariser et organiser, mais pas sécuriser juridiquement seule.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9D2954-C80D-438C-9033-5331C8D3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53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56EF46-D632-4696-9B56-B4DCFF99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Résumé pédagogique d'une règle publique.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E6F80E-8795-4E31-972C-D399E9E3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00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53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A903EF-F53B-4327-92F6-4117CDB4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Liste de points à vérifier dans un contrat fictif.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60743D-B20B-40C5-95CF-9F2D8D266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52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53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14D7C2-A7F4-4043-9D15-B45CBAC7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Préparation de questions pour un professionnel.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05D5B4-6112-4B56-964C-C4C565B8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05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53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63C16E-D3AD-499B-B4BE-0D0EC7D6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3870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Checklist RGPD ou droit d'auteur.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E58709-C489-4CCE-8E68-48866ACE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310515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4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2D04E1-6B01-44AE-9E2A-4AE313EE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762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53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1A6A02-EE7E-4D33-A75E-44308771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5280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553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5534B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CEF878-792F-42C3-9378-D6117C5E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76650"/>
            <a:ext cx="26098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Toute décision juridique demande validation compétente.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391a2e659643a4"/>
          <a:stretch xmlns:a="http://schemas.openxmlformats.org/drawingml/2006/main"/>
        </p:blipFill>
        <p:spPr>
          <a:xfrm xmlns:a="http://schemas.openxmlformats.org/drawingml/2006/main">
            <a:off x="9906000" y="273653"/>
            <a:ext cx="742950" cy="424244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355824771b40e9"/>
          <a:stretch xmlns:a="http://schemas.openxmlformats.org/drawingml/2006/main"/>
        </p:blipFill>
        <p:spPr>
          <a:xfrm xmlns:a="http://schemas.openxmlformats.org/drawingml/2006/main">
            <a:off x="10859009" y="209550"/>
            <a:ext cx="60858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333061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F4A5C5-A497-4DB2-9748-0ED6A919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643C24-0569-48D4-90C8-EFA19F45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53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3FBCBE-943E-41FC-8778-5DC2F23AD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53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D6C464-5C7A-4B73-83B1-B013CD47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5534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5534B"/>
                </a:solidFill>
                <a:latin typeface="Aptos"/>
                <a:ea typeface="Aptos"/>
                <a:cs typeface="Aptos"/>
              </a:rPr>
              <a:t>CAS D'USAGE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4033EA-9B94-4539-8563-B55FFFBB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IT et cybersécurité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1D3A62-4AA3-46DA-ACB2-369E1E2B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FO-64 - Hybride CRAFT pratique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4C950E-ACD9-45DC-81EA-878E0659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46/72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1E7A6A-0D06-49BE-BA2D-E2866BCD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Documenter, expliquer, prioriser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C53D19-F25C-493E-A271-CD405489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Les usages techniques doivent rester hors secrets et accès réels.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57EDA1-3B0E-4DAB-A16D-0156C7146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53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CEA4FF-EF4E-415A-BA2A-395F2AAC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Documentation utilisateur et modes opératoires.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F52FA7-ED79-494B-BC0F-99FCE321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00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53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3E42C0-C74D-4600-A1B4-C6803D33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Analyse pédagogique d'un message suspect.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1B5771-7A16-41F8-987C-1ACC6104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52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53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E52764-4A46-4B75-AFA9-4DC13180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Checklist de bonnes pratiques.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2C4DF8-2950-4F05-A1A7-C259C524B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05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53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EACE68-9BFD-48AA-867C-F1DCF87F0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3870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Préparation de communication incident fictive.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2058E9-A0D9-4121-81B5-EDBD5F6D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310515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4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0B3D28-6564-4F7B-B499-0946BB2ED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762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53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5B1C66-F81B-4A9C-B561-BECE6438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5280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553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5534B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9999EE-8E57-4A5F-AE19-609F5735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76650"/>
            <a:ext cx="26098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Jamais de mot de passe, jeton, clé API ou configuration sensible.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1934ea40a64dc4"/>
          <a:stretch xmlns:a="http://schemas.openxmlformats.org/drawingml/2006/main"/>
        </p:blipFill>
        <p:spPr>
          <a:xfrm xmlns:a="http://schemas.openxmlformats.org/drawingml/2006/main">
            <a:off x="9906000" y="273653"/>
            <a:ext cx="742950" cy="424244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3ddfe982464674"/>
          <a:stretch xmlns:a="http://schemas.openxmlformats.org/drawingml/2006/main"/>
        </p:blipFill>
        <p:spPr>
          <a:xfrm xmlns:a="http://schemas.openxmlformats.org/drawingml/2006/main">
            <a:off x="10859009" y="209550"/>
            <a:ext cx="60858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966462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87130F-A14D-4D86-8B73-D6B9A0C8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BCEEA1-5474-4F5F-B590-C95E04EF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05AF14-7A4A-428B-A119-7402352D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CC62BF-5C2A-4FC7-90EA-E894FCE8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PROGRESSION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F8D835-CD9E-4B86-8092-21BC5DDF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Partie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FF5C7E-0849-470F-9895-FC203549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FO-64 - Hybride CRAFT pratique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3871C8-B1DD-45D0-B6E3-0C47D1D4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47/72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AEF7C1-D906-4665-8D6B-52CC6598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Explorer les formats avancés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5D973D-E44E-4E53-A6F1-497C0690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Image, vidéo, voix, appels et agents deviennent compréhensibles quand on les traite comme des processus à cadrer.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810145-4488-4FBD-BD40-EB77C44C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4899E7-800C-4B8A-9508-BB1B9A15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Écrire un brief visuel avant de générer.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A479FA-EA4C-453C-AECA-EFC1CE51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00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D005D5-EEDC-4ECE-B707-107D4210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Préparer un storyboard avant une vidéo.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869AAB-7F5B-4A65-9B23-65CF4388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52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55DBB4-7751-4743-BADE-AE7BAA7C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Utiliser audio et voix sans usurper ni tromper.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7B17DA-4437-461D-8078-462450E0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05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5F4BBA-A1F1-4700-B301-AD84049D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3870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Décrire un agent avant de lui donner accès à des actions.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354EA2-23D3-4CF1-B394-C6C53D22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310515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4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6F9D6E-3CC1-4FD3-ABFF-43462CA28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762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E0C89C-B3D6-4149-AC5C-9C4554D8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5280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3F23B2-7C33-4CF5-B8F1-0C58B8E6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76650"/>
            <a:ext cx="26098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Sortie de partie : savoir où l'IA avancée est utile, sensible ou à éviter.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f504058ede4351"/>
          <a:stretch xmlns:a="http://schemas.openxmlformats.org/drawingml/2006/main"/>
        </p:blipFill>
        <p:spPr>
          <a:xfrm xmlns:a="http://schemas.openxmlformats.org/drawingml/2006/main">
            <a:off x="9906000" y="273653"/>
            <a:ext cx="742950" cy="424244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531f5f0e244b09"/>
          <a:stretch xmlns:a="http://schemas.openxmlformats.org/drawingml/2006/main"/>
        </p:blipFill>
        <p:spPr>
          <a:xfrm xmlns:a="http://schemas.openxmlformats.org/drawingml/2006/main">
            <a:off x="10859009" y="209550"/>
            <a:ext cx="60858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651404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90FC5F-E5EA-4622-84F6-D446AEFC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3EBE0E-5BDE-4CD3-BAB9-55A5B01D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708711-E314-4C7E-8421-0058D39F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F6D627-55DD-4792-8A8B-D30B6DBD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CAS D'USAGE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8C2F0A-CDE3-498B-B839-60F74D14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Image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EBB434-6C47-401F-8A98-87DE8052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FO-64 - Hybride CRAFT pratique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91D864-B36F-4219-B617-35251423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48/72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70EDA4-1594-49A7-81D0-0E3206589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47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Créer un prompt visuel exploitable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8E74DE-1DE9-4AC7-86B8-6053A3C3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647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Un bon prompt image décrit l'objet, le style, le cadrage et l'usage.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137ADF-BADB-418F-A615-83B4B94F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09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E57E8C-55B7-4FE1-A404-75030E4F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5772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 : visuel fictif pour annoncer un atelier numérique local.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EFADFD-FF5C-48D1-8E67-713829D6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433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9920F3-B5A0-42B5-87E2-1C440E3F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76650"/>
            <a:ext cx="5772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R : directeur artistique sobre et professionnel.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C56F7A-617B-40C7-B0C2-4ECA3167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76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BFC15C-CBD7-441E-92B5-C5446DE4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10050"/>
            <a:ext cx="5772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A : propose un prompt image sans marque ni personne réelle.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2292CC-A4CA-40C2-9F64-3621011F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01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9849E9-5583-4744-ACBE-CD1351F8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43450"/>
            <a:ext cx="5772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F : format carré, fond clair, espace pour titre, palette bleu et vert.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5CCA4D-2DD9-4CF7-AC60-1481E3D0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257300"/>
            <a:ext cx="3143250" cy="39814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8EA"/>
          </a:solidFill>
          <a:ln xmlns:a="http://schemas.openxmlformats.org/drawingml/2006/main" w="11430">
            <a:solidFill>
              <a:srgbClr val="F6D28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5A1B70-3739-4201-91B1-2C3E50D8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621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Mise en pratique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CEB982-FCB3-4120-9912-B4CBA9C6F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764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7086"/>
                </a:solidFill>
                <a:latin typeface="Aptos"/>
                <a:ea typeface="Aptos"/>
                <a:cs typeface="Aptos"/>
              </a:rPr>
              <a:t>Production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06089C-4FE0-40B4-A70F-7A04E0EB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6220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Une image IA publiée doit éviter la confusion et les droits flous.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CC9EB9-7998-401B-9ED3-5C045E37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052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7086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B27D2D-2DE3-4AC7-8069-771DB887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719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Comparez les prompts, identifiez les contrôles utiles, conservez une version réutilisable.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4904094b214d7d"/>
          <a:stretch xmlns:a="http://schemas.openxmlformats.org/drawingml/2006/main"/>
        </p:blipFill>
        <p:spPr>
          <a:xfrm xmlns:a="http://schemas.openxmlformats.org/drawingml/2006/main">
            <a:off x="9906000" y="273653"/>
            <a:ext cx="742950" cy="424244"/>
          </a:xfrm>
          <a:prstGeom xmlns:a="http://schemas.openxmlformats.org/drawingml/2006/main" prst="rect">
            <a:avLst/>
          </a:prstGeom>
        </p:spPr>
      </p:pic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9e14be33254a24"/>
          <a:stretch xmlns:a="http://schemas.openxmlformats.org/drawingml/2006/main"/>
        </p:blipFill>
        <p:spPr>
          <a:xfrm xmlns:a="http://schemas.openxmlformats.org/drawingml/2006/main">
            <a:off x="10859009" y="209550"/>
            <a:ext cx="60858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118056"/>
      </p:ext>
    </p:extLst>
  </p:cSld>
</p:sld>
</file>

<file path=ppt/slides/slide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9A3644-BAB0-45AA-9243-FE277815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33E225-FB6F-4CDC-99DF-7EDCE3DF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199DEC-8457-458F-9224-CFCEECC1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909A3F-16B0-420C-826E-F431F2B2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CAS D'USAGE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210A87-C181-4BC3-97BD-E9F68362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Vidéo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E699F6-D8E1-4EDF-B27B-FD94C19B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FO-64 - Hybride CRAFT pratique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15A837-BE8E-4648-9128-66E8F3998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49/72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0C17E3-2DA6-40CA-B93D-DFB34396A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47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Storyboard avant génération vidéo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F8F962-988E-46C1-B37B-8BD7BE696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647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Le storyboard limite les surprises et évite de partir directement dans l'outil.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47C85E-E70D-4604-A33B-4D56CFFF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09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39E129-8178-4F1F-BF11-7C361DA76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5772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Prompt : « Crée un storyboard de 4 plans pour une vidéo de 20 secondes. 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7B120B-74EB-4126-990D-D47D61FC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433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D1320D-A400-45DB-A16B-D09B193E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76650"/>
            <a:ext cx="5772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Format : plan, action, texte écran, voix off, risque à vérifier.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C3DF10-4B5F-4A1C-9410-7BC9CDC9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76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513292-5934-42A1-85B2-1511A9F27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10050"/>
            <a:ext cx="5772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Contrainte : personnage fictif, pas de visage réel, pas de logo non autorisé.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375BF2-9B4C-4239-8BBA-D80B2002D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01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2861CD-66EB-4400-BAD5-E3C16483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43450"/>
            <a:ext cx="5772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Test : « Signale ce qui pourrait être trompeur pour le public. 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88C0D2-E519-4A2E-A3F9-89F4F5A84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257300"/>
            <a:ext cx="3143250" cy="39814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8EA"/>
          </a:solidFill>
          <a:ln xmlns:a="http://schemas.openxmlformats.org/drawingml/2006/main" w="11430">
            <a:solidFill>
              <a:srgbClr val="F6D28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BEA481-2484-47CB-986C-0D042D77F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621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Mise en pratique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BABA4A-268B-4652-869F-22F5B084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764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7086"/>
                </a:solidFill>
                <a:latin typeface="Aptos"/>
                <a:ea typeface="Aptos"/>
                <a:cs typeface="Aptos"/>
              </a:rPr>
              <a:t>Production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6ED801-8D4C-472D-B73D-F20E73FB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6220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Pour la vidéo, préparer avant de générer.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E9EC63-9246-4209-B0D5-4CF4C9FB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052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7086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EA3230-C0D2-4F4C-8CCE-7A73D93E6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719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Comparez les prompts, identifiez les contrôles utiles, conservez une version réutilisable.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9b6345d1fd474e"/>
          <a:stretch xmlns:a="http://schemas.openxmlformats.org/drawingml/2006/main"/>
        </p:blipFill>
        <p:spPr>
          <a:xfrm xmlns:a="http://schemas.openxmlformats.org/drawingml/2006/main">
            <a:off x="9906000" y="273653"/>
            <a:ext cx="742950" cy="424244"/>
          </a:xfrm>
          <a:prstGeom xmlns:a="http://schemas.openxmlformats.org/drawingml/2006/main" prst="rect">
            <a:avLst/>
          </a:prstGeom>
        </p:spPr>
      </p:pic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a6a5596af34e33"/>
          <a:stretch xmlns:a="http://schemas.openxmlformats.org/drawingml/2006/main"/>
        </p:blipFill>
        <p:spPr>
          <a:xfrm xmlns:a="http://schemas.openxmlformats.org/drawingml/2006/main">
            <a:off x="10859009" y="209550"/>
            <a:ext cx="60858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93619"/>
      </p:ext>
    </p:extLst>
  </p:cSld>
</p:sld>
</file>

<file path=ppt/slides/slide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0C014C-FA52-4B4C-8127-06689B70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3D420F-9852-469F-A3B3-57853E85C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53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52CDEF-AAB2-4511-BA58-60A65A4A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53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D9BC62-7A6E-4D07-A900-6CD905ED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5534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5534B"/>
                </a:solidFill>
                <a:latin typeface="Aptos"/>
                <a:ea typeface="Aptos"/>
                <a:cs typeface="Aptos"/>
              </a:rPr>
              <a:t>VIDÉO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B01BFD-5203-4039-85EB-B0204607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Clonage vidéo et deepfake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0450BA-632B-4787-B044-3A84EAC4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FO-64 - Hybride CRAFT pratique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727691-6117-4B66-916F-9DC6D7811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50/72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457FE6-F567-441A-B9D6-CF9A089A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Cas d'usage possible, zone rouge par défaut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681B3B-2020-4010-8745-B43B82B66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Le clonage vidéo peut servir à traduire, doubler ou rejouer un message, mais il peut aussi usurper une identité.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7CBEB8-DDDD-4B4D-AD6A-FBCEDAFF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53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1D97FC-63B2-4CF7-A008-7ABB107A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Usage vert : personnage fictif ou avatar stock autorisé.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CFECB9-CCA7-4A45-B8C2-8B529B09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00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53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FE7B5D-A4E9-43F6-AF62-BDB47051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Usage orange : dirigeant volontaire avec consentement écrit et validation.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E0B54F-8FE5-4A21-A16D-0F25CFA5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52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53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DEBA70-17A4-4057-A514-612A197EF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Usage rouge : client, salarié, concurrent, personnalité ou personne non informée.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A4E35A-84E6-46FC-84BC-59C42EA3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05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53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A8B3D1-A79F-40CC-93AE-F84B624C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3870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Publication : mention explicite du contenu généré ou manipulé.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C23380-5C9E-4E7D-AA62-1693C831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310515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4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F8E9CF-6D15-4DEA-9AF4-65152786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762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53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E80ED0-FC2F-4BB9-8B6E-2EBC5A81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5280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553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5534B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A585B4-5EAC-4031-AF90-C2F56193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76650"/>
            <a:ext cx="26098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Le consentement n'est pas une option décorative : c'est la condition de départ.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b7ab0a97e544d6"/>
          <a:stretch xmlns:a="http://schemas.openxmlformats.org/drawingml/2006/main"/>
        </p:blipFill>
        <p:spPr>
          <a:xfrm xmlns:a="http://schemas.openxmlformats.org/drawingml/2006/main">
            <a:off x="9906000" y="273653"/>
            <a:ext cx="742950" cy="424244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490d70bd124717"/>
          <a:stretch xmlns:a="http://schemas.openxmlformats.org/drawingml/2006/main"/>
        </p:blipFill>
        <p:spPr>
          <a:xfrm xmlns:a="http://schemas.openxmlformats.org/drawingml/2006/main">
            <a:off x="10859009" y="209550"/>
            <a:ext cx="60858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022779"/>
      </p:ext>
    </p:extLst>
  </p:cSld>
</p:sld>
</file>

<file path=ppt/slides/slide5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C955EF-A9EA-472C-9683-A580307B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024992-AE69-420F-840B-37BBD514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53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8D5AB3-2153-48F4-82AC-C2681393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53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0B31CA-7AE8-4F40-B715-48DEE4B0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5534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5534B"/>
                </a:solidFill>
                <a:latin typeface="Aptos"/>
                <a:ea typeface="Aptos"/>
                <a:cs typeface="Aptos"/>
              </a:rPr>
              <a:t>CAS D'USAGE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9F009D-858C-487E-9A2E-0970F52C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Audio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B6DF84-D58C-4CD3-ACD9-237DA4805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FO-64 - Hybride CRAFT pratique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5C48AE-BF00-418F-A3AB-18AF28EE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51/72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ACC872-5700-4526-8087-75333D335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Écrire un script vocal sans cloner de voix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901896-7407-40AA-B61A-C7ED9CD2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Le script peut être testé avec une voix synthétique autorisée.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B0A755-5FC1-4DD4-BC95-337D96865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53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6BE08F-662B-4CA1-AF30-16AA5B69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6248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 : message d'attente téléphonique pour entreprise fictive.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E45D43-8AD4-41FE-AE4A-B85DBE06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052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53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8664FB-409A-4D65-A5D1-F41DB3A1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38550"/>
            <a:ext cx="6248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R : rédacteur audio professionnel.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80E7E7-6EA0-4E52-A6EF-974995CD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624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53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33835A-896B-4C8F-9E32-C1B24180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95750"/>
            <a:ext cx="6248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A : écris un script de 20 secondes, clair et chaleureux.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7A4D42-4D4A-451F-80CD-35B2216D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96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53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776F28-1DD5-441F-8E48-E1871360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52950"/>
            <a:ext cx="6248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F : phrases courtes, prononciation facile, pas de promesse.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E5305D-B6E7-47EB-8E14-74B5F8A3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768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53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D3B2C5-D8DC-4FC3-91E3-3194AE08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10150"/>
            <a:ext cx="6248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T : signale les informations à valider : horaires, numéro, service.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DFC89D-3009-4817-968E-3CDA337A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310515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4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09DF22-7D88-46C2-B6EB-2E60D26C2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762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53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D170AB-7C66-43F3-8A9E-35C0D198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5280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553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5534B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FBBD74-1C48-4EF3-9972-654FEEF1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76650"/>
            <a:ext cx="26098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Le clonage vocal d'une personne réelle exige consentement explicite.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c78b6c5e064be6"/>
          <a:stretch xmlns:a="http://schemas.openxmlformats.org/drawingml/2006/main"/>
        </p:blipFill>
        <p:spPr>
          <a:xfrm xmlns:a="http://schemas.openxmlformats.org/drawingml/2006/main">
            <a:off x="9906000" y="273653"/>
            <a:ext cx="742950" cy="424244"/>
          </a:xfrm>
          <a:prstGeom xmlns:a="http://schemas.openxmlformats.org/drawingml/2006/main" prst="rect">
            <a:avLst/>
          </a:prstGeom>
        </p:spPr>
      </p:pic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298e31a2ba4598"/>
          <a:stretch xmlns:a="http://schemas.openxmlformats.org/drawingml/2006/main"/>
        </p:blipFill>
        <p:spPr>
          <a:xfrm xmlns:a="http://schemas.openxmlformats.org/drawingml/2006/main">
            <a:off x="10859009" y="209550"/>
            <a:ext cx="60858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907964"/>
      </p:ext>
    </p:extLst>
  </p:cSld>
</p:sld>
</file>

<file path=ppt/slides/slide5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30A620-32EF-4C76-9EE9-916E8AD2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4AFD39-969F-43F2-9F29-A6DF1E950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FE269E-E01B-4082-80BC-75CAC221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214918-2E5C-4AF4-B7D1-476199FA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CAS D'USAGE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504E6D-B2A8-46B8-B684-C9513414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Musique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713876-6C3B-418E-9AD7-BF6B7A14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FO-64 - Hybride CRAFT pratique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EF0454-3D48-474E-ABC7-D5B06A9D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52/72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7B309A-9400-4EA4-82F3-80B70587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47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Préparer un brief de jingle 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2BD8F4-B2CE-4752-8DA4-3B86E3D6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647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Le brief décrit une intention sonore sans imiter un artiste existant.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6836FF-C44C-42CD-8D53-A7863D03B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09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8B6836-B196-43CF-97F4-FC961F8B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5772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Prompt : « Crée un brief pour un jingle de 8 secondes, ambiance dynamique et professionnelle. 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FA2458-8A11-4DD8-B6E0-C5200E07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433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E28838-DC9E-424D-B89C-D272AFB2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76650"/>
            <a:ext cx="5772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Format : style, tempo, instruments, usage, mots à éviter.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01F9DE-7891-4083-98D9-8242CBF29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76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4310C6-2F23-4398-85BE-5C6D4784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10050"/>
            <a:ext cx="5772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Interdit atelier : demander une imitation d'artiste, de marque ou de voix réelle.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C34C4B-7535-4D24-B083-3860387F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01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EB7AE3-DD2B-4C9E-8C40-222DFE91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43450"/>
            <a:ext cx="5772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Contrôle : vérifier licence, usage commercial et droits nécessaires.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F594B6-0789-4943-8A18-FE783358B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257300"/>
            <a:ext cx="3143250" cy="39814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8EA"/>
          </a:solidFill>
          <a:ln xmlns:a="http://schemas.openxmlformats.org/drawingml/2006/main" w="11430">
            <a:solidFill>
              <a:srgbClr val="F6D28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73C1CA-683E-401E-A027-C8B88136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621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Mise en pratique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71B4AC-928A-48B1-ACBC-B4285AC9D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764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7086"/>
                </a:solidFill>
                <a:latin typeface="Aptos"/>
                <a:ea typeface="Aptos"/>
                <a:cs typeface="Aptos"/>
              </a:rPr>
              <a:t>Production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9EC87B-C47B-4DB0-99D7-7A41E7A8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6220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Un brief sonore responsable évite l'imitation ciblée.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38155E-D399-40C9-8D10-605EF3BB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052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7086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E0D952-9BC4-4A34-AE77-A52FD6FD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719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Comparez les prompts, identifiez les contrôles utiles, conservez une version réutilisable.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e4ae5d5964417d"/>
          <a:stretch xmlns:a="http://schemas.openxmlformats.org/drawingml/2006/main"/>
        </p:blipFill>
        <p:spPr>
          <a:xfrm xmlns:a="http://schemas.openxmlformats.org/drawingml/2006/main">
            <a:off x="9906000" y="273653"/>
            <a:ext cx="742950" cy="424244"/>
          </a:xfrm>
          <a:prstGeom xmlns:a="http://schemas.openxmlformats.org/drawingml/2006/main" prst="rect">
            <a:avLst/>
          </a:prstGeom>
        </p:spPr>
      </p:pic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d419d9da4b4f63"/>
          <a:stretch xmlns:a="http://schemas.openxmlformats.org/drawingml/2006/main"/>
        </p:blipFill>
        <p:spPr>
          <a:xfrm xmlns:a="http://schemas.openxmlformats.org/drawingml/2006/main">
            <a:off x="10859009" y="209550"/>
            <a:ext cx="60858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977253"/>
      </p:ext>
    </p:extLst>
  </p:cSld>
</p:sld>
</file>

<file path=ppt/slides/slide5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F89426-8639-4CE0-8B4C-B7709DC4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583F15-6AAC-45DB-963A-A04A37CCB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B6BD07-0BBC-4FAD-8913-3FAFC70E9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2728E5-A570-42A0-98A0-EAEF4F50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CAS D'USAGE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6DACE9-BE15-4FF7-A548-8BBBDCD1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Téléphone et VoIP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12AFCA-29F6-4FA6-8A2C-7DEFDF78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FO-64 - Hybride CRAFT pratique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71C12E-5C97-4E53-B911-7CC2CF31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53/72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A42F7F-E77D-4B5B-89C7-8C22754AE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47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Transformer un appel en suivi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D1CF11-5A04-4497-9551-B1FBA0FD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647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Une transcription fictive peut devenir une fiche de suivi.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10744B-C23E-4EFA-A3D3-9658DAA6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09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9F73C7-24D6-466C-ACAC-FE281958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5772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Prompt : « Résume cet appel fictif en besoin, décision, action, délai, risque. 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C90DD6-7F81-44BF-B4FA-BAFABC42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433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F53432-EFC1-42A9-A407-D862AD6FE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76650"/>
            <a:ext cx="5772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Format : tableau court + email de suivi de 80 mots.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6212FF-CF85-4E8B-BD80-BED1EBC9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76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2D81EA-9D6C-481C-AAA0-9F3F8693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10050"/>
            <a:ext cx="5772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Test : « Signale les engagements incertains ou non confirmés. 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CDB331-CA52-45DA-A3E5-AD958348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01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2026F8-7EC7-4077-B48D-2F8DF2F2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43450"/>
            <a:ext cx="5772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Contrôle : informer les participants si un outil réel transcrit l'appel.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5CEBB9-A3A1-4553-A63F-4DCC912F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257300"/>
            <a:ext cx="3143250" cy="39814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8EA"/>
          </a:solidFill>
          <a:ln xmlns:a="http://schemas.openxmlformats.org/drawingml/2006/main" w="11430">
            <a:solidFill>
              <a:srgbClr val="F6D28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628C44-A083-40B6-8D1F-62AB509AF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621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Mise en pratique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8C2A3C-F615-4A9B-846E-018BC0E83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764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7086"/>
                </a:solidFill>
                <a:latin typeface="Aptos"/>
                <a:ea typeface="Aptos"/>
                <a:cs typeface="Aptos"/>
              </a:rPr>
              <a:t>Production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C52FC2-8AFB-477D-820D-FC7AE6D6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6220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La synthèse d'appel ne remplace pas l'écoute.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C1904D-C84B-4622-8707-82A32DF4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052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7086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EBE9E6-1564-458E-AB23-1F6784B5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719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Comparez les prompts, identifiez les contrôles utiles, conservez une version réutilisable.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8e4f90767a429b"/>
          <a:stretch xmlns:a="http://schemas.openxmlformats.org/drawingml/2006/main"/>
        </p:blipFill>
        <p:spPr>
          <a:xfrm xmlns:a="http://schemas.openxmlformats.org/drawingml/2006/main">
            <a:off x="9906000" y="273653"/>
            <a:ext cx="742950" cy="424244"/>
          </a:xfrm>
          <a:prstGeom xmlns:a="http://schemas.openxmlformats.org/drawingml/2006/main" prst="rect">
            <a:avLst/>
          </a:prstGeom>
        </p:spPr>
      </p:pic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e04bc129e6479c"/>
          <a:stretch xmlns:a="http://schemas.openxmlformats.org/drawingml/2006/main"/>
        </p:blipFill>
        <p:spPr>
          <a:xfrm xmlns:a="http://schemas.openxmlformats.org/drawingml/2006/main">
            <a:off x="10859009" y="209550"/>
            <a:ext cx="60858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590735"/>
      </p:ext>
    </p:extLst>
  </p:cSld>
</p:sld>
</file>

<file path=ppt/slides/slide5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F97FBD-9D06-4D68-BFD5-ECF77491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921DDB-EE70-47A4-AD86-9241AFAB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D5ED23-2C0F-477A-853F-251F6BF0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57503B-EA4B-41BB-91E8-CA3AA5490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CAS D'USAGE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267119-C0F5-46F1-A252-A12833FF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7AF49D-4687-4EAF-A133-A0A5E9FA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FO-64 - Hybride CRAFT pratique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5151D8-8D55-4D55-9700-3729CD3D3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54/72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105B6D-A1CF-4790-B17A-E37460C2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47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Décrire un agent avant de l'activer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426DCF-5ED1-4B88-B7FC-DDC7FB6B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647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Un agent doit être cadré comme une procédure supervisée.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2D398B-B159-4ADE-9173-AAB9EBE5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09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5E05BB-C0CB-4929-9708-5F37AC13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5772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Prompt : « Décris un agent qui prépare les réponses aux demandes entrantes sans envoyer seul. 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15D905-2056-4228-B2E3-EE3360CA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433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C61955-ED13-41A2-9E11-7DBCE062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76650"/>
            <a:ext cx="5772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Entrées : email fictif, catégorie, urgence, historique anonymisé.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4D9EA7-3C0E-476C-A0EC-55D2C6CA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76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CF1826-E069-46E2-AB99-C9816650D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10050"/>
            <a:ext cx="5772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Actions : classer, proposer réponse, créer brouillon, alerter humain.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108EA7-B1DB-4314-A970-3AB1B5BDB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01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89A548-4C31-4609-9501-EBFBFD30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43450"/>
            <a:ext cx="5772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Interdit : envoi automatique, décision tarifaire, donnée sensible.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D907D9-B3B8-485E-BC63-17EB0F6A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257300"/>
            <a:ext cx="3143250" cy="39814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8EA"/>
          </a:solidFill>
          <a:ln xmlns:a="http://schemas.openxmlformats.org/drawingml/2006/main" w="11430">
            <a:solidFill>
              <a:srgbClr val="F6D28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43EA46-BC67-4134-8B4B-1E3D6511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621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Mise en pratique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4666B7-C4CF-45C8-B310-067E839F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764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7086"/>
                </a:solidFill>
                <a:latin typeface="Aptos"/>
                <a:ea typeface="Aptos"/>
                <a:cs typeface="Aptos"/>
              </a:rPr>
              <a:t>Production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76993E-4D8F-4A8E-903F-BEE301F0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6220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Un agent utile commence en mode brouillon.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A8AB2F-337A-4680-BF77-34DFC2CF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052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7086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F0F45C-2560-47F0-8496-2D9A799F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719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Comparez les prompts, identifiez les contrôles utiles, conservez une version réutilisable.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235e35c7b240f6"/>
          <a:stretch xmlns:a="http://schemas.openxmlformats.org/drawingml/2006/main"/>
        </p:blipFill>
        <p:spPr>
          <a:xfrm xmlns:a="http://schemas.openxmlformats.org/drawingml/2006/main">
            <a:off x="9906000" y="273653"/>
            <a:ext cx="742950" cy="424244"/>
          </a:xfrm>
          <a:prstGeom xmlns:a="http://schemas.openxmlformats.org/drawingml/2006/main" prst="rect">
            <a:avLst/>
          </a:prstGeom>
        </p:spPr>
      </p:pic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cb4e7ae3cc42eb"/>
          <a:stretch xmlns:a="http://schemas.openxmlformats.org/drawingml/2006/main"/>
        </p:blipFill>
        <p:spPr>
          <a:xfrm xmlns:a="http://schemas.openxmlformats.org/drawingml/2006/main">
            <a:off x="10859009" y="209550"/>
            <a:ext cx="60858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781107"/>
      </p:ext>
    </p:extLst>
  </p:cSld>
</p:sld>
</file>

<file path=ppt/slides/slide5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144853-B6BC-4CBD-BA3B-54366203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0EB2FD-D9F7-40F8-9491-FC6FF71F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D92E65-2EAA-4350-BC3D-B6C654D6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F2BA55-3131-4106-99B4-10C960EA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A3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A36A"/>
                </a:solidFill>
                <a:latin typeface="Aptos"/>
                <a:ea typeface="Aptos"/>
                <a:cs typeface="Aptos"/>
              </a:rPr>
              <a:t>RECHERCHE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3B85B6-EFEC-413A-AD19-BD194F45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Recherche augmentée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A950C5-B912-4F5C-9A49-6424CC19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FO-64 - Hybride CRAFT pratique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425B64-01D6-44E5-A67E-51B3F7E7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55/72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CE77C8-BBF1-4C60-92B4-0B7D4349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Obtenir une réponse avec sources vérifiables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49C92B-8131-479E-86C5-3D1127E7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La recherche augmentée aide à explorer un sujet récent, mais les sources restent à contrôler.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CB262F-AE2C-44E7-91D7-3843E5189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8A2FBD-6B8F-4118-9E72-DD2190FA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Comparer plusieurs sources.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A80F66-C372-4CBB-9DBC-CE1033EB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00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A56D97-EE5A-46C3-8481-FA189DE0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Vérifier date, auteur, organisme et contexte.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933461-B151-4684-AA0C-BC878AA3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52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EE4EC9-1833-4DBE-89D8-6E7A668C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Distinguer synthèse, opinion, publicité et donnée officielle.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C87132-1CE5-44A7-AEE6-92D96C5F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05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E53176-39D9-40DD-9DEF-9B84347B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3870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Conserver les liens utilisés.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D4A93E-CCCF-444E-AEA2-163C5CAB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310515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4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A73345-7117-4C62-9042-68D51EFF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762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3936E2-0641-4CDF-8D71-1268F693B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5280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A36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A36A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01B9BF-1AC7-4925-A8DD-56B9F0B6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76650"/>
            <a:ext cx="26098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Une réponse sans source ne suffit pas pour une décision professionnelle.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d17cc50f054cd7"/>
          <a:stretch xmlns:a="http://schemas.openxmlformats.org/drawingml/2006/main"/>
        </p:blipFill>
        <p:spPr>
          <a:xfrm xmlns:a="http://schemas.openxmlformats.org/drawingml/2006/main">
            <a:off x="9906000" y="273653"/>
            <a:ext cx="742950" cy="424244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06d28daa354e8b"/>
          <a:stretch xmlns:a="http://schemas.openxmlformats.org/drawingml/2006/main"/>
        </p:blipFill>
        <p:spPr>
          <a:xfrm xmlns:a="http://schemas.openxmlformats.org/drawingml/2006/main">
            <a:off x="10859009" y="209550"/>
            <a:ext cx="60858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714585"/>
      </p:ext>
    </p:extLst>
  </p:cSld>
</p:sld>
</file>

<file path=ppt/slides/slide5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60E2E0-3898-4C2E-A5E8-A863D2C8E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8E2131-E224-488E-899E-AA704D9A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FA4AB1-BFC6-418B-AB26-0F08B37E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200B2C-D3DF-4AEC-B4B9-F0310D5B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AUTOMATISATION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63B1B9-7AA0-469C-A395-FC14626A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No-code et connecteurs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8C5E1A-3BEE-45D6-8433-82B8C99F1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FO-64 - Hybride CRAFT pratique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A44650-179A-4A3D-AAD1-670780F9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56/72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82B4FC-9C40-43CB-BFEF-AF2E432B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Relier les outils sans automatiser l'erreur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000B65-42BE-42E3-8425-CDA550AD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Les workflows no-code peuvent gagner du temps si chaque déclencheur est maîtrisé.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404E6E-73A3-4959-9277-4CF8F87C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39073A-DD78-40B2-91A8-971A6B7D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Formulaire → résumé → email brouillon.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9F3AA4-CE0B-4C0F-8C6A-21693278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00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1AE710-6251-4292-9590-3EBFDEED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Réunion → actions → tâche projet.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2F340D-794E-4A56-84E3-B7B47FF3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52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E5539C-CB97-4EB5-9F35-A03F1B26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Veille → synthèse → message équipe.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2785B3-B921-4E35-A268-8A3D52E3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05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08B9C9-2F4B-4821-8B36-51D5C83D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3870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Client → demande → FAQ ou escalade.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9009D0-DF18-46F8-B8FD-8BD2B752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310515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4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1A92F9-7C71-4D3C-A393-D1C50F2B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762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275B40-8303-4B15-957F-E10ACB2D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5280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EDC380-5568-49C8-9BB8-F4E99C93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76650"/>
            <a:ext cx="26098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L'automatisation commence par un brouillon vérifié.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26bd83522a4700"/>
          <a:stretch xmlns:a="http://schemas.openxmlformats.org/drawingml/2006/main"/>
        </p:blipFill>
        <p:spPr>
          <a:xfrm xmlns:a="http://schemas.openxmlformats.org/drawingml/2006/main">
            <a:off x="9906000" y="273653"/>
            <a:ext cx="742950" cy="424244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baa936196243e6"/>
          <a:stretch xmlns:a="http://schemas.openxmlformats.org/drawingml/2006/main"/>
        </p:blipFill>
        <p:spPr>
          <a:xfrm xmlns:a="http://schemas.openxmlformats.org/drawingml/2006/main">
            <a:off x="10859009" y="209550"/>
            <a:ext cx="60858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34974"/>
      </p:ext>
    </p:extLst>
  </p:cSld>
</p:sld>
</file>

<file path=ppt/slides/slide5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6BC00A-16BD-4F4E-8461-F59D2059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5538EA-2DBC-4798-9BF2-CF96900FA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7BD945-51B9-4BDD-9EF0-FC3126C0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17A078-C731-4EA7-AE4A-7EFBC5DF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JEU SÉRIEUX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C7B50D-4BA0-4777-93AF-4D12AE49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Cartes usage / risque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AB61B6-071A-4957-AA70-7993EE1E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FO-64 - Hybride CRAFT pratique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C01330-2E45-4A43-95FD-04D652DC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57/72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5DBF15-E080-40A3-9439-2365519E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Chaque idée passe par trois cartes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B97DE5-6671-45F5-8D5F-51A6476C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Un cas d'usage devient testable quand l'intérêt, les données et le contrôle sont clairs.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AE999A-F7F0-4137-9B2B-9AE4B6427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47979B-A894-4F74-8D98-0FE472AA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Carte usage : quel gain concret 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00E08C-ED5B-44C7-9AC5-6C77FDDF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00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46232A-990D-45B9-A50E-500AACDB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Carte données : vert, orange ou rouge 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1C2DF7-AA9C-46DD-AC10-917D3A748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52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A12100-1ABE-4C7E-87A3-45C18E1B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Carte contrôle : qui valide et comment 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0007E3-AD93-414D-A57E-FB498E67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05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ED72EB-7258-44CE-9EFF-30C77643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3870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Carte décision : tester, reporter ou abandonner.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564798-061F-4F63-8EF6-C8D9A12A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310515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4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E1F588-E285-4324-B84A-1774B770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762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C0A922-B6CC-47A9-9CC9-C53575C0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5280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539E77-67EF-4045-BDC7-BB8A3F2D0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76650"/>
            <a:ext cx="26098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Une bonne idée non maîtrisée attendra ; une petite idée sûre peut démarrer.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7c368aca5344ed"/>
          <a:stretch xmlns:a="http://schemas.openxmlformats.org/drawingml/2006/main"/>
        </p:blipFill>
        <p:spPr>
          <a:xfrm xmlns:a="http://schemas.openxmlformats.org/drawingml/2006/main">
            <a:off x="9906000" y="273653"/>
            <a:ext cx="742950" cy="424244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81ee21ed4e4b02"/>
          <a:stretch xmlns:a="http://schemas.openxmlformats.org/drawingml/2006/main"/>
        </p:blipFill>
        <p:spPr>
          <a:xfrm xmlns:a="http://schemas.openxmlformats.org/drawingml/2006/main">
            <a:off x="10859009" y="209550"/>
            <a:ext cx="60858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841355"/>
      </p:ext>
    </p:extLst>
  </p:cSld>
</p:sld>
</file>

<file path=ppt/slides/slide5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2181FC-D47A-4E9C-994A-3CB735195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EDA7FC-F3D6-4F91-ABA9-1C253625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04E802-B31A-4FC7-A224-8497ABF5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CDD22B-9B5E-4CB8-9CDB-00FE1D98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A3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A36A"/>
                </a:solidFill>
                <a:latin typeface="Aptos"/>
                <a:ea typeface="Aptos"/>
                <a:cs typeface="Aptos"/>
              </a:rPr>
              <a:t>CONTRÔLE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67C1C9-3E21-412F-9716-615C2859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Grille de relecture rapide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3B9A09-1A07-4EBA-B7F8-395A16D48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FO-64 - Hybride CRAFT pratique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CEA223-B668-4206-B32E-2EEDF9EC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58/72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F5D01F-BFD8-4FFB-8EA3-2D52F1E2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Chaque sortie passe par cinq questions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1EB9E3-77DA-4996-9F90-601CEEDF2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La grille sert avant envoi, publication ou intégration dans un document.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62D7B9-C470-4BC3-AA29-F8A2BCF5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474FD4-3BC2-4F8C-8681-3DFE31D9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6248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Exactitude : les faits, dates et chiffres sont-ils vérifiés 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2AE1DF-43F6-4FF7-9FE0-39CF4CAC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052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4B9A01-270A-414C-9343-174B5E6E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38550"/>
            <a:ext cx="6248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Confidentialité : une donnée sensible apparaît-elle 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0B4FB7-CB1A-438F-BBD9-7A14AB80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624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67919F-E240-4A69-B36C-6A8587FF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95750"/>
            <a:ext cx="6248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Droit : une image, voix, marque ou contenu est-il imité 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DFFD64-1489-424E-8C75-97FEECF6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96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BCD527-93FC-4763-8601-8178B24E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52950"/>
            <a:ext cx="6248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Ton : le message correspond-il à l'entreprise 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5FEE23-4EA8-4200-8408-ECB00180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768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54D713-A840-478D-B119-2669D387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10150"/>
            <a:ext cx="6248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Action : sait-on quoi faire ensuite 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FFCC8F-FBEF-4496-AC93-8CB4ED69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310515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4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7358F1-30A6-47B2-8FE0-94B2FD00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762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464645-546F-400A-82A2-D4462E0C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5280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A36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A36A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E4925F-CFD9-44B8-BA44-721EB6AF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76650"/>
            <a:ext cx="26098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Une sortie non vérifiée reste un brouillon.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84ad68d4d241f4"/>
          <a:stretch xmlns:a="http://schemas.openxmlformats.org/drawingml/2006/main"/>
        </p:blipFill>
        <p:spPr>
          <a:xfrm xmlns:a="http://schemas.openxmlformats.org/drawingml/2006/main">
            <a:off x="9906000" y="273653"/>
            <a:ext cx="742950" cy="424244"/>
          </a:xfrm>
          <a:prstGeom xmlns:a="http://schemas.openxmlformats.org/drawingml/2006/main" prst="rect">
            <a:avLst/>
          </a:prstGeom>
        </p:spPr>
      </p:pic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3bde4ad7854df3"/>
          <a:stretch xmlns:a="http://schemas.openxmlformats.org/drawingml/2006/main"/>
        </p:blipFill>
        <p:spPr>
          <a:xfrm xmlns:a="http://schemas.openxmlformats.org/drawingml/2006/main">
            <a:off x="10859009" y="209550"/>
            <a:ext cx="60858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761194"/>
      </p:ext>
    </p:extLst>
  </p:cSld>
</p:sld>
</file>

<file path=ppt/slides/slide5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A6B3F2-C42B-45C8-B3F6-BBAD077E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5A478C-C25A-4258-AA2F-94FF1E6C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53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C985E6-1A05-41FA-968A-10E08E2E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53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2D6989-A065-4981-A85A-AF8FB4E9A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5534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5534B"/>
                </a:solidFill>
                <a:latin typeface="Aptos"/>
                <a:ea typeface="Aptos"/>
                <a:cs typeface="Aptos"/>
              </a:rPr>
              <a:t>CONFORMITÉ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25A720-3095-4C63-A6AF-93517506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CNIL, RGPD et données personnelles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ABA6A0-5F61-48F8-98F0-14A9D24E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FO-64 - Hybride CRAFT pratique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BBD5A5-F481-4F8E-94B1-E79C6569D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59/72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8B34EE-C805-4EDB-A4A4-39683CBE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La créativité IA ne suspend pas le droit des données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F3E2DE-3F2C-496D-B4C9-F6D240A84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Voix, visage, vidéo et informations client peuvent être des données personnelles.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AB2A94-5C30-40CB-9529-B69D2D90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53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DD03AD-15D0-4765-AD8F-4891858B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Finalité claire : pourquoi ce traitement 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A150EB-3FED-4068-A63D-9F7C5593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00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53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3415EF-9CD1-4701-AB8F-EEAA313B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Minimisation : quelles données sont vraiment nécessaires 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9C1880-C93C-4E40-A97C-662A937CB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52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53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71C259-C66E-46F1-B7A3-98FE09E5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Information : qui est concerné et comment 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1E95AE-7DD7-40E2-8136-F04C1598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05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53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363B5C-B698-4250-BAAF-09A0A2E7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3870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Sécurité : où vont les données et qui y accède 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0CC2E6-3254-4A03-836E-EFEA5794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310515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4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132601-6B27-4BB2-B837-50B013526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762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53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65F3AE-B86B-4583-8327-A1CC9BE0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5280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553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5534B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98BACF-93FA-4F49-BC5F-0F189275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76650"/>
            <a:ext cx="26098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Quand une donnée n'est pas nécessaire, elle reste hors outil.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3957db8a164e57"/>
          <a:stretch xmlns:a="http://schemas.openxmlformats.org/drawingml/2006/main"/>
        </p:blipFill>
        <p:spPr>
          <a:xfrm xmlns:a="http://schemas.openxmlformats.org/drawingml/2006/main">
            <a:off x="9906000" y="273653"/>
            <a:ext cx="742950" cy="424244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c4adce856144df"/>
          <a:stretch xmlns:a="http://schemas.openxmlformats.org/drawingml/2006/main"/>
        </p:blipFill>
        <p:spPr>
          <a:xfrm xmlns:a="http://schemas.openxmlformats.org/drawingml/2006/main">
            <a:off x="10859009" y="209550"/>
            <a:ext cx="60858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337882"/>
      </p:ext>
    </p:extLst>
  </p:cSld>
</p:sld>
</file>

<file path=ppt/slides/slide6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C41B07-50E3-4996-AA47-37AA1F17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A04AAA-364F-4C19-A1FC-71DDE203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E1A763-22ED-4B1D-B0D5-ABB3C947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6F1C35-2459-43BA-9190-6CF58607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PROGRESSION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7833B7-3BE1-4852-971D-B85A3A5B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Partie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BEC4E9-4A9D-4E90-8A8F-C5595307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FO-64 - Hybride CRAFT pratique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6993F0-DA4C-4DF3-8B65-E11D537A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60/72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37D519-FDB1-4FAC-96EF-9B89AA41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Sécuriser avant de diffuser ou automatiser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964FB5-BE06-4B28-BAA9-C86E4BA3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Les participants formalisent les contrôles nécessaires avant d'utiliser une sortie IA dans un contexte professionnel.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08AA0C-80D0-4900-AF90-FB6730EF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3DACF0-42DE-4BFE-AA8B-F8BDAE9F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Vérifier faits, chiffres, sources et promesses.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133B46-6039-4C4F-AA0B-E0318A789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00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163737-EF90-445D-BDDB-A0B348551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Protéger les données personnelles et confidentielles.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A6BAED-2CC9-462B-8AFB-411E3AFD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52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850D3B-C736-4CAD-B664-6A882D34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Appliquer les réflexes RGPD sans jargon inutile.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0F08B6-1746-4144-8CA8-3FB01DCC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05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AEF396-7A40-4BBA-A89E-C5B7505B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3870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Éviter d'automatiser une erreur.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4447FD-EEB5-4D56-B064-F7EFC2AA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310515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4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457DE3-96D6-4298-B5D5-0FCD0B2B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762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F21C99-3A45-411B-A60B-D0513AAF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5280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05ECAC-00BA-4587-B673-EECEB95E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76650"/>
            <a:ext cx="26098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Sortie de partie : une grille de contrôle applicable à chaque production.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3d30bb41f8464a"/>
          <a:stretch xmlns:a="http://schemas.openxmlformats.org/drawingml/2006/main"/>
        </p:blipFill>
        <p:spPr>
          <a:xfrm xmlns:a="http://schemas.openxmlformats.org/drawingml/2006/main">
            <a:off x="9906000" y="273653"/>
            <a:ext cx="742950" cy="424244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dcaf3434104e7d"/>
          <a:stretch xmlns:a="http://schemas.openxmlformats.org/drawingml/2006/main"/>
        </p:blipFill>
        <p:spPr>
          <a:xfrm xmlns:a="http://schemas.openxmlformats.org/drawingml/2006/main">
            <a:off x="10859009" y="209550"/>
            <a:ext cx="60858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013098"/>
      </p:ext>
    </p:extLst>
  </p:cSld>
</p:sld>
</file>

<file path=ppt/slides/slide6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8D84E6-6DC7-49E9-92F5-76A62FBF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E050D2-0D8B-49FA-9B4E-754CD1BD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53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09F5E6-04AA-4F33-88F2-BBCC7183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53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C78914-5268-4D75-900C-9E6ECEB3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5534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5534B"/>
                </a:solidFill>
                <a:latin typeface="Aptos"/>
                <a:ea typeface="Aptos"/>
                <a:cs typeface="Aptos"/>
              </a:rPr>
              <a:t>CONFORMITÉ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371443-636E-41C4-AEA3-874A7490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Droit d'auteur et image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454430-6154-42D3-BB27-84852D83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FO-64 - Hybride CRAFT pratique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87C716-C146-453B-ABC0-E6F2EAAA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61/72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2EC88F-3A5F-498E-BF9A-8905920E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Créer ne veut pas dire tout pouvoir publier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F09620-1D38-4ADE-9311-8F11FBEA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Les contenus générés restent soumis aux droits, licences, marques et conditions d'usage des plateformes.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5F0349-EF99-4CE1-9889-9AAA5FD9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53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ED9D09-71CE-465A-B52F-233A15ED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Ne pas demander l'imitation d'un artiste ou d'une marque.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58BCF3-F439-4789-8979-45ACB55E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00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53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0796F3-2AFF-4EDD-BA3B-EA7B7A488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Vérifier les droits commerciaux de l'outil utilisé.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631C7B-2FEE-4205-AEFD-4B2C96A7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52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53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B29C2-FEC8-4BBD-9B0A-18F35EE1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Documenter prompt, source et version finale.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084881-2267-4C32-93AF-463C5FB7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05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53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E61854-29C9-43CF-8844-05A7E0C6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3870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Préférer des créations originales et clairement signalées.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4FB953-7C20-4C89-ABF2-A164A5ECC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310515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4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D4E276-B491-45B8-AAEF-1048C647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762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53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95D441-1D9E-483B-B1BE-CCE84A7E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5280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553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5534B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C39FF1-CABF-4AE1-B47D-26CDC7B0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76650"/>
            <a:ext cx="26098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Un contenu rapide à produire peut être lent à sécuriser.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78a37106524a95"/>
          <a:stretch xmlns:a="http://schemas.openxmlformats.org/drawingml/2006/main"/>
        </p:blipFill>
        <p:spPr>
          <a:xfrm xmlns:a="http://schemas.openxmlformats.org/drawingml/2006/main">
            <a:off x="9906000" y="273653"/>
            <a:ext cx="742950" cy="424244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6fcbe210d648e5"/>
          <a:stretch xmlns:a="http://schemas.openxmlformats.org/drawingml/2006/main"/>
        </p:blipFill>
        <p:spPr>
          <a:xfrm xmlns:a="http://schemas.openxmlformats.org/drawingml/2006/main">
            <a:off x="10859009" y="209550"/>
            <a:ext cx="60858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253970"/>
      </p:ext>
    </p:extLst>
  </p:cSld>
</p:sld>
</file>

<file path=ppt/slides/slide6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219557-12F3-45C2-82E9-D8CAF0CD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DE3C30-3469-45C8-B8FD-E8DB48754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53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113D10-FB07-4BF1-A9FF-C39A4FF37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53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3C94BD-5E71-4425-96B4-3964A306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5534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5534B"/>
                </a:solidFill>
                <a:latin typeface="Aptos"/>
                <a:ea typeface="Aptos"/>
                <a:cs typeface="Aptos"/>
              </a:rPr>
              <a:t>SÉCURISER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B0DB78-1243-412D-89C8-EC97DECD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Agents et automatisations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37860E-CF62-4391-A348-1038C196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FO-64 - Hybride CRAFT pratique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E8B7B7-90A1-4F12-AB49-79F287205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62/72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6C74A7-D8E2-46DA-B6E0-DC63EC53A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Plus l'IA agit, plus les garde-fous comptent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CEF092-E78C-4249-ACE3-837D79A1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Un agent peut enchaîner des actions ; cela impose limites, validation et journalisation.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6E9296-1A54-4893-B0B6-60CF65ED4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53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ED1E7E-AE32-433B-AB9E-04AE1FF2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Autoriser d'abord des brouillons, pas des envois automatiques.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5BE2D1-5B51-4152-8039-CC526B56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00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53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1345C2-26C5-47FB-BD3E-D2086E57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Limiter les accès aux fichiers strictement nécessaires.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33552D-0962-4E3C-B0C1-317CAC26B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52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53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AC26D3-9AF4-4323-900B-6307441A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Prévoir interruption, validation humaine et trace d'exécution.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6AA913-3C76-48B1-811E-914546B8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310515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4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4920D2-3DAA-4F66-95E7-CF6F648B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762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53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73345F-BAA4-411C-9CD0-0A5C0A3E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5280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553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5534B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05EEB6-20F7-4526-9403-1BFF5942B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76650"/>
            <a:ext cx="26098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Automatiser une erreur la rend plus rapide, pas moins grave.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cf1b4325f9454d"/>
          <a:stretch xmlns:a="http://schemas.openxmlformats.org/drawingml/2006/main"/>
        </p:blipFill>
        <p:spPr>
          <a:xfrm xmlns:a="http://schemas.openxmlformats.org/drawingml/2006/main">
            <a:off x="9906000" y="273653"/>
            <a:ext cx="742950" cy="424244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da58f2019248ad"/>
          <a:stretch xmlns:a="http://schemas.openxmlformats.org/drawingml/2006/main"/>
        </p:blipFill>
        <p:spPr>
          <a:xfrm xmlns:a="http://schemas.openxmlformats.org/drawingml/2006/main">
            <a:off x="10859009" y="209550"/>
            <a:ext cx="60858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44641"/>
      </p:ext>
    </p:extLst>
  </p:cSld>
</p:sld>
</file>

<file path=ppt/slides/slide6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1C7529-DA9D-4A14-882A-FA6A7CD0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F94C0B-E78D-46BD-93E4-D7F50516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E3AF22-A9B9-437B-8E25-0D77FAFE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0DA9F9-F548-46E4-8921-49336EB7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D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D6"/>
                </a:solidFill>
                <a:latin typeface="Aptos"/>
                <a:ea typeface="Aptos"/>
                <a:cs typeface="Aptos"/>
              </a:rPr>
              <a:t>CHOISIR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97B3F1-D689-498A-993D-967505FB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Matrice outil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91517D-C08E-400D-8452-64183E73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FO-64 - Hybride CRAFT pratique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85848B-01EA-4BB8-9B63-422A26492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63/72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60F044-12B2-471E-ABA7-7A3B9434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Le meilleur outil est celui que l'on peut utiliser correctement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F9F794-3CCE-42E4-9DC9-2F46298A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La matrice évite les choix dictés par l'effet nouveauté.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3B22F9-2DF7-4010-B414-05E891B2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325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51BD41-3469-4D01-8DDA-F7B346EA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D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A6D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959F5A-040B-4469-8CA8-67BE12EC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38550"/>
            <a:ext cx="287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Tâche : texte, image, audio, vidéo, appel, agent.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8C5C6E-27A4-44D1-9ED6-E8C8765D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3219450"/>
            <a:ext cx="325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37DE72-62CB-4274-992B-5ECBF80E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33528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D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A6D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D66D1D-A2C0-429A-989C-6C56A56B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3638550"/>
            <a:ext cx="287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Données : vert, orange, rouge.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51B461-6AED-4B47-999E-D97A4553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0650" y="3219450"/>
            <a:ext cx="325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425A73-B0F9-4249-92E2-A7A7FEBE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150" y="33528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D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A6D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82F492-51E3-4D34-9BBB-FF205A91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150" y="3638550"/>
            <a:ext cx="287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Sortie : brouillon interne ou publication externe.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8FFF80-35FD-4D86-86BE-6D939977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325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7AA6CC-EF31-47EF-A8DD-C45B75E7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196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D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A6D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EE31BE-F524-4F2E-B0A2-74FF9C00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05350"/>
            <a:ext cx="287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Contrôle : source, validation, mention IA, traçabilité.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90243C-D562-406B-A75B-C0EBBBF1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353050"/>
            <a:ext cx="738187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4E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165BCD-E1BA-4676-A1B1-93550235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35305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AC570D-B75D-4E54-B1AF-5CAEE1CC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467350"/>
            <a:ext cx="6886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6D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A6D6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FCCD2E-22A5-42AE-AF31-F0BCD94B4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676900"/>
            <a:ext cx="6886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Si le contrôle est flou, l'usage n'est pas prêt.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86ff01d6394f99"/>
          <a:stretch xmlns:a="http://schemas.openxmlformats.org/drawingml/2006/main"/>
        </p:blipFill>
        <p:spPr>
          <a:xfrm xmlns:a="http://schemas.openxmlformats.org/drawingml/2006/main">
            <a:off x="9906000" y="273653"/>
            <a:ext cx="742950" cy="424244"/>
          </a:xfrm>
          <a:prstGeom xmlns:a="http://schemas.openxmlformats.org/drawingml/2006/main" prst="rect">
            <a:avLst/>
          </a:prstGeom>
        </p:spPr>
      </p:pic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f80ad1c6aa44ce"/>
          <a:stretch xmlns:a="http://schemas.openxmlformats.org/drawingml/2006/main"/>
        </p:blipFill>
        <p:spPr>
          <a:xfrm xmlns:a="http://schemas.openxmlformats.org/drawingml/2006/main">
            <a:off x="10859009" y="209550"/>
            <a:ext cx="60858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856034"/>
      </p:ext>
    </p:extLst>
  </p:cSld>
</p:sld>
</file>

<file path=ppt/slides/slide6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BDA6DC-C474-4023-B967-9B5674B1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30B584-C274-4966-9D5A-5B2DF93A9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E10E90-C1B1-4D06-AFC0-CB7B5F82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911044-4D4E-45F5-B9BA-A8836425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PLAN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AEBCE6-9BCD-4077-80B0-1810C57F4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Pilote 30 jours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C81ECD-E680-4DAA-82D5-42537107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FO-64 - Hybride CRAFT pratique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856501-7300-40DE-891B-65F06F8D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64/72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BA6DE6-2BD7-43D1-B3D5-4E1F8A58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Un pilote court vaut mieux qu'une grande annonce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D118A7-C58D-4F44-A68B-20228A81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Le pilote teste un usage précis, une règle de données et un indicateur.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FECD0D-286E-4051-8300-4C82DEE5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587093-99A4-4CB5-B3CA-F2D821C7C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Semaine 1 : choisir le cas d'usage et le niveau de risque.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E17108-AE09-485B-B9B4-DBB691B0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00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D96106-DD6B-4D42-AD18-012AAF44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Semaine 2 : produire 3 essais avec prompts conservés.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87577A-11BD-4AF0-B9CA-7FE3CF6D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52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902693-2A78-4538-A7B1-B659192D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Semaine 3 : valider procédure, contrôle et limites.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C5097E-8A36-44F1-8D3E-2FF1A553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05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FA09C6-5F9B-4478-98B3-4C0A51AD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3870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Semaine 4 : mesurer gain, qualité et irritants.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96083E-B007-482D-A53F-81AE7C8B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310515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4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848130-5F9E-4262-AC16-B5A5CFCD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762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77BAA0-EA02-4BD9-9375-F75D1696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5280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C1C13C-C8C1-450A-B723-955EE6C8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76650"/>
            <a:ext cx="26098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Un pilote réussi est petit, documenté et réplicable.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a832eeca8a49d6"/>
          <a:stretch xmlns:a="http://schemas.openxmlformats.org/drawingml/2006/main"/>
        </p:blipFill>
        <p:spPr>
          <a:xfrm xmlns:a="http://schemas.openxmlformats.org/drawingml/2006/main">
            <a:off x="9906000" y="273653"/>
            <a:ext cx="742950" cy="424244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9f1753f74710"/>
          <a:stretch xmlns:a="http://schemas.openxmlformats.org/drawingml/2006/main"/>
        </p:blipFill>
        <p:spPr>
          <a:xfrm xmlns:a="http://schemas.openxmlformats.org/drawingml/2006/main">
            <a:off x="10859009" y="209550"/>
            <a:ext cx="60858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988245"/>
      </p:ext>
    </p:extLst>
  </p:cSld>
</p:sld>
</file>

<file path=ppt/slides/slide6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6F9675-7E72-4DC8-A23C-24DB9976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19F08A-2F83-4C92-898F-8B720958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0B271A-E111-4180-AC8B-8ACA7524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642287-5FAA-4B2E-B618-DA7AF0F7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ATELIER FINAL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471242-15CF-4B90-AF1C-B04DE80B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Plan d'action CRAFT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B0ED46-6627-4573-A01F-8F67D96B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FO-64 - Hybride CRAFT pratique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0CC096-0286-4A9A-9126-5C5D26E7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65/72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CDCF27-385C-4A1E-ABB8-BC45EF23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47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Transformer un prompt en usage réel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2D5CB5-E248-41D9-9695-74267679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647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Le plan final tient sur une page.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456768-2722-415E-A8BF-D989A1558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09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949726-3DE6-4F97-9494-AB8B95C0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5772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Usage choisi : tâche répétitive et vérifiable.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77FFB1-C2F7-49B8-9A62-D4B63C1A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433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C56128-A6A0-41AE-A8F1-F8E0721C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76650"/>
            <a:ext cx="5772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Prompt CRAFT : version conservée avec contexte fictif ou anonymisé.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150ECA-D4E9-4E7A-83B3-28AA323E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76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64BB15-A8DC-4944-A44B-992C1258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10050"/>
            <a:ext cx="5772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Outil : accessible, adapté au risque, testé en zone verte.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1829E9-F100-4EFD-8E33-2189DE0F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01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3D95E1-D768-4011-ACE3-B3127C92B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43450"/>
            <a:ext cx="5772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Contrôle : relecture, validation, critère de qualité.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D72C8C-79D7-4E69-ADB0-74824190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257300"/>
            <a:ext cx="3143250" cy="39814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8EA"/>
          </a:solidFill>
          <a:ln xmlns:a="http://schemas.openxmlformats.org/drawingml/2006/main" w="11430">
            <a:solidFill>
              <a:srgbClr val="F6D28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8C5B69-9FA7-4DB2-BDCD-3004949FE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621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Mise en pratique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CDE2B3-4D66-4927-BF11-B7652D4F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764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7086"/>
                </a:solidFill>
                <a:latin typeface="Aptos"/>
                <a:ea typeface="Aptos"/>
                <a:cs typeface="Aptos"/>
              </a:rPr>
              <a:t>Production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03C5F6-D152-419B-AD2E-228853E5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6220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Un usage IA doit être assez clair pour être répété.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923718-3D58-4D47-9DF4-5BFB1E43F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052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7086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2F43D7-B397-48E8-9EBD-14068E0A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719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Comparez les prompts, identifiez les contrôles utiles, conservez une version réutilisable.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d3d713d3c840cc"/>
          <a:stretch xmlns:a="http://schemas.openxmlformats.org/drawingml/2006/main"/>
        </p:blipFill>
        <p:spPr>
          <a:xfrm xmlns:a="http://schemas.openxmlformats.org/drawingml/2006/main">
            <a:off x="9906000" y="273653"/>
            <a:ext cx="742950" cy="424244"/>
          </a:xfrm>
          <a:prstGeom xmlns:a="http://schemas.openxmlformats.org/drawingml/2006/main" prst="rect">
            <a:avLst/>
          </a:prstGeom>
        </p:spPr>
      </p:pic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c59a2d7c464bad"/>
          <a:stretch xmlns:a="http://schemas.openxmlformats.org/drawingml/2006/main"/>
        </p:blipFill>
        <p:spPr>
          <a:xfrm xmlns:a="http://schemas.openxmlformats.org/drawingml/2006/main">
            <a:off x="10859009" y="209550"/>
            <a:ext cx="60858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296579"/>
      </p:ext>
    </p:extLst>
  </p:cSld>
</p:sld>
</file>

<file path=ppt/slides/slide6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368A89-A111-4523-98DA-23D1E37A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3828C0-D51E-416A-9357-5B9DA6E0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DB28A1-EC8C-4FC1-84A3-5AEEEB7B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6B3986-08B6-4F5D-A2D6-35B55D93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D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D6"/>
                </a:solidFill>
                <a:latin typeface="Aptos"/>
                <a:ea typeface="Aptos"/>
                <a:cs typeface="Aptos"/>
              </a:rPr>
              <a:t>ATELIER FINAL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F0348C-811C-461F-96B2-56215740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Exemple de plan prêt à remplir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025263-84D4-47E5-AC18-80EB276D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FO-64 - Hybride CRAFT pratique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92995D-49C9-4795-9141-4DB4146A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66/72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C87635-FA42-462C-B7BD-CC7DC1F52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Cas : relance commerciale simple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C283B1-9EBD-49DF-A367-F47B2182B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Le plan doit permettre de lancer un test limité.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51DE4A-1AD8-4F49-AB2A-B55C9110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325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52E4F6-A103-4688-8B7D-D6B17FA1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D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A6D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52C4C8-5288-487B-9F04-73915E1F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38550"/>
            <a:ext cx="287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Tâche : relancer des devis fictifs ou anonymisés.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FA5FEC-2874-44E7-B6B1-3FB234CED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3219450"/>
            <a:ext cx="325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B73797-0AE7-4B52-88A1-5D5069E9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33528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D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A6D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C24279-FD57-4C67-9C71-D90C2A59E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3638550"/>
            <a:ext cx="287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Gain attendu : gagner du temps sur le premier brouillon.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2DB5C0-F2B5-40DB-8509-D7917B84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0650" y="3219450"/>
            <a:ext cx="325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7E00EB-63BD-49F9-8FA1-232031A71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150" y="33528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D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A6D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7BEEE0-F963-4D44-B646-D26873082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150" y="3638550"/>
            <a:ext cx="287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Prompt CRAFT : email court + points à personnaliser.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0C9491-17EF-4F4F-BDC3-F9106FAA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325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3CC44F-A763-4CE1-B2CE-DB89CA84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196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D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A6D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C9B8E4-87EA-4C8C-A739-EAB06AA5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05350"/>
            <a:ext cx="287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Contrôle : commercial relit chaque message avant envoi.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8B366F-0314-4BC1-B4EA-A06FFE0BA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4286250"/>
            <a:ext cx="325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234DF1-3158-415D-A648-702A1233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44196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D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A6D6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9A162E-F4B9-4771-ACFE-F7FB6154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4705350"/>
            <a:ext cx="287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Indicateur : temps de rédaction et taux de corrections.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F6158-8C51-464C-813C-C53A8B09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353050"/>
            <a:ext cx="738187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4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48395F-3FB4-45F4-B4B9-A4CFE0811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35305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B57512-DB6F-4DE8-8670-B7FE12D4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467350"/>
            <a:ext cx="6886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6D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A6D6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67A6C9-23E3-4372-B41C-C6575C48B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676900"/>
            <a:ext cx="6886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Le premier pilote doit rester modeste.</a:t>
            </a:r>
          </a:p>
        </p:txBody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cca60438e64596"/>
          <a:stretch xmlns:a="http://schemas.openxmlformats.org/drawingml/2006/main"/>
        </p:blipFill>
        <p:spPr>
          <a:xfrm xmlns:a="http://schemas.openxmlformats.org/drawingml/2006/main">
            <a:off x="9906000" y="273653"/>
            <a:ext cx="742950" cy="424244"/>
          </a:xfrm>
          <a:prstGeom xmlns:a="http://schemas.openxmlformats.org/drawingml/2006/main" prst="rect">
            <a:avLst/>
          </a:prstGeom>
        </p:spPr>
      </p:pic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4b11e746084f92"/>
          <a:stretch xmlns:a="http://schemas.openxmlformats.org/drawingml/2006/main"/>
        </p:blipFill>
        <p:spPr>
          <a:xfrm xmlns:a="http://schemas.openxmlformats.org/drawingml/2006/main">
            <a:off x="10859009" y="209550"/>
            <a:ext cx="60858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883130"/>
      </p:ext>
    </p:extLst>
  </p:cSld>
</p:sld>
</file>

<file path=ppt/slides/slide6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7A081A-C3AD-4201-BEBF-E22B4EAA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E63FBF-250F-4A26-B0EC-1FA2EFB43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E9617D-CBB9-4909-A1EB-2D879F36E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B677B9-77DA-49CF-8F4D-E918FD8D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ATELIER FINAL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D3C2DA-2F88-49B9-80D8-19141159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Pitch 90 secondes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A411FC-47D7-439B-8E08-2D20E9605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FO-64 - Hybride CRAFT pratique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0888A3-D0C9-40C4-81FF-78FD0E47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67/72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023B9A-66CF-4666-BFBD-3EA365DB6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Présenter son plan comme une décision d'équipe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9EC3A9-9E38-4AF8-A75D-6D71D7F5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Un bon pitch permet à un collègue de comprendre le besoin, le risque et la prochaine action.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DCC20C-B6EF-49F3-A695-973EE40C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6026A7-C399-4F51-B971-4447EB0E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Ce que je veux améliorer.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897EEA-798E-4180-81F6-800D4A03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00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E227FB-073C-4DF7-9902-B4EC668F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L'outil et les données autorisées.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3E43C1-6E93-4C6A-89AF-F57F9D14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52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EF3521-1554-4DDA-8DC2-DF398E08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Le contrôle humain prévu.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C4DC1C-84EC-4B10-9DA8-37C981DE0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05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08CCC6-4429-419D-BA68-15F64BB4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3870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La première action sous 7 jours.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4328AF-A89B-4FAC-BA37-939ACA97E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310515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4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7C4597-FAA1-4147-972C-97A1CDD3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762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5D015F-D2B5-4C65-9D1C-4831BB18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5280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8AA458-DC3B-4632-917F-7A9A0C0A7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76650"/>
            <a:ext cx="26098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La clarté du pitch révèle la maturité du plan.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86572fb2224d5e"/>
          <a:stretch xmlns:a="http://schemas.openxmlformats.org/drawingml/2006/main"/>
        </p:blipFill>
        <p:spPr>
          <a:xfrm xmlns:a="http://schemas.openxmlformats.org/drawingml/2006/main">
            <a:off x="9906000" y="273653"/>
            <a:ext cx="742950" cy="424244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762b1f43844355"/>
          <a:stretch xmlns:a="http://schemas.openxmlformats.org/drawingml/2006/main"/>
        </p:blipFill>
        <p:spPr>
          <a:xfrm xmlns:a="http://schemas.openxmlformats.org/drawingml/2006/main">
            <a:off x="10859009" y="209550"/>
            <a:ext cx="60858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093030"/>
      </p:ext>
    </p:extLst>
  </p:cSld>
</p:sld>
</file>

<file path=ppt/slides/slide6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5C1376-3C4F-4884-87FD-980E3BB21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7B5524-C620-4A7E-9A02-D5E00C3E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B5AB8D-7179-47BA-A10B-9C07EF48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1893B3-72EE-4F81-8EA6-714A9E04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PROGRESSION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ED6025-C013-4A06-BD75-CB1914B3D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Partie 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AB7944-C125-4DB0-A959-0783CA67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FO-64 - Hybride CRAFT pratique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C5994E-E253-44B3-9860-8D8CA321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68/72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791020-3413-45A0-9A31-AA9D78C3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Formaliser un plan d'action 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91D913-6FA2-4BF6-B259-D0F4B0C8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La fin de formation transforme les essais en un pilote court, mesurable et présentable.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83B266-0F0E-485C-8327-25CBBA7F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009147-200E-479E-A404-2059B070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Choisir un cas d'usage prioritaire.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77F539-53C4-4A12-878F-A678EE26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00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D6DB70-86EC-40C7-936D-ED949B422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Définir l'outil, les données autorisées et les données interdites.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D97826-74A3-40CA-97F0-CD807551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52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4E6160-94C8-40F7-929C-1CD80292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Prévoir le prompt, la sortie attendue et le contrôle humain.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ED3D41-EA24-4FFB-848D-8CE47AB0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05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DF6374-62E1-4925-A43B-AC087AB9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3870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Décider d'un indicateur et d'une première action sous 7 jours.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5D885D-028E-48FC-8996-AD13C536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310515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4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937899-9B12-4D47-9F50-52EE690B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762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53C168-8C57-4316-8F36-35EE2984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5280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B85CDE-17F5-4975-9246-8C83EB46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76650"/>
            <a:ext cx="26098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Sortie de partie : un plan d'action IA en 30 jours.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050199fc3f4e97"/>
          <a:stretch xmlns:a="http://schemas.openxmlformats.org/drawingml/2006/main"/>
        </p:blipFill>
        <p:spPr>
          <a:xfrm xmlns:a="http://schemas.openxmlformats.org/drawingml/2006/main">
            <a:off x="9906000" y="273653"/>
            <a:ext cx="742950" cy="424244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82f1e2fba14e0e"/>
          <a:stretch xmlns:a="http://schemas.openxmlformats.org/drawingml/2006/main"/>
        </p:blipFill>
        <p:spPr>
          <a:xfrm xmlns:a="http://schemas.openxmlformats.org/drawingml/2006/main">
            <a:off x="10859009" y="209550"/>
            <a:ext cx="60858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234437"/>
      </p:ext>
    </p:extLst>
  </p:cSld>
</p:sld>
</file>

<file path=ppt/slides/slide6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FE4DDD-1C20-4749-AEB6-A229CAA2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655A5F-13C2-445B-B798-22290D588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094DF5-54C5-4ABB-98A7-ECD5D7C2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0FF522-7CF1-4231-9004-DC7378AC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A3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A36A"/>
                </a:solidFill>
                <a:latin typeface="Aptos"/>
                <a:ea typeface="Aptos"/>
                <a:cs typeface="Aptos"/>
              </a:rPr>
              <a:t>ÉVALUATION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5FF957-AD77-4948-982E-7C66C640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Scorecard CRAFT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FC5049-37D7-46E3-9D47-AE5CCD64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FO-64 - Hybride CRAFT pratique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76A18D-78C9-408B-96E6-30D74FF4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69/72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2CC975-6499-4F1A-A67B-DCC3F179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Un prompt validé coche cinq cases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E834C7-7E8D-41A1-AF7C-E7D57F37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La scorecard permet de juger une production sans débat flou.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56908C-E898-4689-962F-AA50AD0E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68315F-F619-4DD7-AC2D-FDC49CD1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6248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Contexte clair et sans donnée rouge.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679746-A1A0-4F28-9B0B-D0593BC9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052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2676FC-353F-45DA-A5BA-431121560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38550"/>
            <a:ext cx="6248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Rôle cohérent avec la tâche.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85044B-4A2E-4BF1-8D3B-D212C488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624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C43B82-68A6-47B3-82D1-E13EFC08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95750"/>
            <a:ext cx="6248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Action précise et limitée.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67A57A-819C-4244-9045-BB166972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96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F1DC79-3639-4813-9292-34F5E9B5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52950"/>
            <a:ext cx="6248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Format directement réutilisable.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91EB93-9D39-4DE0-8584-E63913375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768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C627D7-51E0-4BF7-8824-AACDA68D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10150"/>
            <a:ext cx="6248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Tests et points de vérification présents.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97F92B-9CE1-4BAA-8BD7-74B60C74F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310515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4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33ED84-5452-49EA-A7EB-1C67E4181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762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3E437A-0AD9-4FED-802A-0F31523F7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5280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A36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A36A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C063B6-5E5B-48F7-AA54-0CFBE42E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76650"/>
            <a:ext cx="26098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Un prompt réutilisable est un actif de travail.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1cdfdec9c844ee"/>
          <a:stretch xmlns:a="http://schemas.openxmlformats.org/drawingml/2006/main"/>
        </p:blipFill>
        <p:spPr>
          <a:xfrm xmlns:a="http://schemas.openxmlformats.org/drawingml/2006/main">
            <a:off x="9906000" y="273653"/>
            <a:ext cx="742950" cy="424244"/>
          </a:xfrm>
          <a:prstGeom xmlns:a="http://schemas.openxmlformats.org/drawingml/2006/main" prst="rect">
            <a:avLst/>
          </a:prstGeom>
        </p:spPr>
      </p:pic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1e56aba2fd4fe6"/>
          <a:stretch xmlns:a="http://schemas.openxmlformats.org/drawingml/2006/main"/>
        </p:blipFill>
        <p:spPr>
          <a:xfrm xmlns:a="http://schemas.openxmlformats.org/drawingml/2006/main">
            <a:off x="10859009" y="209550"/>
            <a:ext cx="60858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59106"/>
      </p:ext>
    </p:extLst>
  </p:cSld>
</p:sld>
</file>

<file path=ppt/slides/slide7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F555F9-EB5B-4079-9076-460E42EA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373559-3FAF-446E-ACAE-63C309918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4C1200-7078-45A5-9A58-3527FA13F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E8237E-7895-47D9-9AB5-FB9C0A114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CLÔTURE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7CD753-4ACD-4482-8261-1F964345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Les trois réflexes à garder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CD6540-1C5D-4C7F-9462-15038235D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FO-64 - Hybride CRAFT pratique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9A41CC-8ED7-4F23-A9D8-BDB1FDB0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70/72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F50937-0192-4309-AF6C-8E68B0638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CRAFT rend l'IA plus utile parce qu'elle impose de penser la tâche.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118288-03AD-4EE7-A89B-879A1C9B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Les réflexes ci-dessous suffisent pour démarrer proprement.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E32F03-8D86-45DE-9533-EA29FCD2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7D2D58-9CC5-42F2-961B-16B5A0AA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Avant : cadrer la demande et les données.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BA7149-DCE1-4651-82F5-9088192C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00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F49B71-A2E7-473B-9D5C-D8AE2BFD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Pendant : comparer au moins deux versions.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9C2664-F804-47D0-884F-FFDBB2D9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52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32EAD8-E46D-47FC-92E2-DE87BD72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Après : vérifier, personnaliser, conserver le meilleur prompt.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B769C8-0E1F-4056-A0D0-0EF8444C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05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ABA10D-73D1-4F98-8EBC-F4BFEF41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3870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Toujours : signaler les usages sensibles et garder l'humain dans la boucle.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3CD594-B3F8-4CD9-ADED-B611272F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310515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4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B83B12-2C6F-4041-9B3E-23D41704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762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6B930A-ADBB-4307-A794-57F62B0F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5280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C3714E-7B61-4C50-9FB0-A0BFB736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76650"/>
            <a:ext cx="26098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Prompt clair, donnée maîtrisée, validation humaine.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1ef08a40da4be1"/>
          <a:stretch xmlns:a="http://schemas.openxmlformats.org/drawingml/2006/main"/>
        </p:blipFill>
        <p:spPr>
          <a:xfrm xmlns:a="http://schemas.openxmlformats.org/drawingml/2006/main">
            <a:off x="9906000" y="273653"/>
            <a:ext cx="742950" cy="424244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ad31f96b254937"/>
          <a:stretch xmlns:a="http://schemas.openxmlformats.org/drawingml/2006/main"/>
        </p:blipFill>
        <p:spPr>
          <a:xfrm xmlns:a="http://schemas.openxmlformats.org/drawingml/2006/main">
            <a:off x="10859009" y="209550"/>
            <a:ext cx="60858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664601"/>
      </p:ext>
    </p:extLst>
  </p:cSld>
</p:sld>
</file>

<file path=ppt/slides/slide7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0F12A6-FF35-4F78-9F64-7B9EE0F3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0FCCCD-B93C-432D-A569-7145BC7D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7CE2C8-86AA-409C-A510-2E60EB88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595691-8D83-4715-9C8E-C572E401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D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D6"/>
                </a:solidFill>
                <a:latin typeface="Aptos"/>
                <a:ea typeface="Aptos"/>
                <a:cs typeface="Aptos"/>
              </a:rPr>
              <a:t>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B3D7FC-94DF-46D2-AB22-C1C5343F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Repères à jour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F5F255-2A3D-4C5D-A201-2BAC6994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FO-64 - Hybride CRAFT pratique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E5C3D6-113F-4504-9F2A-701419ED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71/72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A3CB3A-2DC9-417B-A4F1-4D5CE8A2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Les outils évoluent ; les règles de vérification restent stables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C872E5-3056-47ED-93E1-24AF95BE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Les sources ci-dessous cadrent les usages sensibles abordés dans cette version.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9645A0-E937-4E6A-9404-0AEA7E35B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325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E90AC6-AE8E-42AE-AC47-D11C1FAE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D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A6D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811275-5A9B-4662-8CE0-57C8CFA6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38550"/>
            <a:ext cx="287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AI Act Article 50 : transparence et deepfakes.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A2CE3D-6AC8-4C05-B833-10D37329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3219450"/>
            <a:ext cx="325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0ED432-B1C4-4D50-B9D6-CB49A9D9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33528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D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A6D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259BC7-E766-4E5B-8FC0-6E968F04B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3638550"/>
            <a:ext cx="287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CNIL : hypertrucage, voix, image, vidéo et signalement.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71AB00-E825-4134-900E-E1BDA1E8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0650" y="3219450"/>
            <a:ext cx="325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DE2729-CF26-48CB-8829-54A94D2E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150" y="33528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D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A6D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5FBC4D-22BE-47A0-A1FC-F8E7EDBE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150" y="3638550"/>
            <a:ext cx="287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ElevenLabs, Suno, HeyGen : conditions et garde-fous outils.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C7A44F-5C82-4568-9A65-3562677B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325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77BDE2-CA19-4FE5-AEBD-0538A9F97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196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D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A6D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DC7EC6-9323-405B-A346-6F79F1F3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05350"/>
            <a:ext cx="287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Microsoft Teams Phone et Zoom : synthèse d'appels et réunions.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160C23-74DD-4B4C-850C-10B03E79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353050"/>
            <a:ext cx="738187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4E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B25AD1-C464-4E52-BA77-6E8B3BEA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35305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77AFF2-E3F0-4B1D-9CAA-E9A88C65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467350"/>
            <a:ext cx="6886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6D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A6D6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0DC182-FCBB-49CA-AF84-5A24A7E4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676900"/>
            <a:ext cx="6886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Vérifier les conditions de chaque outil avant un usage professionnel.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0428cd71a44d68"/>
          <a:stretch xmlns:a="http://schemas.openxmlformats.org/drawingml/2006/main"/>
        </p:blipFill>
        <p:spPr>
          <a:xfrm xmlns:a="http://schemas.openxmlformats.org/drawingml/2006/main">
            <a:off x="9906000" y="273653"/>
            <a:ext cx="742950" cy="424244"/>
          </a:xfrm>
          <a:prstGeom xmlns:a="http://schemas.openxmlformats.org/drawingml/2006/main" prst="rect">
            <a:avLst/>
          </a:prstGeom>
        </p:spPr>
      </p:pic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b6184a60c6428e"/>
          <a:stretch xmlns:a="http://schemas.openxmlformats.org/drawingml/2006/main"/>
        </p:blipFill>
        <p:spPr>
          <a:xfrm xmlns:a="http://schemas.openxmlformats.org/drawingml/2006/main">
            <a:off x="10859009" y="209550"/>
            <a:ext cx="60858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811438"/>
      </p:ext>
    </p:extLst>
  </p:cSld>
</p:sld>
</file>

<file path=ppt/slides/slide7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BCFB88-D7D2-4534-B8B0-1C4C7E7F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8C3F10-644D-48E4-BD2B-5A1030AD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73138B-1170-4B68-B327-C85502C5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0E4D01-7BDD-4D19-A064-681B060D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CLÔTURE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22E100-D488-491F-9C40-602EB492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Merci pour votre participation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EAA9A2-C828-4A8D-909E-B5C9DE7D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FO-64 - Hybride CRAFT pratique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32543C-6A5F-45A5-B654-CE39CF79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72/72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9D0899-1884-4368-88A5-E35438F2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Vous repartez avec une méthode de prompt, des exemples et une grille de contrôle.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A1195F-1E08-4DA9-B2A5-5C69ECD8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La suite consiste à tester un seul usage en zone verte.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CA218B-CE56-4288-8592-A86254005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141488-64C0-4031-BA87-BAB2E7CA1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Contact YPS : Gaëlle Raulic - 06 90 15 24 25 - raulicgaelle@gmail.com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8B5DB8-EE92-4D46-834C-D9F0CD3B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00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9E4742-1299-4B47-960A-7D84498F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Contact Orizon : contact@orizon.sx - orizon.sx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43E2CB-FAAC-4F24-AF4C-C404FBA0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52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5B2230-6270-41DB-974B-D97085B44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Référente handicap YPS : Latifa Dahou - 06 90 74 48 34 - latidahou@gmail.com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6C6DA7-57A1-4BBE-8107-ABA77AB5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05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8A1703-76CF-462A-B9A0-2EA838B8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3870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Prochain test : une tâche, un prompt CRAFT, une relecture, une amélioration.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2E46D9-E3AA-49B6-830B-FE74C975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310515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4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B30839-4D7F-4557-AD0C-4A25B969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762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8554FD-7170-4474-9DA2-A8549666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5280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1D4CEE-80D1-4DA3-9F5D-283AC4A4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76650"/>
            <a:ext cx="26098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Merci, et bons prompts CRAFT.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c8ee8ac9f449f3"/>
          <a:stretch xmlns:a="http://schemas.openxmlformats.org/drawingml/2006/main"/>
        </p:blipFill>
        <p:spPr>
          <a:xfrm xmlns:a="http://schemas.openxmlformats.org/drawingml/2006/main">
            <a:off x="9906000" y="273653"/>
            <a:ext cx="742950" cy="424244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04df5229784d29"/>
          <a:stretch xmlns:a="http://schemas.openxmlformats.org/drawingml/2006/main"/>
        </p:blipFill>
        <p:spPr>
          <a:xfrm xmlns:a="http://schemas.openxmlformats.org/drawingml/2006/main">
            <a:off x="10859009" y="209550"/>
            <a:ext cx="60858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7193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2026-07-01T21:10:22.2920000Z</dcterms:created>
  <dcterms:modified xsi:type="dcterms:W3CDTF">2026-07-01T21:10:22.2920000Z</dcterms:modified>
</coreProperties>
</file>