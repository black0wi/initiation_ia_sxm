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6"/>
    <p:restoredTop sz="94541"/>
  </p:normalViewPr>
  <p:slideViewPr>
    <p:cSldViewPr snapToGrid="0">
      <p:cViewPr varScale="1">
        <p:scale>
          <a:sx n="118" d="100"/>
          <a:sy n="118" d="100"/>
        </p:scale>
        <p:origin x="2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Accueillir</a:t>
            </a:r>
            <a:r>
              <a:rPr dirty="0"/>
              <a:t> le </a:t>
            </a:r>
            <a:r>
              <a:rPr dirty="0" err="1"/>
              <a:t>groupe</a:t>
            </a:r>
            <a:r>
              <a:rPr dirty="0"/>
              <a:t>, rappeler le lieu et les </a:t>
            </a:r>
            <a:r>
              <a:rPr dirty="0" err="1"/>
              <a:t>horaires</a:t>
            </a:r>
            <a:r>
              <a:rPr dirty="0"/>
              <a:t>. Poser le cadre : formation pratique, sans </a:t>
            </a:r>
            <a:r>
              <a:rPr dirty="0" err="1"/>
              <a:t>promesse</a:t>
            </a:r>
            <a:r>
              <a:rPr dirty="0"/>
              <a:t> </a:t>
            </a:r>
            <a:r>
              <a:rPr dirty="0" err="1"/>
              <a:t>magique</a:t>
            </a:r>
            <a:r>
              <a:rPr dirty="0"/>
              <a:t>, avec </a:t>
            </a:r>
            <a:r>
              <a:rPr dirty="0" err="1"/>
              <a:t>une</a:t>
            </a:r>
            <a:r>
              <a:rPr dirty="0"/>
              <a:t> attention forte aux données. </a:t>
            </a:r>
            <a:r>
              <a:rPr dirty="0" err="1"/>
              <a:t>Annoncer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exemples</a:t>
            </a:r>
            <a:r>
              <a:rPr dirty="0"/>
              <a:t> </a:t>
            </a:r>
            <a:r>
              <a:rPr dirty="0" err="1"/>
              <a:t>seront</a:t>
            </a:r>
            <a:r>
              <a:rPr dirty="0"/>
              <a:t> </a:t>
            </a:r>
            <a:r>
              <a:rPr dirty="0" err="1"/>
              <a:t>fictifs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anonymisés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Lire les </a:t>
            </a:r>
            <a:r>
              <a:rPr dirty="0" err="1"/>
              <a:t>objectifs</a:t>
            </a:r>
            <a:r>
              <a:rPr dirty="0"/>
              <a:t> sans les commenter </a:t>
            </a:r>
            <a:r>
              <a:rPr dirty="0" err="1"/>
              <a:t>longuement</a:t>
            </a:r>
            <a:r>
              <a:rPr dirty="0"/>
              <a:t>. Demander aux participants de </a:t>
            </a:r>
            <a:r>
              <a:rPr dirty="0" err="1"/>
              <a:t>repérer</a:t>
            </a:r>
            <a:r>
              <a:rPr dirty="0"/>
              <a:t> </a:t>
            </a:r>
            <a:r>
              <a:rPr dirty="0" err="1"/>
              <a:t>l'objectif</a:t>
            </a:r>
            <a:r>
              <a:rPr dirty="0"/>
              <a:t> le plus utile pour </a:t>
            </a:r>
            <a:r>
              <a:rPr dirty="0" err="1"/>
              <a:t>leur</a:t>
            </a:r>
            <a:r>
              <a:rPr dirty="0"/>
              <a:t> poste. </a:t>
            </a:r>
            <a:r>
              <a:rPr dirty="0" err="1"/>
              <a:t>Revenir</a:t>
            </a:r>
            <a:r>
              <a:rPr dirty="0"/>
              <a:t> sur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objectifs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clôture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Insister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l'ouverture</a:t>
            </a:r>
            <a:r>
              <a:rPr dirty="0"/>
              <a:t> sur la sécurité. Donner deux </a:t>
            </a:r>
            <a:r>
              <a:rPr dirty="0" err="1"/>
              <a:t>exemples</a:t>
            </a:r>
            <a:r>
              <a:rPr dirty="0"/>
              <a:t> </a:t>
            </a:r>
            <a:r>
              <a:rPr dirty="0" err="1"/>
              <a:t>concrets</a:t>
            </a:r>
            <a:r>
              <a:rPr dirty="0"/>
              <a:t> de données </a:t>
            </a:r>
            <a:r>
              <a:rPr dirty="0" err="1"/>
              <a:t>interdites</a:t>
            </a:r>
            <a:r>
              <a:rPr dirty="0"/>
              <a:t> :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réclamation</a:t>
            </a:r>
            <a:r>
              <a:rPr dirty="0"/>
              <a:t> nominative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fichier</a:t>
            </a:r>
            <a:r>
              <a:rPr dirty="0"/>
              <a:t> RH. </a:t>
            </a:r>
            <a:r>
              <a:rPr dirty="0" err="1"/>
              <a:t>Préciser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doute se </a:t>
            </a:r>
            <a:r>
              <a:rPr dirty="0" err="1"/>
              <a:t>traite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demandant au </a:t>
            </a:r>
            <a:r>
              <a:rPr dirty="0" err="1"/>
              <a:t>formateur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Distribuer</a:t>
            </a:r>
            <a:r>
              <a:rPr dirty="0"/>
              <a:t> le quiz de </a:t>
            </a:r>
            <a:r>
              <a:rPr dirty="0" err="1"/>
              <a:t>positionnement</a:t>
            </a:r>
            <a:r>
              <a:rPr dirty="0"/>
              <a:t>. Faire voter à main levée sur 2 </a:t>
            </a:r>
            <a:r>
              <a:rPr dirty="0" err="1"/>
              <a:t>ou</a:t>
            </a:r>
            <a:r>
              <a:rPr dirty="0"/>
              <a:t> 3 questions. Noter au tableau les </a:t>
            </a:r>
            <a:r>
              <a:rPr dirty="0" err="1"/>
              <a:t>tâches</a:t>
            </a:r>
            <a:r>
              <a:rPr dirty="0"/>
              <a:t> </a:t>
            </a:r>
            <a:r>
              <a:rPr dirty="0" err="1"/>
              <a:t>citées</a:t>
            </a:r>
            <a:r>
              <a:rPr dirty="0"/>
              <a:t>, </a:t>
            </a:r>
            <a:r>
              <a:rPr dirty="0" err="1"/>
              <a:t>elles</a:t>
            </a:r>
            <a:r>
              <a:rPr dirty="0"/>
              <a:t> </a:t>
            </a:r>
            <a:r>
              <a:rPr dirty="0" err="1"/>
              <a:t>serviront</a:t>
            </a:r>
            <a:r>
              <a:rPr dirty="0"/>
              <a:t> au TP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Présenter</a:t>
            </a:r>
            <a:r>
              <a:rPr dirty="0"/>
              <a:t> le </a:t>
            </a:r>
            <a:r>
              <a:rPr dirty="0" err="1"/>
              <a:t>déroulé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progression. </a:t>
            </a:r>
            <a:r>
              <a:rPr dirty="0" err="1"/>
              <a:t>Préciser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temps de pratique </a:t>
            </a:r>
            <a:r>
              <a:rPr dirty="0" err="1"/>
              <a:t>sont</a:t>
            </a:r>
            <a:r>
              <a:rPr dirty="0"/>
              <a:t> courts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nombreux</a:t>
            </a:r>
            <a:r>
              <a:rPr dirty="0"/>
              <a:t> pour donner des </a:t>
            </a:r>
            <a:r>
              <a:rPr dirty="0" err="1"/>
              <a:t>réflexes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Expliquer</a:t>
            </a:r>
            <a:r>
              <a:rPr dirty="0"/>
              <a:t> avec un </a:t>
            </a:r>
            <a:r>
              <a:rPr dirty="0" err="1"/>
              <a:t>exemple</a:t>
            </a:r>
            <a:r>
              <a:rPr dirty="0"/>
              <a:t> simple : </a:t>
            </a:r>
            <a:r>
              <a:rPr dirty="0" err="1"/>
              <a:t>recommandation</a:t>
            </a:r>
            <a:r>
              <a:rPr dirty="0"/>
              <a:t> </a:t>
            </a:r>
            <a:r>
              <a:rPr dirty="0" err="1"/>
              <a:t>d'itinéraire</a:t>
            </a:r>
            <a:r>
              <a:rPr dirty="0"/>
              <a:t>, correction </a:t>
            </a:r>
            <a:r>
              <a:rPr dirty="0" err="1"/>
              <a:t>automatique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chatbot. Ne pas </a:t>
            </a:r>
            <a:r>
              <a:rPr dirty="0" err="1"/>
              <a:t>entrer</a:t>
            </a:r>
            <a:r>
              <a:rPr dirty="0"/>
              <a:t> dans les réseaux de </a:t>
            </a:r>
            <a:r>
              <a:rPr dirty="0" err="1"/>
              <a:t>neurones</a:t>
            </a:r>
            <a:r>
              <a:rPr dirty="0"/>
              <a:t>. </a:t>
            </a:r>
            <a:r>
              <a:rPr dirty="0" err="1"/>
              <a:t>Distinguer</a:t>
            </a:r>
            <a:r>
              <a:rPr dirty="0"/>
              <a:t> usage visible et usage invisible.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Dessiner</a:t>
            </a:r>
            <a:r>
              <a:rPr dirty="0"/>
              <a:t> au tableau les quatre couches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nécessaire</a:t>
            </a:r>
            <a:r>
              <a:rPr dirty="0"/>
              <a:t>. Insister : dire « ChatGPT » </a:t>
            </a:r>
            <a:r>
              <a:rPr dirty="0" err="1"/>
              <a:t>ou</a:t>
            </a:r>
            <a:r>
              <a:rPr dirty="0"/>
              <a:t> « Copilot » ne </a:t>
            </a:r>
            <a:r>
              <a:rPr dirty="0" err="1"/>
              <a:t>suffit</a:t>
            </a:r>
            <a:r>
              <a:rPr dirty="0"/>
              <a:t> pas, il faut savoir quelle version, </a:t>
            </a:r>
            <a:r>
              <a:rPr dirty="0" err="1"/>
              <a:t>quel</a:t>
            </a:r>
            <a:r>
              <a:rPr dirty="0"/>
              <a:t> compte, </a:t>
            </a:r>
            <a:r>
              <a:rPr dirty="0" err="1"/>
              <a:t>quelles</a:t>
            </a:r>
            <a:r>
              <a:rPr dirty="0"/>
              <a:t>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Demander au </a:t>
            </a:r>
            <a:r>
              <a:rPr dirty="0" err="1"/>
              <a:t>groupe</a:t>
            </a:r>
            <a:r>
              <a:rPr dirty="0"/>
              <a:t>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tâches</a:t>
            </a:r>
            <a:r>
              <a:rPr dirty="0"/>
              <a:t> </a:t>
            </a:r>
            <a:r>
              <a:rPr dirty="0" err="1"/>
              <a:t>prennent</a:t>
            </a:r>
            <a:r>
              <a:rPr dirty="0"/>
              <a:t> trop de temps. Faire le lien avec les </a:t>
            </a:r>
            <a:r>
              <a:rPr dirty="0" err="1"/>
              <a:t>verbes</a:t>
            </a:r>
            <a:r>
              <a:rPr dirty="0"/>
              <a:t> d'action : </a:t>
            </a:r>
            <a:r>
              <a:rPr dirty="0" err="1"/>
              <a:t>rédiger</a:t>
            </a:r>
            <a:r>
              <a:rPr dirty="0"/>
              <a:t>, </a:t>
            </a:r>
            <a:r>
              <a:rPr dirty="0" err="1"/>
              <a:t>résumer</a:t>
            </a:r>
            <a:r>
              <a:rPr dirty="0"/>
              <a:t>, classer, comparer, </a:t>
            </a:r>
            <a:r>
              <a:rPr dirty="0" err="1"/>
              <a:t>préparer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Donner un </a:t>
            </a:r>
            <a:r>
              <a:rPr dirty="0" err="1"/>
              <a:t>exemple</a:t>
            </a:r>
            <a:r>
              <a:rPr dirty="0"/>
              <a:t> de phrase </a:t>
            </a:r>
            <a:r>
              <a:rPr dirty="0" err="1"/>
              <a:t>convaincante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fausse</a:t>
            </a:r>
            <a:r>
              <a:rPr dirty="0"/>
              <a:t>. Faire </a:t>
            </a:r>
            <a:r>
              <a:rPr dirty="0" err="1"/>
              <a:t>reformuler</a:t>
            </a:r>
            <a:r>
              <a:rPr dirty="0"/>
              <a:t> la </a:t>
            </a:r>
            <a:r>
              <a:rPr dirty="0" err="1"/>
              <a:t>règle</a:t>
            </a:r>
            <a:r>
              <a:rPr dirty="0"/>
              <a:t> : plus </a:t>
            </a:r>
            <a:r>
              <a:rPr dirty="0" err="1"/>
              <a:t>l'enjeu</a:t>
            </a:r>
            <a:r>
              <a:rPr dirty="0"/>
              <a:t> est fort, plus la </a:t>
            </a:r>
            <a:r>
              <a:rPr dirty="0" err="1"/>
              <a:t>vérification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forte.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Éviter</a:t>
            </a:r>
            <a:r>
              <a:rPr dirty="0"/>
              <a:t> le </a:t>
            </a:r>
            <a:r>
              <a:rPr dirty="0" err="1"/>
              <a:t>discours</a:t>
            </a:r>
            <a:r>
              <a:rPr dirty="0"/>
              <a:t> de transformation </a:t>
            </a:r>
            <a:r>
              <a:rPr dirty="0" err="1"/>
              <a:t>totale</a:t>
            </a:r>
            <a:r>
              <a:rPr dirty="0"/>
              <a:t>. </a:t>
            </a:r>
            <a:r>
              <a:rPr dirty="0" err="1"/>
              <a:t>Ramener</a:t>
            </a:r>
            <a:r>
              <a:rPr dirty="0"/>
              <a:t> à des gains </a:t>
            </a:r>
            <a:r>
              <a:rPr dirty="0" err="1"/>
              <a:t>quotidiens</a:t>
            </a:r>
            <a:r>
              <a:rPr dirty="0"/>
              <a:t> : 15 minutes </a:t>
            </a:r>
            <a:r>
              <a:rPr dirty="0" err="1"/>
              <a:t>économisées</a:t>
            </a:r>
            <a:r>
              <a:rPr dirty="0"/>
              <a:t>, un message plus </a:t>
            </a:r>
            <a:r>
              <a:rPr dirty="0" err="1"/>
              <a:t>clair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procédure</a:t>
            </a:r>
            <a:r>
              <a:rPr dirty="0"/>
              <a:t> </a:t>
            </a:r>
            <a:r>
              <a:rPr dirty="0" err="1"/>
              <a:t>mieux</a:t>
            </a:r>
            <a:r>
              <a:rPr dirty="0"/>
              <a:t> </a:t>
            </a:r>
            <a:r>
              <a:rPr dirty="0" err="1"/>
              <a:t>structurée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Demander aux participants de </a:t>
            </a:r>
            <a:r>
              <a:rPr dirty="0" err="1"/>
              <a:t>choisir</a:t>
            </a:r>
            <a:r>
              <a:rPr dirty="0"/>
              <a:t> la famille qui les </a:t>
            </a:r>
            <a:r>
              <a:rPr dirty="0" err="1"/>
              <a:t>concerne</a:t>
            </a:r>
            <a:r>
              <a:rPr dirty="0"/>
              <a:t> le plus. Garder les </a:t>
            </a:r>
            <a:r>
              <a:rPr dirty="0" err="1"/>
              <a:t>réponses</a:t>
            </a:r>
            <a:r>
              <a:rPr dirty="0"/>
              <a:t> pour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Présenter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un panorama, pas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recommandation</a:t>
            </a:r>
            <a:r>
              <a:rPr dirty="0"/>
              <a:t> </a:t>
            </a:r>
            <a:r>
              <a:rPr dirty="0" err="1"/>
              <a:t>d'achat</a:t>
            </a:r>
            <a:r>
              <a:rPr dirty="0"/>
              <a:t>. </a:t>
            </a:r>
            <a:r>
              <a:rPr dirty="0" err="1"/>
              <a:t>Préciser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offres</a:t>
            </a:r>
            <a:r>
              <a:rPr dirty="0"/>
              <a:t> et conditions </a:t>
            </a:r>
            <a:r>
              <a:rPr dirty="0" err="1"/>
              <a:t>changent</a:t>
            </a:r>
            <a:r>
              <a:rPr dirty="0"/>
              <a:t> : </a:t>
            </a:r>
            <a:r>
              <a:rPr dirty="0" err="1"/>
              <a:t>vérifier</a:t>
            </a:r>
            <a:r>
              <a:rPr dirty="0"/>
              <a:t> avant usage </a:t>
            </a:r>
            <a:r>
              <a:rPr dirty="0" err="1"/>
              <a:t>professionnel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Rester</a:t>
            </a:r>
            <a:r>
              <a:rPr dirty="0"/>
              <a:t> prudent : ne pas </a:t>
            </a:r>
            <a:r>
              <a:rPr dirty="0" err="1"/>
              <a:t>promettre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fonctionnalité</a:t>
            </a:r>
            <a:r>
              <a:rPr dirty="0"/>
              <a:t> </a:t>
            </a:r>
            <a:r>
              <a:rPr dirty="0" err="1"/>
              <a:t>précise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dépend</a:t>
            </a:r>
            <a:r>
              <a:rPr dirty="0"/>
              <a:t> de la </a:t>
            </a:r>
            <a:r>
              <a:rPr dirty="0" err="1"/>
              <a:t>licence</a:t>
            </a:r>
            <a:r>
              <a:rPr dirty="0"/>
              <a:t>. Insister sur le </a:t>
            </a:r>
            <a:r>
              <a:rPr dirty="0" err="1"/>
              <a:t>modèle</a:t>
            </a:r>
            <a:r>
              <a:rPr dirty="0"/>
              <a:t> de permissions, </a:t>
            </a:r>
            <a:r>
              <a:rPr dirty="0" err="1"/>
              <a:t>l'administration</a:t>
            </a:r>
            <a:r>
              <a:rPr dirty="0"/>
              <a:t> et les </a:t>
            </a:r>
            <a:r>
              <a:rPr dirty="0" err="1"/>
              <a:t>réglages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Distribuer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montrer</a:t>
            </a:r>
            <a:r>
              <a:rPr dirty="0"/>
              <a:t> la </a:t>
            </a:r>
            <a:r>
              <a:rPr dirty="0" err="1"/>
              <a:t>matrice</a:t>
            </a:r>
            <a:r>
              <a:rPr dirty="0"/>
              <a:t> de choix. Faire un </a:t>
            </a:r>
            <a:r>
              <a:rPr dirty="0" err="1"/>
              <a:t>exemple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: </a:t>
            </a:r>
            <a:r>
              <a:rPr dirty="0" err="1"/>
              <a:t>rédiger</a:t>
            </a:r>
            <a:r>
              <a:rPr dirty="0"/>
              <a:t> un post avec données </a:t>
            </a:r>
            <a:r>
              <a:rPr dirty="0" err="1"/>
              <a:t>publiques</a:t>
            </a:r>
            <a:r>
              <a:rPr dirty="0"/>
              <a:t> versus </a:t>
            </a:r>
            <a:r>
              <a:rPr dirty="0" err="1"/>
              <a:t>analyser</a:t>
            </a:r>
            <a:r>
              <a:rPr dirty="0"/>
              <a:t> un </a:t>
            </a:r>
            <a:r>
              <a:rPr dirty="0" err="1"/>
              <a:t>fichier</a:t>
            </a:r>
            <a:r>
              <a:rPr dirty="0"/>
              <a:t>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</a:t>
            </a:r>
            <a:r>
              <a:rPr dirty="0" err="1"/>
              <a:t>écrire</a:t>
            </a:r>
            <a:r>
              <a:rPr dirty="0"/>
              <a:t> la </a:t>
            </a:r>
            <a:r>
              <a:rPr dirty="0" err="1"/>
              <a:t>formule</a:t>
            </a:r>
            <a:r>
              <a:rPr dirty="0"/>
              <a:t> CRAFT au tableau. </a:t>
            </a:r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recette</a:t>
            </a:r>
            <a:r>
              <a:rPr dirty="0"/>
              <a:t> </a:t>
            </a:r>
            <a:r>
              <a:rPr dirty="0" err="1"/>
              <a:t>rigide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checklist </a:t>
            </a:r>
            <a:r>
              <a:rPr dirty="0" err="1"/>
              <a:t>mentale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Projeter</a:t>
            </a:r>
            <a:r>
              <a:rPr dirty="0"/>
              <a:t> les deux prompts. Demander au </a:t>
            </a:r>
            <a:r>
              <a:rPr dirty="0" err="1"/>
              <a:t>groupe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manque dans le premier. Faire </a:t>
            </a:r>
            <a:r>
              <a:rPr dirty="0" err="1"/>
              <a:t>générer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lire deux sorties </a:t>
            </a:r>
            <a:r>
              <a:rPr dirty="0" err="1"/>
              <a:t>comparées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Ancrer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boucle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reviendra</a:t>
            </a:r>
            <a:r>
              <a:rPr dirty="0"/>
              <a:t> dans </a:t>
            </a:r>
            <a:r>
              <a:rPr dirty="0" err="1"/>
              <a:t>chaque</a:t>
            </a:r>
            <a:r>
              <a:rPr dirty="0"/>
              <a:t> TP. Faire </a:t>
            </a:r>
            <a:r>
              <a:rPr dirty="0" err="1"/>
              <a:t>répéter</a:t>
            </a:r>
            <a:r>
              <a:rPr dirty="0"/>
              <a:t> les trois mots. Donner un </a:t>
            </a:r>
            <a:r>
              <a:rPr dirty="0" err="1"/>
              <a:t>exemple</a:t>
            </a:r>
            <a:r>
              <a:rPr dirty="0"/>
              <a:t> avec </a:t>
            </a:r>
            <a:r>
              <a:rPr dirty="0" err="1"/>
              <a:t>une</a:t>
            </a:r>
            <a:r>
              <a:rPr dirty="0"/>
              <a:t> date, un prix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 métier à </a:t>
            </a:r>
            <a:r>
              <a:rPr dirty="0" err="1"/>
              <a:t>vérifier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</a:t>
            </a:r>
            <a:r>
              <a:rPr dirty="0" err="1"/>
              <a:t>travailler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binômes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certains</a:t>
            </a:r>
            <a:r>
              <a:rPr dirty="0"/>
              <a:t> </a:t>
            </a:r>
            <a:r>
              <a:rPr dirty="0" err="1"/>
              <a:t>n'ont</a:t>
            </a:r>
            <a:r>
              <a:rPr dirty="0"/>
              <a:t> pas </a:t>
            </a:r>
            <a:r>
              <a:rPr dirty="0" err="1"/>
              <a:t>d'accès</a:t>
            </a:r>
            <a:r>
              <a:rPr dirty="0"/>
              <a:t>. Le </a:t>
            </a:r>
            <a:r>
              <a:rPr dirty="0" err="1"/>
              <a:t>formateur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projeter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démonstration</a:t>
            </a:r>
            <a:r>
              <a:rPr dirty="0"/>
              <a:t> unique. Le but </a:t>
            </a:r>
            <a:r>
              <a:rPr dirty="0" err="1"/>
              <a:t>n'est</a:t>
            </a:r>
            <a:r>
              <a:rPr dirty="0"/>
              <a:t> pas la performance de </a:t>
            </a:r>
            <a:r>
              <a:rPr dirty="0" err="1"/>
              <a:t>l'outil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la </a:t>
            </a:r>
            <a:r>
              <a:rPr dirty="0" err="1"/>
              <a:t>logique</a:t>
            </a:r>
            <a:r>
              <a:rPr dirty="0"/>
              <a:t> de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Rappeler </a:t>
            </a:r>
            <a:r>
              <a:rPr dirty="0" err="1"/>
              <a:t>que</a:t>
            </a:r>
            <a:r>
              <a:rPr dirty="0"/>
              <a:t> les données du TP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fictives</a:t>
            </a:r>
            <a:r>
              <a:rPr dirty="0"/>
              <a:t>. Faire comparer deux productions : trop </a:t>
            </a:r>
            <a:r>
              <a:rPr dirty="0" err="1"/>
              <a:t>froide</a:t>
            </a:r>
            <a:r>
              <a:rPr dirty="0"/>
              <a:t>, trop </a:t>
            </a:r>
            <a:r>
              <a:rPr dirty="0" err="1"/>
              <a:t>insistante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version </a:t>
            </a:r>
            <a:r>
              <a:rPr dirty="0" err="1"/>
              <a:t>équilibrée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Insister sur la phrase « </a:t>
            </a:r>
            <a:r>
              <a:rPr dirty="0" err="1"/>
              <a:t>n'ajoute</a:t>
            </a:r>
            <a:r>
              <a:rPr dirty="0"/>
              <a:t> </a:t>
            </a:r>
            <a:r>
              <a:rPr dirty="0" err="1"/>
              <a:t>aucune</a:t>
            </a:r>
            <a:r>
              <a:rPr dirty="0"/>
              <a:t> information </a:t>
            </a:r>
            <a:r>
              <a:rPr dirty="0" err="1"/>
              <a:t>absente</a:t>
            </a:r>
            <a:r>
              <a:rPr dirty="0"/>
              <a:t> ». </a:t>
            </a:r>
            <a:r>
              <a:rPr dirty="0" err="1"/>
              <a:t>C'est</a:t>
            </a:r>
            <a:r>
              <a:rPr dirty="0"/>
              <a:t> un </a:t>
            </a:r>
            <a:r>
              <a:rPr dirty="0" err="1"/>
              <a:t>réflexe</a:t>
            </a:r>
            <a:r>
              <a:rPr dirty="0"/>
              <a:t> </a:t>
            </a:r>
            <a:r>
              <a:rPr dirty="0" err="1"/>
              <a:t>précieux</a:t>
            </a:r>
            <a:r>
              <a:rPr dirty="0"/>
              <a:t> pour les </a:t>
            </a:r>
            <a:r>
              <a:rPr dirty="0" err="1"/>
              <a:t>comptes</a:t>
            </a:r>
            <a:r>
              <a:rPr dirty="0"/>
              <a:t> </a:t>
            </a:r>
            <a:r>
              <a:rPr dirty="0" err="1"/>
              <a:t>rendus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</a:t>
            </a:r>
            <a:r>
              <a:rPr dirty="0" err="1"/>
              <a:t>remarquer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traduire</a:t>
            </a:r>
            <a:r>
              <a:rPr dirty="0"/>
              <a:t> et adapter ne </a:t>
            </a:r>
            <a:r>
              <a:rPr dirty="0" err="1"/>
              <a:t>sont</a:t>
            </a:r>
            <a:r>
              <a:rPr dirty="0"/>
              <a:t> pas la </a:t>
            </a:r>
            <a:r>
              <a:rPr dirty="0" err="1"/>
              <a:t>même</a:t>
            </a:r>
            <a:r>
              <a:rPr dirty="0"/>
              <a:t> chose. La </a:t>
            </a:r>
            <a:r>
              <a:rPr dirty="0" err="1"/>
              <a:t>cible</a:t>
            </a:r>
            <a:r>
              <a:rPr dirty="0"/>
              <a:t> change le </a:t>
            </a:r>
            <a:r>
              <a:rPr dirty="0" err="1"/>
              <a:t>vocabulaire</a:t>
            </a:r>
            <a:r>
              <a:rPr dirty="0"/>
              <a:t>, la longueur et les </a:t>
            </a:r>
            <a:r>
              <a:rPr dirty="0" err="1"/>
              <a:t>preuves</a:t>
            </a:r>
            <a:r>
              <a:rPr dirty="0"/>
              <a:t> à </a:t>
            </a:r>
            <a:r>
              <a:rPr dirty="0" err="1"/>
              <a:t>fournir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Prévenir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vrais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 clients ne </a:t>
            </a:r>
            <a:r>
              <a:rPr dirty="0" err="1"/>
              <a:t>sont</a:t>
            </a:r>
            <a:r>
              <a:rPr dirty="0"/>
              <a:t> pas </a:t>
            </a:r>
            <a:r>
              <a:rPr dirty="0" err="1"/>
              <a:t>utilisés</a:t>
            </a:r>
            <a:r>
              <a:rPr dirty="0"/>
              <a:t>.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qualité</a:t>
            </a:r>
            <a:r>
              <a:rPr dirty="0"/>
              <a:t> </a:t>
            </a:r>
            <a:r>
              <a:rPr dirty="0" err="1"/>
              <a:t>dépend</a:t>
            </a:r>
            <a:r>
              <a:rPr dirty="0"/>
              <a:t> de la structure </a:t>
            </a:r>
            <a:r>
              <a:rPr dirty="0" err="1"/>
              <a:t>demandée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accepter </a:t>
            </a:r>
            <a:r>
              <a:rPr dirty="0" err="1"/>
              <a:t>que</a:t>
            </a:r>
            <a:r>
              <a:rPr dirty="0"/>
              <a:t> le </a:t>
            </a:r>
            <a:r>
              <a:rPr dirty="0" err="1"/>
              <a:t>résultat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contenir</a:t>
            </a:r>
            <a:r>
              <a:rPr dirty="0"/>
              <a:t> des </a:t>
            </a:r>
            <a:r>
              <a:rPr dirty="0" err="1"/>
              <a:t>erreurs</a:t>
            </a:r>
            <a:r>
              <a:rPr dirty="0"/>
              <a:t>. La </a:t>
            </a:r>
            <a:r>
              <a:rPr dirty="0" err="1"/>
              <a:t>vraie</a:t>
            </a:r>
            <a:r>
              <a:rPr dirty="0"/>
              <a:t> </a:t>
            </a:r>
            <a:r>
              <a:rPr dirty="0" err="1"/>
              <a:t>compétence</a:t>
            </a:r>
            <a:r>
              <a:rPr dirty="0"/>
              <a:t> est de </a:t>
            </a:r>
            <a:r>
              <a:rPr dirty="0" err="1"/>
              <a:t>repérer</a:t>
            </a:r>
            <a:r>
              <a:rPr dirty="0"/>
              <a:t> les anomalies et de ne pas faire </a:t>
            </a:r>
            <a:r>
              <a:rPr dirty="0" err="1"/>
              <a:t>confiance</a:t>
            </a:r>
            <a:r>
              <a:rPr dirty="0"/>
              <a:t> </a:t>
            </a:r>
            <a:r>
              <a:rPr dirty="0" err="1"/>
              <a:t>aveuglément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Relier</a:t>
            </a:r>
            <a:r>
              <a:rPr dirty="0"/>
              <a:t> au </a:t>
            </a:r>
            <a:r>
              <a:rPr dirty="0" err="1"/>
              <a:t>quotidien</a:t>
            </a:r>
            <a:r>
              <a:rPr dirty="0"/>
              <a:t> des participants : </a:t>
            </a:r>
            <a:r>
              <a:rPr dirty="0" err="1"/>
              <a:t>accueil</a:t>
            </a:r>
            <a:r>
              <a:rPr dirty="0"/>
              <a:t> client, </a:t>
            </a:r>
            <a:r>
              <a:rPr dirty="0" err="1"/>
              <a:t>préparation</a:t>
            </a:r>
            <a:r>
              <a:rPr dirty="0"/>
              <a:t> de devis,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demande</a:t>
            </a:r>
            <a:r>
              <a:rPr dirty="0"/>
              <a:t>, </a:t>
            </a:r>
            <a:r>
              <a:rPr dirty="0" err="1"/>
              <a:t>rangement</a:t>
            </a:r>
            <a:r>
              <a:rPr dirty="0"/>
              <a:t> de </a:t>
            </a:r>
            <a:r>
              <a:rPr dirty="0" err="1"/>
              <a:t>fichiers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un tour </a:t>
            </a:r>
            <a:r>
              <a:rPr dirty="0" err="1"/>
              <a:t>rapide</a:t>
            </a:r>
            <a:r>
              <a:rPr dirty="0"/>
              <a:t> : </a:t>
            </a:r>
            <a:r>
              <a:rPr dirty="0" err="1"/>
              <a:t>chaque</a:t>
            </a:r>
            <a:r>
              <a:rPr dirty="0"/>
              <a:t> participant cite un usage possible et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précaution</a:t>
            </a:r>
            <a:r>
              <a:rPr dirty="0"/>
              <a:t>. Noter les usages pour le jour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Démarrer</a:t>
            </a:r>
            <a:r>
              <a:rPr dirty="0"/>
              <a:t> par 3 questions, sans </a:t>
            </a:r>
            <a:r>
              <a:rPr dirty="0" err="1"/>
              <a:t>refaire</a:t>
            </a:r>
            <a:r>
              <a:rPr dirty="0"/>
              <a:t> toute la </a:t>
            </a:r>
            <a:r>
              <a:rPr dirty="0" err="1"/>
              <a:t>veille</a:t>
            </a:r>
            <a:r>
              <a:rPr dirty="0"/>
              <a:t>. Faire </a:t>
            </a:r>
            <a:r>
              <a:rPr dirty="0" err="1"/>
              <a:t>parler</a:t>
            </a:r>
            <a:r>
              <a:rPr dirty="0"/>
              <a:t> les </a:t>
            </a:r>
            <a:r>
              <a:rPr dirty="0" err="1"/>
              <a:t>sceptiques</a:t>
            </a:r>
            <a:r>
              <a:rPr dirty="0"/>
              <a:t> sur les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observées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Utiliser</a:t>
            </a:r>
            <a:r>
              <a:rPr dirty="0"/>
              <a:t> les </a:t>
            </a:r>
            <a:r>
              <a:rPr dirty="0" err="1"/>
              <a:t>exemples</a:t>
            </a:r>
            <a:r>
              <a:rPr dirty="0"/>
              <a:t> </a:t>
            </a:r>
            <a:r>
              <a:rPr dirty="0" err="1"/>
              <a:t>notés</a:t>
            </a:r>
            <a:r>
              <a:rPr dirty="0"/>
              <a:t> la </a:t>
            </a:r>
            <a:r>
              <a:rPr dirty="0" err="1"/>
              <a:t>veille</a:t>
            </a:r>
            <a:r>
              <a:rPr dirty="0"/>
              <a:t>. Transformer </a:t>
            </a:r>
            <a:r>
              <a:rPr dirty="0" err="1"/>
              <a:t>une</a:t>
            </a:r>
            <a:r>
              <a:rPr dirty="0"/>
              <a:t> idée vague, par </a:t>
            </a:r>
            <a:r>
              <a:rPr dirty="0" err="1"/>
              <a:t>exemple</a:t>
            </a:r>
            <a:r>
              <a:rPr dirty="0"/>
              <a:t> « faire du marketing »,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tâche</a:t>
            </a:r>
            <a:r>
              <a:rPr dirty="0"/>
              <a:t>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citer un message </a:t>
            </a:r>
            <a:r>
              <a:rPr dirty="0" err="1"/>
              <a:t>récent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participants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dû</a:t>
            </a:r>
            <a:r>
              <a:rPr dirty="0"/>
              <a:t> </a:t>
            </a:r>
            <a:r>
              <a:rPr dirty="0" err="1"/>
              <a:t>rédiger</a:t>
            </a:r>
            <a:r>
              <a:rPr dirty="0"/>
              <a:t>. </a:t>
            </a:r>
            <a:r>
              <a:rPr dirty="0" err="1"/>
              <a:t>Montrer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contraintes</a:t>
            </a:r>
            <a:r>
              <a:rPr dirty="0"/>
              <a:t> de canal </a:t>
            </a:r>
            <a:r>
              <a:rPr dirty="0" err="1"/>
              <a:t>changent</a:t>
            </a:r>
            <a:r>
              <a:rPr dirty="0"/>
              <a:t> la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Insister sur les </a:t>
            </a:r>
            <a:r>
              <a:rPr dirty="0" err="1"/>
              <a:t>limites</a:t>
            </a:r>
            <a:r>
              <a:rPr dirty="0"/>
              <a:t> de </a:t>
            </a:r>
            <a:r>
              <a:rPr dirty="0" err="1"/>
              <a:t>l'automatisation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relation client : ne pas </a:t>
            </a:r>
            <a:r>
              <a:rPr dirty="0" err="1"/>
              <a:t>laisser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réponse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</a:t>
            </a:r>
            <a:r>
              <a:rPr dirty="0" err="1"/>
              <a:t>gérer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situation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Accompagner</a:t>
            </a:r>
            <a:r>
              <a:rPr dirty="0"/>
              <a:t> les </a:t>
            </a:r>
            <a:r>
              <a:rPr dirty="0" err="1"/>
              <a:t>débutants</a:t>
            </a:r>
            <a:r>
              <a:rPr dirty="0"/>
              <a:t> avec des </a:t>
            </a:r>
            <a:r>
              <a:rPr dirty="0" err="1"/>
              <a:t>exemples</a:t>
            </a:r>
            <a:r>
              <a:rPr dirty="0"/>
              <a:t> métiers. Pour les plus </a:t>
            </a:r>
            <a:r>
              <a:rPr dirty="0" err="1"/>
              <a:t>avancés</a:t>
            </a:r>
            <a:r>
              <a:rPr dirty="0"/>
              <a:t>, demander de </a:t>
            </a:r>
            <a:r>
              <a:rPr dirty="0" err="1"/>
              <a:t>préciser</a:t>
            </a:r>
            <a:r>
              <a:rPr dirty="0"/>
              <a:t> le processus </a:t>
            </a:r>
            <a:r>
              <a:rPr dirty="0" err="1"/>
              <a:t>complet</a:t>
            </a:r>
            <a:r>
              <a:rPr dirty="0"/>
              <a:t> et </a:t>
            </a:r>
            <a:r>
              <a:rPr dirty="0" err="1"/>
              <a:t>l'indicateur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placer un </a:t>
            </a:r>
            <a:r>
              <a:rPr dirty="0" err="1"/>
              <a:t>exemple</a:t>
            </a:r>
            <a:r>
              <a:rPr dirty="0"/>
              <a:t> sur la </a:t>
            </a:r>
            <a:r>
              <a:rPr dirty="0" err="1"/>
              <a:t>matrice</a:t>
            </a:r>
            <a:r>
              <a:rPr dirty="0"/>
              <a:t>. Un </a:t>
            </a:r>
            <a:r>
              <a:rPr dirty="0" err="1"/>
              <a:t>cas</a:t>
            </a:r>
            <a:r>
              <a:rPr dirty="0"/>
              <a:t> à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élevé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interdit</a:t>
            </a:r>
            <a:r>
              <a:rPr dirty="0"/>
              <a:t> par </a:t>
            </a:r>
            <a:r>
              <a:rPr dirty="0" err="1"/>
              <a:t>principe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il sort du premier </a:t>
            </a:r>
            <a:r>
              <a:rPr dirty="0" err="1"/>
              <a:t>pilote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concret</a:t>
            </a:r>
            <a:r>
              <a:rPr dirty="0"/>
              <a:t>. </a:t>
            </a:r>
            <a:r>
              <a:rPr dirty="0" err="1"/>
              <a:t>Utiliser</a:t>
            </a:r>
            <a:r>
              <a:rPr dirty="0"/>
              <a:t> le feu </a:t>
            </a:r>
            <a:r>
              <a:rPr dirty="0" err="1"/>
              <a:t>tricolore</a:t>
            </a:r>
            <a:r>
              <a:rPr dirty="0"/>
              <a:t>. </a:t>
            </a:r>
            <a:r>
              <a:rPr dirty="0" err="1"/>
              <a:t>Éviter</a:t>
            </a:r>
            <a:r>
              <a:rPr dirty="0"/>
              <a:t> le jargon </a:t>
            </a:r>
            <a:r>
              <a:rPr dirty="0" err="1"/>
              <a:t>juridique</a:t>
            </a:r>
            <a:r>
              <a:rPr dirty="0"/>
              <a:t> et rappeler </a:t>
            </a:r>
            <a:r>
              <a:rPr dirty="0" err="1"/>
              <a:t>que</a:t>
            </a:r>
            <a:r>
              <a:rPr dirty="0"/>
              <a:t> la bonne question est : ai-je </a:t>
            </a:r>
            <a:r>
              <a:rPr dirty="0" err="1"/>
              <a:t>besoin</a:t>
            </a:r>
            <a:r>
              <a:rPr dirty="0"/>
              <a:t> de </a:t>
            </a:r>
            <a:r>
              <a:rPr dirty="0" err="1"/>
              <a:t>cette</a:t>
            </a:r>
            <a:r>
              <a:rPr dirty="0"/>
              <a:t> donnée pour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tâche</a:t>
            </a:r>
            <a:r>
              <a:rPr dirty="0"/>
              <a:t>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Ne pas </a:t>
            </a:r>
            <a:r>
              <a:rPr dirty="0" err="1"/>
              <a:t>détailler</a:t>
            </a:r>
            <a:r>
              <a:rPr dirty="0"/>
              <a:t> tout le </a:t>
            </a:r>
            <a:r>
              <a:rPr dirty="0" err="1"/>
              <a:t>règlement</a:t>
            </a:r>
            <a:r>
              <a:rPr dirty="0"/>
              <a:t>. Faire le lien avec </a:t>
            </a:r>
            <a:r>
              <a:rPr dirty="0" err="1"/>
              <a:t>l'objectif</a:t>
            </a:r>
            <a:r>
              <a:rPr dirty="0"/>
              <a:t> de la formation : </a:t>
            </a:r>
            <a:r>
              <a:rPr dirty="0" err="1"/>
              <a:t>utiliser</a:t>
            </a:r>
            <a:r>
              <a:rPr dirty="0"/>
              <a:t> </a:t>
            </a:r>
            <a:r>
              <a:rPr dirty="0" err="1"/>
              <a:t>l'IA</a:t>
            </a:r>
            <a:r>
              <a:rPr dirty="0"/>
              <a:t> avec </a:t>
            </a:r>
            <a:r>
              <a:rPr dirty="0" err="1"/>
              <a:t>compétence</a:t>
            </a:r>
            <a:r>
              <a:rPr dirty="0"/>
              <a:t> et prudence.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Faire classer trois </a:t>
            </a:r>
            <a:r>
              <a:rPr dirty="0" err="1"/>
              <a:t>exemples</a:t>
            </a:r>
            <a:r>
              <a:rPr dirty="0"/>
              <a:t> par le </a:t>
            </a:r>
            <a:r>
              <a:rPr dirty="0" err="1"/>
              <a:t>groupe</a:t>
            </a:r>
            <a:r>
              <a:rPr dirty="0"/>
              <a:t>. </a:t>
            </a:r>
            <a:r>
              <a:rPr dirty="0" err="1"/>
              <a:t>Corriger</a:t>
            </a:r>
            <a:r>
              <a:rPr dirty="0"/>
              <a:t> sans </a:t>
            </a:r>
            <a:r>
              <a:rPr dirty="0" err="1"/>
              <a:t>dramatiser</a:t>
            </a:r>
            <a:r>
              <a:rPr dirty="0"/>
              <a:t> : un devis </a:t>
            </a:r>
            <a:r>
              <a:rPr dirty="0" err="1"/>
              <a:t>nominatif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réclamation</a:t>
            </a:r>
            <a:r>
              <a:rPr dirty="0"/>
              <a:t> client est au minimum orange, </a:t>
            </a:r>
            <a:r>
              <a:rPr dirty="0" err="1"/>
              <a:t>souvent</a:t>
            </a:r>
            <a:r>
              <a:rPr dirty="0"/>
              <a:t> à </a:t>
            </a:r>
            <a:r>
              <a:rPr dirty="0" err="1"/>
              <a:t>exclure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gratuit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Introduire</a:t>
            </a:r>
            <a:r>
              <a:rPr dirty="0"/>
              <a:t> </a:t>
            </a:r>
            <a:r>
              <a:rPr dirty="0" err="1"/>
              <a:t>l'idée</a:t>
            </a:r>
            <a:r>
              <a:rPr dirty="0"/>
              <a:t> de </a:t>
            </a:r>
            <a:r>
              <a:rPr dirty="0" err="1"/>
              <a:t>seuil</a:t>
            </a:r>
            <a:r>
              <a:rPr dirty="0"/>
              <a:t> : un post interne </a:t>
            </a:r>
            <a:r>
              <a:rPr dirty="0" err="1"/>
              <a:t>n'a</a:t>
            </a:r>
            <a:r>
              <a:rPr dirty="0"/>
              <a:t> pas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/>
              <a:t>courrier</a:t>
            </a:r>
            <a:r>
              <a:rPr dirty="0"/>
              <a:t> </a:t>
            </a:r>
            <a:r>
              <a:rPr dirty="0" err="1"/>
              <a:t>juridique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réponse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réclamation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Donner un </a:t>
            </a:r>
            <a:r>
              <a:rPr dirty="0" err="1"/>
              <a:t>exemple</a:t>
            </a:r>
            <a:r>
              <a:rPr dirty="0"/>
              <a:t> de mini-</a:t>
            </a:r>
            <a:r>
              <a:rPr dirty="0" err="1"/>
              <a:t>charte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5 </a:t>
            </a:r>
            <a:r>
              <a:rPr dirty="0" err="1"/>
              <a:t>lignes</a:t>
            </a:r>
            <a:r>
              <a:rPr dirty="0"/>
              <a:t>. Faire </a:t>
            </a:r>
            <a:r>
              <a:rPr dirty="0" err="1"/>
              <a:t>comprendre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gouvernance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légère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explicite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 sur la sobriété. L'achat d'un outil ne corrige pas un processus flou.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Prévoir du silence de travail. Passer dans les groupes pour vérifier que le cas est assez précis et que la donnée est cadrée.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Distribuer la grille sommative. Faire une relecture croisée en binôme avant collecte ou restitution.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rapidement les fiches disponibles. Encourager les participants à choisir une seule action à mener la semaine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Faire écrire la première action sous 7 jours. Recueillir les questions finales et faire compléter la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FD90ECF-81E2-43C0-B1D6-C917D77AA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C92FE-A777-4562-BF9B-1582C11756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958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499B1-61D9-46CC-8436-CDE9FF329918}"/>
              </a:ext>
            </a:extLst>
          </p:cNvPr>
          <p:cNvSpPr>
            <a:spLocks noGrp="1"/>
          </p:cNvSpPr>
          <p:nvPr/>
        </p:nvSpPr>
        <p:spPr>
          <a:xfrm>
            <a:off x="4495800" y="0"/>
            <a:ext cx="2286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83C665-C5C8-4B50-B964-A9722853F80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7E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CFF"/>
                </a:solidFill>
                <a:latin typeface="Aptos"/>
                <a:ea typeface="Aptos"/>
                <a:cs typeface="Aptos"/>
              </a:rPr>
              <a:t>1 et 2 juin 2026 - 8h30 à 12h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FB62A-F5AF-4028-ADCF-430ADD5412FD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35433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Initiation à l'Intelligence Artificielle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55B31-AAD4-480F-ADA2-FE7BE9997C0A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3524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E8F4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F4FF"/>
                </a:solidFill>
                <a:latin typeface="Aptos"/>
                <a:ea typeface="Aptos"/>
                <a:cs typeface="Aptos"/>
              </a:rPr>
              <a:t>Comprendre, tester et intégrer l'IA dans une pratique professionnelle de TPME.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AD641B0-6EBC-4B1A-8454-4E1CB78AF793}"/>
              </a:ext>
            </a:extLst>
          </p:cNvPr>
          <p:cNvSpPr>
            <a:spLocks noGrp="1"/>
          </p:cNvSpPr>
          <p:nvPr/>
        </p:nvSpPr>
        <p:spPr>
          <a:xfrm>
            <a:off x="6838950" y="1200150"/>
            <a:ext cx="38862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D7E2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90C06-381E-4FBA-96E8-849A67E0EB58}"/>
              </a:ext>
            </a:extLst>
          </p:cNvPr>
          <p:cNvSpPr>
            <a:spLocks noGrp="1"/>
          </p:cNvSpPr>
          <p:nvPr/>
        </p:nvSpPr>
        <p:spPr>
          <a:xfrm>
            <a:off x="7219950" y="15811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Cap de la 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3CDF55-5CCE-49B1-B351-4E9F1BC9CE93}"/>
              </a:ext>
            </a:extLst>
          </p:cNvPr>
          <p:cNvSpPr>
            <a:spLocks noGrp="1"/>
          </p:cNvSpPr>
          <p:nvPr/>
        </p:nvSpPr>
        <p:spPr>
          <a:xfrm>
            <a:off x="7219950" y="1943100"/>
            <a:ext cx="3048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006" lnSpcReduction="10000"/>
          </a:bodyPr>
          <a:lstStyle/>
          <a:p>
            <a:pPr algn="l">
              <a:defRPr sz="2025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Objectif : repartir avec des usages concrets, prudents et immédiatement testables.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945FB-4E1E-4525-A82F-FD654B05119E}"/>
              </a:ext>
            </a:extLst>
          </p:cNvPr>
          <p:cNvSpPr>
            <a:spLocks noGrp="1"/>
          </p:cNvSpPr>
          <p:nvPr/>
        </p:nvSpPr>
        <p:spPr>
          <a:xfrm>
            <a:off x="7219950" y="42291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Présentiel - 7 heures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D17EB4-C72C-4907-A0DE-E8BA52404A8A}"/>
              </a:ext>
            </a:extLst>
          </p:cNvPr>
          <p:cNvSpPr>
            <a:spLocks noGrp="1"/>
          </p:cNvSpPr>
          <p:nvPr/>
        </p:nvSpPr>
        <p:spPr>
          <a:xfrm>
            <a:off x="7219950" y="4610100"/>
            <a:ext cx="3048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627386"/>
                </a:solidFill>
                <a:latin typeface="Aptos"/>
                <a:ea typeface="Aptos"/>
                <a:cs typeface="Aptos"/>
              </a:rPr>
              <a:t>Saint-Martin</a:t>
            </a:r>
            <a:br>
              <a:rPr lang="fr-FR" sz="1275" dirty="0">
                <a:solidFill>
                  <a:srgbClr val="627386"/>
                </a:solidFill>
                <a:latin typeface="Aptos"/>
                <a:ea typeface="Aptos"/>
                <a:cs typeface="Aptos"/>
              </a:rPr>
            </a:br>
            <a:br>
              <a:rPr lang="fr-FR" sz="1275" dirty="0">
                <a:solidFill>
                  <a:srgbClr val="627386"/>
                </a:solidFill>
                <a:latin typeface="Aptos"/>
                <a:ea typeface="Aptos"/>
                <a:cs typeface="Aptos"/>
              </a:rPr>
            </a:br>
            <a:br>
              <a:rPr lang="fr-FR" sz="1275" dirty="0">
                <a:solidFill>
                  <a:srgbClr val="627386"/>
                </a:solidFill>
                <a:latin typeface="Aptos"/>
                <a:ea typeface="Aptos"/>
                <a:cs typeface="Aptos"/>
              </a:rPr>
            </a:br>
            <a:r>
              <a:rPr lang="fr-FR" sz="2000" b="1" dirty="0">
                <a:solidFill>
                  <a:srgbClr val="627386"/>
                </a:solidFill>
                <a:latin typeface="Aptos"/>
                <a:ea typeface="Aptos"/>
                <a:cs typeface="Aptos"/>
              </a:rPr>
              <a:t>https://</a:t>
            </a:r>
            <a:r>
              <a:rPr lang="fr-FR" sz="2000" b="1" dirty="0" err="1">
                <a:solidFill>
                  <a:srgbClr val="627386"/>
                </a:solidFill>
                <a:latin typeface="Aptos"/>
                <a:ea typeface="Aptos"/>
                <a:cs typeface="Aptos"/>
              </a:rPr>
              <a:t>tinyurl.com</a:t>
            </a:r>
            <a:r>
              <a:rPr lang="fr-FR" sz="2000" b="1" dirty="0">
                <a:solidFill>
                  <a:srgbClr val="627386"/>
                </a:solidFill>
                <a:latin typeface="Aptos"/>
                <a:ea typeface="Aptos"/>
                <a:cs typeface="Aptos"/>
              </a:rPr>
              <a:t>/</a:t>
            </a:r>
            <a:r>
              <a:rPr lang="fr-FR" sz="2000" b="1" dirty="0" err="1">
                <a:solidFill>
                  <a:srgbClr val="627386"/>
                </a:solidFill>
                <a:latin typeface="Aptos"/>
                <a:ea typeface="Aptos"/>
                <a:cs typeface="Aptos"/>
              </a:rPr>
              <a:t>iasxm</a:t>
            </a:r>
            <a:endParaRPr sz="2000" b="1" dirty="0">
              <a:solidFill>
                <a:srgbClr val="627386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A1CF3C5-9865-4FF2-A60E-EA91498F35FF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D7EC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CFF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230F9-5967-44F9-9EB3-04E598DE0E9B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D7EC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CFF"/>
                </a:solidFill>
                <a:latin typeface="Aptos"/>
                <a:ea typeface="Aptos"/>
                <a:cs typeface="Aptos"/>
              </a:rPr>
              <a:t>1/41</a:t>
            </a:r>
          </a:p>
        </p:txBody>
      </p:sp>
    </p:spTree>
    <p:extLst>
      <p:ext uri="{BB962C8B-B14F-4D97-AF65-F5344CB8AC3E}">
        <p14:creationId xmlns:p14="http://schemas.microsoft.com/office/powerpoint/2010/main" val="83886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77E907C-BB5A-4A1C-ABCD-2CF47D1BF4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E235D2-76A4-4A4E-89D3-F3EAD307C1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5BA15-37BA-46C3-8C47-B2D5ADF75FA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E7A69-CC2F-404E-A39A-B9D3DB7C72F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Cap pédagogique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1B634-4B91-4C55-A8E9-4E42D3AAB85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E0F32-C8EA-403F-B188-858B2F10617E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B60C9-56E7-4F69-A4AC-12BBE98A9AA2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592208-FCAC-4784-99A1-64266E14245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Ce que vous saurez faire à la fin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3CC4A-0AA8-450E-9688-5E6700E2EAD8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formation vise une autonomie raisonnable, pas une expertise technique.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9D0E0B0-F183-47E6-AB13-9A98D746F8C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0546DF-9742-49DC-B0A7-25F8C6F4E55E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DC0F50-F812-4B0D-8066-5A6447E1D712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Expliquer simplement ce qu'est l'IA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E6515C-A098-4DE8-84A3-2DD8327E46BC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0A3E7-37D3-4405-ADAD-3492CD2E21EA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61F74-9B85-4954-BD90-DE2B48E0FBEA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Identifier atouts, limites et risques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E80832E-5AD1-42C9-A6C6-656EA086050C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C25B7-4045-4D7B-9C33-789878FECCEB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232FC9-E25A-469F-8931-BB6FA0DF3F30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Tester des outils accessibles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1F8002D-AC50-49A9-B122-9A7EB9A7B8A3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908C99-768D-4BF3-8EFC-8C01638B8FB9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49EF62-5503-4974-A686-E830AF9AE933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Repérer des cas d'usage utiles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54491A0-2DE5-4C38-AF34-E5E57D0EF56E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DF4CF9-C808-41EB-B4BF-E623DA16135D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442BD0-7057-43AD-A84E-ECAE5C53D62B}"/>
              </a:ext>
            </a:extLst>
          </p:cNvPr>
          <p:cNvSpPr>
            <a:spLocks noGrp="1"/>
          </p:cNvSpPr>
          <p:nvPr/>
        </p:nvSpPr>
        <p:spPr>
          <a:xfrm>
            <a:off x="443865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Définir un plan d'intégration progressif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0DADFB8-E129-4C2B-B091-5F41C1539548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257F85-C43F-4282-B05B-A275390610E1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883990-CEB8-4975-91BF-C8C47B8C448A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B75109-4207-41F6-B49D-EB8251FD71F3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compétence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clé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: savoir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quand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utiliser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l'IA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, comment la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cadrer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et comment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vérifier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949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E612AF7-49BB-4575-92A9-C7FF351164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786F93-97F4-44EC-BBB8-F1C6255D30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64A2D-3BB2-4899-AC7E-61E7FF1D827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DA9F64-B565-4436-A027-08D6FEAA6F0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Règles du jeu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2F4F2-E43C-475B-B52E-B2AA5B815DC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C06BD-E362-417B-B024-55FBF07DEA2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7BB67-0DB2-4ABB-BAB0-F81097895685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493237-D9B8-4539-A46A-1863B11AC93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On expérimente, mais sans données sensibles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A714F-EDA4-4FB1-9DE5-F17F014007EF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ateliers utilisent des cas réalistes, pas de vrais dossiers clients.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4F38EF4-4C64-43AC-83EC-4DFDA251E676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BA630A-40EE-4C9E-834D-59796941EA94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Pas de noms de clients réels, salaires, santé, litiges ou contrats confidentiels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C1F8DA4-B342-40D3-A570-A682B7273278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56D730-18AD-4790-9BC6-3CDC6A0292A5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Un outil gratuit reste réservé aux données publiques, fictives ou anonymisées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EE87CB5-9875-4780-8EE3-B9A55B451190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9537C-A296-4D49-91D9-C723B55EFE20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Une réponse IA se relit, se vérifie et se corrige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C9544F1-EDBA-40F5-A225-68A02A5BD455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EC9049-4E01-4853-BF6B-6854B7BB4C42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C7C078-3432-4CF3-8255-44A9AE55A016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BBEEE-B21C-4E39-9141-81EA67E65729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Si </a:t>
            </a:r>
            <a:r>
              <a:rPr sz="1650" b="1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l'information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fr-FR"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est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50" b="1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gênante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dans un email public, </a:t>
            </a:r>
            <a:r>
              <a:rPr sz="1650" b="1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elle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ne </a:t>
            </a:r>
            <a:r>
              <a:rPr sz="1650" b="1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va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pas dans un chatbot </a:t>
            </a:r>
            <a:r>
              <a:rPr sz="1650" b="1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gratuit</a:t>
            </a:r>
            <a:r>
              <a:rPr sz="1650" b="1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41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7862DF7-032A-4B81-8DD6-BC47862115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C40A2-9F27-4779-9343-19C29CDEFD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4B468-6883-40D8-AF15-B85BABF5FB6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5DF47-EF85-401B-AF8F-97F22753C60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Positionnement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C6EAD-390B-4172-8F98-748C36C3642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B3849-57DB-4073-BF47-5D474D39864C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A4C4D-2B08-494E-8023-8D29D4128565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4/41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506A977-A1F5-4B59-9699-D7505EDE6A7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Votre point de départ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EC5695-4F9F-44BA-90C0-4020FAC68D77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Quelques questions rapides permettent d'adapter les exemples.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23AF806-5E2E-4E8A-A280-0C2FD59223BC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FC3992-8EE3-4510-801B-5B66C7B5D706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Avez-vous déjà utilisé un chatbot IA ?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39C7E2B-268D-477E-83E4-FD20CCEBB378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69C415-7DC8-4C43-9427-156D99131F2F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Pour quelle tâche : rédiger, chercher, résumer, créer ?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C091320-2B3D-4877-8B50-2C23FE47D1BD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43C961-7D3B-4085-B760-38D8C1DF441D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Qu'est-ce qui vous attire ou vous inquiète ?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2223F34-31BC-4B96-93E9-5B1CD2CA9CB9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218677-3923-468C-B9C5-F602B331CCD2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Quelle tâche répétitive aimeriez-vous améliorer ?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4507422-85FA-4C13-B545-AE016654BBF8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A86C99-88C5-4397-848B-4C7F57E744D6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89F3BF-6897-48FA-8D18-526CDEC85251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C63A3-8E9E-4DD9-A760-65EAC877475B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On cherche un niveau de départ, pas une note.</a:t>
            </a:r>
          </a:p>
        </p:txBody>
      </p:sp>
    </p:spTree>
    <p:extLst>
      <p:ext uri="{BB962C8B-B14F-4D97-AF65-F5344CB8AC3E}">
        <p14:creationId xmlns:p14="http://schemas.microsoft.com/office/powerpoint/2010/main" val="51428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A700239-613E-4A08-B801-626993DE58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3C467-8355-440C-86FC-D1C2BCCAC4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03C40-5EEC-44EA-812A-76B498760C0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OUVERTURE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BF1DD-DCBE-4FEE-80A6-B73108F34A9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Programme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12706B-9FC3-4D6C-B2D9-A6A561B0F42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3025A-EAFB-43D8-9495-77DEF7741D48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B7921-F2EE-4098-823C-A80C6A28713B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5/41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38269A7-BC21-42E7-BEF4-996E13343B1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Deux demi-journées pour passer du test au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7927D7-E5BC-434C-9A5E-331F88C7D98C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Jour 1 : comprendre et pratiquer. Jour 2 : intégrer et sécuriser.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E0764-98FD-4596-8235-17533BAAA3CE}"/>
              </a:ext>
            </a:extLst>
          </p:cNvPr>
          <p:cNvSpPr>
            <a:spLocks noGrp="1"/>
          </p:cNvSpPr>
          <p:nvPr/>
        </p:nvSpPr>
        <p:spPr>
          <a:xfrm>
            <a:off x="1047750" y="3581400"/>
            <a:ext cx="9429750" cy="38100"/>
          </a:xfrm>
          <a:prstGeom prst="rect">
            <a:avLst/>
          </a:prstGeom>
          <a:solidFill>
            <a:srgbClr val="D7E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6594CF2-CA35-44FB-ABD9-3BBA3E631A1D}"/>
              </a:ext>
            </a:extLst>
          </p:cNvPr>
          <p:cNvSpPr>
            <a:spLocks noGrp="1"/>
          </p:cNvSpPr>
          <p:nvPr/>
        </p:nvSpPr>
        <p:spPr>
          <a:xfrm>
            <a:off x="1047750" y="3409950"/>
            <a:ext cx="400050" cy="4000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E680A-D8CF-40D7-92D2-157F9DAB05BC}"/>
              </a:ext>
            </a:extLst>
          </p:cNvPr>
          <p:cNvSpPr>
            <a:spLocks noGrp="1"/>
          </p:cNvSpPr>
          <p:nvPr/>
        </p:nvSpPr>
        <p:spPr>
          <a:xfrm>
            <a:off x="1047750" y="3495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691A5-112E-428E-A752-6B682EDFABB9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238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Jour 1 : définition, enjeux, outils, premiers prompts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35E114E-2EE3-47C0-9054-B60B19E701A6}"/>
              </a:ext>
            </a:extLst>
          </p:cNvPr>
          <p:cNvSpPr>
            <a:spLocks noGrp="1"/>
          </p:cNvSpPr>
          <p:nvPr/>
        </p:nvSpPr>
        <p:spPr>
          <a:xfrm>
            <a:off x="4095750" y="3409950"/>
            <a:ext cx="400050" cy="4000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518D8-84E6-41A2-AF76-CB6F7F177432}"/>
              </a:ext>
            </a:extLst>
          </p:cNvPr>
          <p:cNvSpPr>
            <a:spLocks noGrp="1"/>
          </p:cNvSpPr>
          <p:nvPr/>
        </p:nvSpPr>
        <p:spPr>
          <a:xfrm>
            <a:off x="4095750" y="3495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3B659-6A20-4593-948B-366B623F175C}"/>
              </a:ext>
            </a:extLst>
          </p:cNvPr>
          <p:cNvSpPr>
            <a:spLocks noGrp="1"/>
          </p:cNvSpPr>
          <p:nvPr/>
        </p:nvSpPr>
        <p:spPr>
          <a:xfrm>
            <a:off x="3924300" y="3981450"/>
            <a:ext cx="238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Jour 1 : email, résumé, adaptation, tableaux et checklists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640276D-3052-46A5-8BEA-2F7D696CD93B}"/>
              </a:ext>
            </a:extLst>
          </p:cNvPr>
          <p:cNvSpPr>
            <a:spLocks noGrp="1"/>
          </p:cNvSpPr>
          <p:nvPr/>
        </p:nvSpPr>
        <p:spPr>
          <a:xfrm>
            <a:off x="7143750" y="3409950"/>
            <a:ext cx="400050" cy="4000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B0AD5F-F139-463E-ACDB-0158EB2F0B9A}"/>
              </a:ext>
            </a:extLst>
          </p:cNvPr>
          <p:cNvSpPr>
            <a:spLocks noGrp="1"/>
          </p:cNvSpPr>
          <p:nvPr/>
        </p:nvSpPr>
        <p:spPr>
          <a:xfrm>
            <a:off x="7143750" y="3495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31BB3-5123-4413-B50A-D77F23BE2D8A}"/>
              </a:ext>
            </a:extLst>
          </p:cNvPr>
          <p:cNvSpPr>
            <a:spLocks noGrp="1"/>
          </p:cNvSpPr>
          <p:nvPr/>
        </p:nvSpPr>
        <p:spPr>
          <a:xfrm>
            <a:off x="6972300" y="3981450"/>
            <a:ext cx="238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Jour 2 : cas d'usage TPME, risques, RGPD, choix d'outils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EE15EBA-5DAA-407D-99C6-68903CED133F}"/>
              </a:ext>
            </a:extLst>
          </p:cNvPr>
          <p:cNvSpPr>
            <a:spLocks noGrp="1"/>
          </p:cNvSpPr>
          <p:nvPr/>
        </p:nvSpPr>
        <p:spPr>
          <a:xfrm>
            <a:off x="10191750" y="3409950"/>
            <a:ext cx="400050" cy="4000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85528C-C628-4966-8456-97CB3DA0B429}"/>
              </a:ext>
            </a:extLst>
          </p:cNvPr>
          <p:cNvSpPr>
            <a:spLocks noGrp="1"/>
          </p:cNvSpPr>
          <p:nvPr/>
        </p:nvSpPr>
        <p:spPr>
          <a:xfrm>
            <a:off x="10191750" y="3495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B48144-F1C0-4219-AC98-037F38AF6851}"/>
              </a:ext>
            </a:extLst>
          </p:cNvPr>
          <p:cNvSpPr>
            <a:spLocks noGrp="1"/>
          </p:cNvSpPr>
          <p:nvPr/>
        </p:nvSpPr>
        <p:spPr>
          <a:xfrm>
            <a:off x="10020300" y="3981450"/>
            <a:ext cx="238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12033"/>
                </a:solidFill>
                <a:latin typeface="Aptos"/>
                <a:ea typeface="Aptos"/>
                <a:cs typeface="Aptos"/>
              </a:rPr>
              <a:t>Jour 2 : plan d'action </a:t>
            </a:r>
            <a:endParaRPr lang="fr-FR" sz="1350" b="0" dirty="0">
              <a:solidFill>
                <a:srgbClr val="112033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112033"/>
                </a:solidFill>
                <a:latin typeface="Aptos"/>
                <a:ea typeface="Aptos"/>
                <a:cs typeface="Aptos"/>
              </a:rPr>
              <a:t>individuel</a:t>
            </a:r>
            <a:r>
              <a:rPr sz="1350" b="0" dirty="0">
                <a:solidFill>
                  <a:srgbClr val="112033"/>
                </a:solidFill>
                <a:latin typeface="Aptos"/>
                <a:ea typeface="Aptos"/>
                <a:cs typeface="Aptos"/>
              </a:rPr>
              <a:t> et </a:t>
            </a:r>
            <a:r>
              <a:rPr sz="1350" b="0" dirty="0" err="1">
                <a:solidFill>
                  <a:srgbClr val="112033"/>
                </a:solidFill>
                <a:latin typeface="Aptos"/>
                <a:ea typeface="Aptos"/>
                <a:cs typeface="Aptos"/>
              </a:rPr>
              <a:t>évaluation</a:t>
            </a:r>
            <a:endParaRPr sz="1350" b="0" dirty="0">
              <a:solidFill>
                <a:srgbClr val="1120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6043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0A0CF3D-C426-45BB-B95E-C02DFB6382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EF642-D8F3-4B8B-ACB3-1CC4E9C4D0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18220-79A8-4FC5-B906-BF7ADEED205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85216-487C-45B0-8DA9-E8B3980229D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Démystification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FBE04-78B1-478A-9233-F5F72C03614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3B2B3-A6D0-42A5-804E-0A1ABA013FCD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77BA4-72B9-42B3-A48C-413C07465BFD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6/41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53BA83B-ED65-4C4C-A39E-343D416916A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L'IA n'est pas magique : c'est un système qui propose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EA8B30-D729-4299-82F5-1E578E88A30F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Elle produit des prédictions, recommandations ou contenus à partir d'une consigne et d'un contexte.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5B81BF8-A01B-47EE-8E6D-75C3DD593338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B24CC-E491-4C90-B91C-9A2D89131278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IA classique : détecter, classer, recommander, prévoir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A09227D-F787-4D50-A60B-0577FE5D0602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9EE81-B8EA-4B42-A1CB-7013BCD6CA7D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IA générative : rédiger, résumer, transformer, créer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099A14C-A556-4D6A-898A-93EF0A2DDB26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D53B98-AD7D-4351-948E-1B23351E4E03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IA intégrée : assister dans un logiciel déjà utilisé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C692479-C744-4FDD-922A-7A9460F27100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F99A48-071C-4937-86E6-F237EADAA7F7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378C0-5ACD-40F1-A075-396CCAE20D4A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97C4A8-6A47-4BBD-9935-D87FB26B4A55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L'IA propose ; le professionnel décide.</a:t>
            </a:r>
          </a:p>
        </p:txBody>
      </p:sp>
    </p:spTree>
    <p:extLst>
      <p:ext uri="{BB962C8B-B14F-4D97-AF65-F5344CB8AC3E}">
        <p14:creationId xmlns:p14="http://schemas.microsoft.com/office/powerpoint/2010/main" val="203835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247ECF6-AD9A-4233-8F85-E71A1CCCFD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AFC5F9-267F-41EE-A356-CC27FA3FDF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FB394-8ABA-4458-B1D8-A4B90553279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DAD71F-4626-48F7-9CC8-90BB42C5F08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Vocabulaire utile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BC081C-252D-45AD-BFF3-EB8F3DCEEB2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17B17-4BE8-4887-AB4F-39559A2AFBDC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A12B8-3ED8-476B-9DDF-33FABBC5C54A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7/41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D14433-4C32-46CF-AE5D-F19177F8B83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Modèle, outil, prompt, données : quatre mots à distinguer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D18B3-1962-4846-879C-FB66283A088B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confusions viennent souvent du fait qu'on mélange capacité technique, produit et informations saisies.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26ADE64-DDF1-449A-8D45-79BABB14D4F3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B64DB9-3704-4713-9C68-1517236D5AD0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4A7B9-1F0F-49A2-9ECC-E4DCEA5A1BF2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Modèle : moteur statistique qui génère ou analyse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7DA410C-43DF-4A24-B2CE-6812086F4C85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941603-B8F9-4E88-931E-F09D125DC686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99F30-3911-406B-B26A-24A02ADBEB13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Outil : interface, compte, contrat et réglages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FDFACDC-4339-4179-ACAA-448ED8553760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013FAE-70A0-4C87-ADFC-86AB57A64542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E69DED-4E65-459D-B909-4CCF3D3AAD82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Prompt : consigne donnée à l'outil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A43FD3D-9233-4FAB-82DE-B3126CACF308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3CDB45-7A78-4E69-AC36-3BD869C73B55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1E5521-0652-4E1A-B8BE-AB15786CC721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Données : texte, fichier, image ou contexte fourni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4D721B9-22E1-4092-BBB2-2B0ED1D24ECA}"/>
              </a:ext>
            </a:extLst>
          </p:cNvPr>
          <p:cNvSpPr>
            <a:spLocks noGrp="1"/>
          </p:cNvSpPr>
          <p:nvPr/>
        </p:nvSpPr>
        <p:spPr>
          <a:xfrm>
            <a:off x="2416554" y="5513664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BE2655-00EB-4B09-8C9C-A97509D07A96}"/>
              </a:ext>
            </a:extLst>
          </p:cNvPr>
          <p:cNvSpPr>
            <a:spLocks noGrp="1"/>
          </p:cNvSpPr>
          <p:nvPr/>
        </p:nvSpPr>
        <p:spPr>
          <a:xfrm>
            <a:off x="2416554" y="5513664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C158E-34DD-4D9E-A1FE-1E09601B14DB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FD91E2-9599-4BB6-932E-1DFF7DCE3040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confidentialité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dépend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surtout de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l'outil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, du compte et des conditions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d'usage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81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A09C244-C1C0-4892-9B7B-61431521B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4EB373-6608-44D1-AF9C-53589B65D3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D7070-B360-4B3D-AE3D-6320862ACDC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4108D-1047-4836-BB55-BEF97BB8731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IA générative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4B4E7A-9134-4B2C-8A67-EFBBFA30035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6D5AB-4F3C-42FF-BED0-AA01329FF1C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C6720-2642-41C6-8C61-CA7CE4F20AA6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8/41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B71E93-31D3-42E2-8CF5-DE8F753B7F1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Ce qu'elle fait bien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344F0-5C26-4915-84FF-D243954CE51C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Elle accélère surtout les tâches de transformation et de structuration.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0DE37FA-29F0-447C-859B-48F096B6EC0A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406F0-92A5-4A14-86ED-526075227F71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Rédiger une première version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C3E6E4B-3E83-4C13-92BE-D0C8DF51F14F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905D67-4AA1-4510-854F-E6719929E8B5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Résumer un échange long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1A4EF60-F52C-4948-8674-7EF955C518CC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FBC745-7A68-46A8-9FF3-13F400BD7E9A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Reformuler pour un public différent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6EFC13F-2FF7-4A14-B250-1D9C38DFD6CD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AF4F23-4E83-4860-89C0-2D110ABE7AD6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Créer un tableau, une checklist ou un plan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7176321-9EA1-4FAF-A31D-06CE2BB0493F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AC9411-D4D0-4355-81DA-1D871913DD7B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Proposer des idées à trier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F5DCA9A-506C-4DCC-A544-56621B75232E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210C85-D56F-406A-B1AF-7980FB99DB0B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D89982-F854-49C8-BE02-12856122B43C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C7038B-C1B5-4F0F-8C9D-05FA807BBD85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Le gain vient souvent du premier brouillon, pas du résultat final brut.</a:t>
            </a:r>
          </a:p>
        </p:txBody>
      </p:sp>
    </p:spTree>
    <p:extLst>
      <p:ext uri="{BB962C8B-B14F-4D97-AF65-F5344CB8AC3E}">
        <p14:creationId xmlns:p14="http://schemas.microsoft.com/office/powerpoint/2010/main" val="127193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7ED331C-C2E5-48F9-A8BA-542DD87FBA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EBC83-0BC8-4558-91C6-7493B46882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388D67-FCC7-427A-AEF4-23EB4CB161E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E076A-80F8-4C0F-83CC-DA633D74B33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Limites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E5C247-62A1-4290-833A-D41B1ABBA4E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2F77B-73C0-4B13-91F0-8DB0439C2D8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DA217-C10B-42E8-A2FF-583307F0D21F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9/41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82EBBD-BF5F-4023-B706-19B3715E90B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Ce qu'elle ne garantit pas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7BA8D4-41F6-4111-BC56-1983BDE91EAB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Une réponse bien écrite peut être incomplète, fausse ou trop confiante.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C6839CF-12FD-4CB9-9D53-BDCF17792461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D08BFD-FA03-4DF6-85A3-B19D28FE5293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Hallucinations : informations inventées ou approximatives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9C24E43-59E5-4845-A100-56FFD10C7F9A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92D7C0-8DE6-46C4-ADE8-419A62724538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Données récentes ou locales parfois absentes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1B8F4D9-25E1-4765-A31F-064C1D11EB66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1A7110-172F-4EB5-BDB8-72B110F0B169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Biais et angles morts dans les propositions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D3DCC6B-2E64-42FC-A307-00AB216DF146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37BA2A-76F8-44BA-94A4-C13AB17C0F0D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Calculs, droit et conformité à vérifier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E4664C3-0190-4897-8BF8-F868D035C9A8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B3924-5DAF-43A5-9A78-C4CA2D1CED10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Dépendance si l'équipe ne garde pas la compétence métier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2D59876-2B79-4811-95BC-2C54E6D5ADB5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D1DB81-CD0A-4FE4-AD90-0AA9BC08E016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F3EE3F-05A5-4A27-BC73-03DCD949F81E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AA4B67-9D8F-4DD4-B75E-DC92D00426F3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fluidité d'une réponse n'est pas une preuve.</a:t>
            </a:r>
          </a:p>
        </p:txBody>
      </p:sp>
    </p:spTree>
    <p:extLst>
      <p:ext uri="{BB962C8B-B14F-4D97-AF65-F5344CB8AC3E}">
        <p14:creationId xmlns:p14="http://schemas.microsoft.com/office/powerpoint/2010/main" val="153754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F96B9AB-0B56-4C71-A851-A062B0163C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5C46A-9762-456F-B0E0-C9220D8CF5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B7D2A6-B30F-49C5-9EDC-5FAA1B2CDE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TPME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14060-0DC6-4CC5-8198-7E9E03645E9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Enjeux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8AE34-744E-4D7C-A7C9-09C3A0D0182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8EF879-DDF6-4F5E-8BD5-F2B2D2D3B32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A06A60-CB6B-4871-9679-BACF4B747BA2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10/41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E73984-288F-4FA9-82B9-E638CA8B585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Pour une petite structure, l'IA vaut surtout par les usages simples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EF654-BFFA-45F8-906D-DEEE31B334F6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meilleurs démarrages concernent des tâches fréquentes, peu risquées et faciles à vérifier.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92156E4-7F37-413D-A00F-EF9967428CB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D533F7-D2C5-4E64-BD25-737E8A433582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B94422-178C-4CED-A978-9F941859883E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Gain de temps sur rédaction et comptes rendus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DFA047A-BDF2-464B-A289-ACAD4FC74290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80274C-28AD-4F28-B0D8-42844F6D179B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ECB3C8-A24E-4F7E-9537-A437FCD90375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Meilleure cohérence des messages clients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8AD0339-B9CE-4F17-906F-2F48BB4D9022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CD9EB4-DDB0-435C-8A52-DF392B278E1D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063C55-7655-43F8-8AA5-030C33656775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Aide à structurer tableaux, procédures et checklists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AEF2B28-BC8F-4600-AE39-3881DED8CD47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C5479B-C5FC-4AC7-BE21-8587DFAF3458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10B87A-D998-4D39-BED8-124866B85CF9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Préparation d'idées marketing à valider sur le terrain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9FF470D-A228-4CFD-B052-1F445CF161B2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8AA6C-87D2-47B4-8919-ABA625090EB9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9234C8-B379-4205-8873-063BDD03E293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923D48-924A-42BB-9388-46F652C1405E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Le bon premier usage est utile,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fréquent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contrôlable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065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A9CACCF-A271-4657-A16D-730E5A94D2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71219B-4FA4-43EF-9EFF-EF012AF8CF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62F7D-895A-4960-9E84-6F660612BC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TPME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F50151-3A2A-4173-8D29-23D6CCFEBE2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Exemples concrets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F3B09-7C36-4D37-8865-74B7B6E4DF0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AFBDC-6100-48D5-AAD9-E5D9576CEA3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F143A-2CA5-41A6-B979-896ACDBBD09F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11/41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EDFB47-D563-4A8B-8FE3-E06AF725CF4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Quatre familles d'usages opérationnels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8028E7-8D5C-443C-B99C-7872E902A614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exemples doivent rester proches du travail réel des participants.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35D7154-469F-4E91-B60D-7646DF2F389B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E4EB3-0E84-4D4D-901F-6520EFFE220A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Administratif : courrier, procédure, compte rendu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D733025-6472-43A0-9382-3ED5D0773E0F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334A7-3310-43A7-8096-550A0B17269F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Communication : post, flyer texte, calendrier éditorial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282AF40-2BF8-4AC1-BEA0-32108B5F082E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408EA4-4F3A-4BAA-8960-41F47C906250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Marketing : cible, objections, argumentaire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9356F7E-0D29-41D0-99E8-2B3BE6D11E6C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7957E-B1FD-4924-B708-ED842D47CEEE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Relation client : FAQ, réponse type, synthèse avant rappel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5FB79F0-909C-4D65-92BB-C8D4A77233D2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FFC404-852D-446E-B180-E07C8DEBD714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EFC9A2-3314-481C-B0AB-946A80080872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E07775-8A78-414E-8A79-E25301DE4105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On n'automatise pas un métier : on améliore une tâche précise.</a:t>
            </a:r>
          </a:p>
        </p:txBody>
      </p:sp>
    </p:spTree>
    <p:extLst>
      <p:ext uri="{BB962C8B-B14F-4D97-AF65-F5344CB8AC3E}">
        <p14:creationId xmlns:p14="http://schemas.microsoft.com/office/powerpoint/2010/main" val="22459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FFE6536-3DC5-4A1B-A82F-8A749B611B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72DB6-5742-4367-9630-72ADF8B98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AE071-79A0-4C96-AFCE-A7F1B36E099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OUTILS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4A7F2-CBCD-45C9-95D9-EF3AD341E76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Panorama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4BFBB5-70A8-413A-887F-E144DC9647DF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5E78F-FCE0-426A-909C-B9CD6F97C8F9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55122-F6B6-490B-8534-26A06B99EF0F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12/41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0E4353-5F7F-4419-8413-C256F6F28E1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Des outils accessibles, mais pas interchangeables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22A92-518E-42F0-8EFD-623AE237A4E6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 choix dépend du besoin, des données et du niveau de vérification attendu.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E65A5D8-9262-4BE8-9500-056A07CE7B72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24BEE5-C4C5-41DC-9F23-F01F8BBE9300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55D38-4918-4744-9D80-ACD801B6E56D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Chatbots généralistes : ChatGPT, Copilot web, Gemini, Le Chat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BBEA894-8BFE-4C44-9D66-2215FD89C7C8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F7E282-F9B3-41E3-A91A-F069E7181913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BC7D10-910D-474F-90F8-936CD82F78B0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Recherche augmentée : Perplexity, Copilot, moteurs avec sources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543A40E-0EF7-444F-85E9-9B916A427A1E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93E7EB-ACCA-4AB6-BD0D-97FD99E16B80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E62763-D51D-46CC-8A63-ED88F65A00FA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Création visuelle : Canva, Adobe Express, outils d'image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61913BA-6EAD-46D3-8D69-55F5CC81EFBD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31FE2-B0FA-43FB-9B4B-38A9A8B3D2CE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B2CF6-1A26-4DEA-88CA-2DAC43FE2F93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Synthèse documentaire : NotebookLM ou assistants équivalents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F8E56E5-7EF7-4D21-ACCD-32BFAB1C273F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7EEFF3-50C9-42CC-B1A6-3F6BFE128BBD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D58D25-25DA-42C4-965D-232D40A5BBAA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8BAFA4-A853-456C-A518-0A7909B6DA88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Commencer par un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outil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fr-FR"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gratuit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ne dispense pas de lire les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paramètres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confidentialité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311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48B0E20-8D38-4091-B4E7-41349F6244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288D5-B178-4085-B500-491DF8413F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4DA4E-F5A0-4080-AA25-DF3D5A4CFE3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OUTILS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3F380F-D20A-4F0C-B44F-D8348E30C85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IA intégrée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9F13B-6F30-4910-A7C2-49C715F3D26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6A7A2-CDA4-4BBA-AE68-84D4D313E00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92D474-1692-4F2F-B71D-F322D0D4AE9E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13/41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154C6B6-9B85-470E-91CB-804565A000E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Copilot et Gemini Workspace : utiles quand les données sont déjà dans l'environnement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E252C6-1060-42B4-9985-1E6B4AA40273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assistants bureautiques gagnent en valeur quand ils respectent les droits d'accès existants.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B554FA3-0F68-413D-9E0C-37F2E4F767E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B0BB7-9534-434F-B93A-F7ABEB581C04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9CB0FE-4282-4713-8D1C-1A23DB0303E3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Email : brouillon, reformulation, synthèse de fils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FB3AE5F-8625-44F6-8D94-E8D2DB0529E5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C06CA1-0675-4F33-910C-D9ADD4414712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964A07-FE86-46C0-9E1D-0C9338F124E0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Documents : plan, résumé, réécriture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BEC59C7-BE6A-472A-9048-B0C72B55F7AB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7086A7-1A99-488E-9B95-5BB3A546DCFC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68244D-D4CF-456F-BE1D-61F4C5E5E1E0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Tableurs : structure, formule, analyse simple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3D45396-7069-4D41-B6F8-4E1AD0C4D924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113A8-C627-4A8F-8C7F-8478FEA2014B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92A331-D1C8-42BE-9CB4-2A58961BC54E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Réunions : synthèse et actions, selon configuration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F33585C-FF62-4DF7-A15B-838F5E4C7E64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43714A-C060-4699-B13D-B82E9C6F2B50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A4549-1B35-49DD-80C3-868AA862132E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8DAD51-EA60-409A-BC0C-43D1338A869D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Ne pas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confondre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compte personnel, compte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gratuit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et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environnement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professionnel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administré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275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1EFAC89-63F5-4B4B-B752-2AF0A653AB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F439B-C493-43F4-A5CF-66795A2DD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00EB7B-5CF7-451D-AFEE-16A8DC0140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OUTILS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69DD17-B3A0-4E43-A2FA-2EDA54C3A56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Choisir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3ADD2-869E-484C-BA7F-3103DE67EE5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E2B33-254F-477D-9330-D3A664291C6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1F440-9E37-4E67-B5A2-EE708CB5D4DE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14/41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81C415-9EB1-4CE7-AB24-31E2C7D6832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Une matrice en cinq critères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02B12-4BF7-4B45-A663-D4E4DA5E3552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Un outil se choisit selon la tâche, pas selon l'effet de démonstration.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33CFB9A-BCBE-441C-A67E-D8594B1CDE0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35F02-878D-4EF1-965C-25465177045B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3FE242-7D55-452B-94A9-686147401B7F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Tâche : rédiger, chercher, résumer, créer, structurer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EDDB506-818B-48A1-A1B3-219A8AC3E15E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C4730-AAAD-4F4C-AEC5-D6E12078632B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EB77D3-A10F-4CB1-B6B1-C6E714463F3E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Données : publiques, internes, personnelles, sensibles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9D8075A-4616-44FC-9B4B-98A27C3EAC31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E6DB49-DD53-4FD6-AF3B-4A484708A9E6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376EA8-9B1E-48F7-82AB-557ED4961F3E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Sources : besoin de citations ou non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9DA8D83-36FF-478C-A7D5-C84A9FFDEA83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7540A-36B6-4968-9401-59423AB061A7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0938CB-AB8F-4630-8F55-09DE65B529CA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Export : texte, tableau, image, document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42977BE-C430-4D4B-A0AF-63F7F778FC22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311580-21C1-4FF0-A11A-C164866686F7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F6BBB8-86AC-43DD-8A6B-2C3C711D5BC4}"/>
              </a:ext>
            </a:extLst>
          </p:cNvPr>
          <p:cNvSpPr>
            <a:spLocks noGrp="1"/>
          </p:cNvSpPr>
          <p:nvPr/>
        </p:nvSpPr>
        <p:spPr>
          <a:xfrm>
            <a:off x="443865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Cadre : gratuit, pro, contrat, administration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4CFC9BC-3E16-4704-A845-7DBCD21DB627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7C9D8-E266-4B89-90BC-A087ED208B17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34D4CE-38CD-478A-A93F-5B2B665E25CE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EEDE45-B972-4D31-A679-F055C7AF3519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Le meilleur outil est celui qu'on peut utiliser correctement et contrôler.</a:t>
            </a:r>
          </a:p>
        </p:txBody>
      </p:sp>
    </p:spTree>
    <p:extLst>
      <p:ext uri="{BB962C8B-B14F-4D97-AF65-F5344CB8AC3E}">
        <p14:creationId xmlns:p14="http://schemas.microsoft.com/office/powerpoint/2010/main" val="1950352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278FCC2-CD54-4CC2-8384-2BB0998D1B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FA8B7-6D15-4BAB-AA9B-F9B8CF111D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3B84E-D5AD-4113-B0E2-D56650A0A41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A440E-3DC5-43F1-9882-4E774D554A2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Méthode CRAFT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B6492-91E5-4C4E-ABC1-7E8512F5EEF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86122-E42F-4B25-9695-615A0457209E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B875D-9DF0-4144-BE8A-F316E53F8ABA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15/41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1C8BB7-9032-4E80-83D4-F3F0F7B40DC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 bon prompt donne du contexte et un format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9525A-E9BA-4CE5-BB72-B8D4EAE41315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structure réduit les réponses génériques et facilite la vérification.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FC621C-9ADA-40CC-9AA2-22094336A662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67555-32C9-4E24-B9A0-E36D5191F50F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Contexte : situation, public, contraintes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1ADCF1A-C1A1-4B93-B258-91D3A02E43F1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394E0-6595-40F5-9273-5E0B2880DF8B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Rôle : posture attendue de l'assistant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4861E42-C5BF-411F-8C97-47AD3E4F0936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9ED5B-0084-4725-98C7-5D82471CCBA6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Action : tâche précise à réaliser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509DF86-D09D-46FF-8E09-544701A29D97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79FE18-A3F4-4556-A192-BA3952247616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Format : longueur, ton, structure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A9AB144-7E31-4E94-8EA1-F8D1AD78595F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8A8B38-0714-41D0-9219-47D75C5EC95B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Test : critères de réussite ou questions avant réponse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E1C9649-7D37-4E2E-8CC9-66F1F2318AFA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822ABB-2D8E-475C-A356-AA5065403F9A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FE5BD5-5830-4DD2-B62B-FA6E9245B54F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958E7D-EB1A-4D27-BCC3-2073C16C1A40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Demander les questions manquantes améliore souvent le résultat.</a:t>
            </a:r>
          </a:p>
        </p:txBody>
      </p:sp>
    </p:spTree>
    <p:extLst>
      <p:ext uri="{BB962C8B-B14F-4D97-AF65-F5344CB8AC3E}">
        <p14:creationId xmlns:p14="http://schemas.microsoft.com/office/powerpoint/2010/main" val="61522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C7934B0-F16D-476A-B9A2-257159080D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F1E10-34FA-40D9-8D4D-2D0BD9870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D09B4-335F-4B3D-8743-0F1410ECD97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C9F9A-C96F-4043-B234-1F7C0C24A20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Mauvais prompt / bon 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86125-798D-44C3-98ED-4A32FCC1712F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098E1-9C55-477A-948E-B82D00B8049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C566BD-AFA2-470D-A038-E9B6F3846635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16/41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F8D1B6-52BF-44F9-9D13-07E10446462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différence se voit immédiatement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BF9676-A8E0-42AB-ABA4-0C7A55030C2B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Un prompt flou produit une réponse générique ; un prompt cadré produit un brouillon exploitable.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4598C51-CF7E-4007-8AF9-7CB926759ABC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0E981-B504-460A-BC13-4845E930D99A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Flou : « Fais-moi un email pour un client »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D552DD6-4FA3-42EE-9923-AF799E4D7366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C765A9-17AD-4947-8E90-DEC31D118CB2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Mieux : contexte, destinataire, objectif, ton, longueur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58A45B1-BDAE-4443-B4AD-BC771F265D1D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2113EC-51FD-4D99-86AF-709DE7D4935F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Encore mieux : demander les informations manquantes avant rédaction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8265299-42EC-48AE-A632-A548EF45C4E2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453C7-55D4-4959-A9A8-3922A9BEC1BD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FDE572-F7FC-41DC-9F2A-903058CF6FD1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2AD3D3-354B-48AC-9410-6E6ADB3E1C44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Améliorer le prompt fait partie du travail.</a:t>
            </a:r>
          </a:p>
        </p:txBody>
      </p:sp>
    </p:spTree>
    <p:extLst>
      <p:ext uri="{BB962C8B-B14F-4D97-AF65-F5344CB8AC3E}">
        <p14:creationId xmlns:p14="http://schemas.microsoft.com/office/powerpoint/2010/main" val="725617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FA7A7E4-53DA-4F46-AA93-0A419B3355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09A791-62D5-4071-A4DE-32E986EBF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85FDB4-3C17-47BA-B603-39D194C233C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VÉRIFIER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D62BC-8B3F-4024-9F4C-509545A10B6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Boucle 3V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E05DCE-97D6-49D4-B3AF-C8801319DD2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5020F-D6A7-4F17-85D8-7FD372E662D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31D0F-0B3A-4380-9398-912AD922B24A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17/41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B374A6-7AD1-4666-82B0-5DF869306CD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Vraisemblance, vérification, valeur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4E55C7-04B5-49CE-A840-B4EB9D21FDD3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Avant d'utiliser une sortie IA, on passe par trois questions rapides.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F301B40-AA1A-43C2-800C-061EEAAFA81E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029ED2-7097-4778-81B0-78C59F688130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Vraisemblance : est-ce cohérent avec mon métier ?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2B0923F-2842-4320-BC5E-0E138211E4F2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B0E7DA-323E-4A56-B54F-20E28003A5F1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Vérification : que dois-je contrôler ?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F2D435E-F3CB-4833-82F4-972EF169607A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ABF83-53FE-4931-B2F2-B21EB85E0C69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Valeur : le résultat me fait-il gagner du temps ou de la qualité ?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EAA44D7-AFAA-4118-9CAA-0E5EF4FE6DF9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5EFF8-015D-4B35-98BE-DEDC0294752E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6B2D26-E95C-4540-B0E6-9F360CFAEFF9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ADBBF-A1DB-468F-AA68-8AFC642CF970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Une sortie non vérifiable ne doit pas être utilisée telle quelle.</a:t>
            </a:r>
          </a:p>
        </p:txBody>
      </p:sp>
    </p:spTree>
    <p:extLst>
      <p:ext uri="{BB962C8B-B14F-4D97-AF65-F5344CB8AC3E}">
        <p14:creationId xmlns:p14="http://schemas.microsoft.com/office/powerpoint/2010/main" val="1325177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90F231-E7E7-4AE2-91FF-40CD6C341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0068B-5780-4BFC-98A1-0EC802D4F5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BAECA-917D-4BA2-A93F-A2A31491AE8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127C9-6E4F-43E0-8BAE-93E8C5C741C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BB7BD-C99F-476C-BD06-B68367F5225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79B767-E714-43E8-8E04-D8C14AECBF78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5EB11-046A-4349-B4DC-4A93593E93A0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18/41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3BE94C-0750-406F-B902-8DF18562AE8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Découvrir un chatbot 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377D97-F174-4182-8B39-7A973EDC65A2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comprendre comment dialoguer, préciser et corriger une réponse.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6594986-AEEE-430C-8369-4F07A0AED4C7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A6C6B5-42E8-4E3B-A4C5-3343ECE9DA16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Tester une demande simple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11AC4A0-F938-492F-8143-4FCBAF5209B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8A5F2-D26C-4906-9265-EC000506E3AA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des questions de clarification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C07A607-5D6B-4FB1-8209-3E64B18C4E28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0DA036-F465-4472-8B05-C819BA6EAA3D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réponse courte et réponse cadrée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2751476-CE20-4A16-801F-C0DC8E71DF2D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EA56AC-8DB6-449E-A17B-427FF5F675A5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Identifier une limite ou une information à vérifier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2FD45AC-CE53-4877-83F9-BABCB27C790A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3E6A5F-D6E7-4676-8C32-B79BB5F29205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404EAC-8BCF-42E5-A811-51A343FF5AB9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D423BA-61F6-4087-87E4-8BB0F2A1CF96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un prompt amélioré et une règle de prudence personnelle.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FEE87B-4543-405B-A06E-2DBB2AD891BE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FC4F2-E5F7-4C07-95B4-911FFEF08224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42628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E6AD546-12B1-4E19-9E95-29B065B2F7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363B73-1B93-46B9-AC16-341BBEB7B9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36C18-C4CB-4724-AF70-25F6EDE8E52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4CF0C-6C83-457C-848C-334421309E0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A976BD-C88F-416A-B1E4-6D356E318ECC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94F6B-3C4B-4486-9584-ED9D43788A53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C2A320-A03A-4BDD-8269-F7A4727C07A2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19/41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D3CF1F-B419-4FC4-AFCF-F5201D4757F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Rédiger et améliorer un email professionnel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463FEE-C87A-4CEB-8B59-5BD955AF106C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produire une relance claire, courtoise et vérifiable.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3EF8F42-EC21-4EAF-A23D-65BFD60F2DB2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A810B9-116A-4F5C-B66B-46A408D67EBC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Définir destinataire, contexte et objectif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9E94BE8-8B71-43FF-8ED0-38E61382B494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D941C9-3012-4266-BDCE-47FB6C2E8EF4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Limiter la longueur à 120 mots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2763B1E-E086-42F0-9A26-705701C35FBA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EE8CA0-F6BB-4B99-830D-0B8A2CCC0734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un objet d'email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6F30D75-FFF0-4CD3-AFA6-E0B637120881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762E76-C0AB-4C01-A069-57DDD037EE49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Relire le ton et les informations inventées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7D80D5C-3DE7-4464-9DAA-B859CFF603C0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9C501D-5A51-4F16-BB49-9073C9819EAE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38DB43-3206-4DE8-935D-F53AC3B86A16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8E6D09-38E2-4E27-B7DB-D85ACCB18623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email final + prompt conservé.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FE9906-1690-474F-BD9E-043556BECEC6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BFD7C0-6BE1-4FD1-B366-46531E88DB72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7172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859BD48-ADFC-4844-9865-253F368ED0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459ED4-40DA-4B30-8934-C300455CBC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AA4B7B-91EA-4172-AE21-F1FB3B4F00B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E44368-D1C3-4F46-95AC-EF25B1FD9F6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5A6D2A-3A2F-4B96-8AF2-128EF97D1CE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4CC1B-51CF-4A18-BB5F-2FCBFB0B8F71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82C2E-1419-4A24-9E36-13DF7D142EB2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20/41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468BE4-500B-40C5-BC34-4A0E063E1D3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Résumer un compte rendu ou un échange long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70B03-DEC9-42B7-A502-06DB5F0FAAE9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passer de notes brutes à une synthèse actionnable.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DA57E0F-1912-4A88-9494-48EFD576CD4A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5F2AC8-042B-4BBE-8DCE-E54385743FE6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Structurer en décisions, actions, points ouverts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F3DA047-DC18-4A71-A8E3-1634B641B438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09D44C-EBDC-49B8-839E-2C2D2052257A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un tableau action / responsable / échéance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4C7F577-7B62-4581-87E0-3BCA97564FEE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FD6DA-A32E-46EE-A058-44F2864684BF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Interdire l'ajout d'informations absentes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DF7FEEB-B864-4A0B-9308-A76DDC78835C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590B2B-7AAF-475B-892C-FA8D6B9E3079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Contrôler les actions une par une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6876381-1626-4307-808D-38F11D63D9CF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C6E2EE-AFBD-4506-AF14-506126593F2A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AC26B4-C4AE-4565-8D0D-A83DD30A69E3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42A7AB-6BB5-4C8F-8E71-8754F2E7A7A2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synthèse de 10 lignes et tableau d'actions.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E0E8F5-568D-4B23-90A2-38DFC01F71A0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AF6E12-9069-4410-A0BF-3DAD4D9C6FB7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854386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C66F0E5-FC02-4452-A471-AB5D410A03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F1EA01-589C-4AC2-857D-436AEF8BE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B335D0-05FA-4755-B302-C36DBF4CFF0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44AF2-BA0B-46C1-80E4-A766DF1E11D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2EA6E-B649-4977-8E02-087920D92E5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70A509-4A31-4C05-BBA5-F2FEC9B9911A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D5792-5D8D-4F78-B28C-2C5C7B4CA86B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21/41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E3A649-2390-494F-9888-D2346D3B868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Adapter un contenu à une cible différente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5D61B-B53F-464B-967F-CE42F989E3C5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changer le ton sans dénaturer le message.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E47CAB1-B74C-4CCF-80DB-830E14EC3DAF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8B3A38-653A-478A-A497-046BD79D22E3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Adapter pour client professionnel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CDFC3EF-A913-430E-83C6-3A6ADE4BAB4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3EB8DF-73B9-48F7-99A7-7DE3DFA4B7B8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Adapter pour grand public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05A1ACA-436A-4F29-9D92-7C23F05FC2DF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7E413B-168E-4A30-A9FF-7DDC8E0EA162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Traduire si nécessaire en anglais simple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4768A04-A3A7-4C01-8B8F-855DC96E0FE1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16A63A-3F90-40BA-B2D2-872EE4E4B7F9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Lister les termes à vérifier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468884C7-0C02-4B97-8CB4-DF261D08C90B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6AA02-9A83-4E35-8351-00A1943ACD1F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64C21-32F5-451A-927E-E02DEC12DAFC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5513A1-43AA-4BCA-9962-49E0EAD033DB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deux versions adaptées et une liste de points de contrôle.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B83829-2BFB-4DF9-B251-FA3422AE6159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1ED6FB-D250-4D36-A76C-AABD19178AB9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302420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DC49A16-3021-40C4-B0FE-718CE922D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2DA10-9C32-446C-AB94-2569402574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850472-ADC1-46A9-BAE4-2040DC308D1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0593B-6909-47F7-9218-91B4084178A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Structurer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F5DE9-54DB-4A78-84F6-0BDF81E0DA5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06CCF-72D9-449A-8178-53A95A0753DC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5A930-E3BF-497B-A28C-80DF966B3406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22/41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A92FD6-FC1E-4FA5-BD14-D116744C4C8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L'IA peut aider à nettoyer des données simples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D7D49-1675-40C9-A3B8-8178A11E7CEF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Elle peut proposer colonnes, catégories et contrôles, mais ne doit pas inventer les valeurs manquantes.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EA0BB09-C5DE-4B49-8579-DC78A7EDACBF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88268-B97C-4861-8E2B-367714B0B848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Uniformiser des libellés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8873092-0AAF-43B7-9AB3-A53163BE4E47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E160D2-139E-42C6-8D5E-6EE0147AB31D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Repérer doublons et champs manquants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CE6EC3F-0807-41CD-BCDB-52CAC9DEB824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129613-0EC6-4600-A51E-642392DCB7D1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Transformer une liste en tableau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9376007-F840-4E05-B7F8-9CCCCB000BC1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94D51A-10EA-48EF-A234-5010F143EBDF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Créer une checklist de vérification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E7F123B-4149-4AA6-AD4C-697FDDE38604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6CDBE0-29D2-49A4-9049-E4A288260F48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F9A44E-9877-4502-9C46-29F7A05CE8C2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2D2C8D-A154-4495-9115-771A96E56BEF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Pour les données : demander de signaler, pas d'inventer.</a:t>
            </a:r>
          </a:p>
        </p:txBody>
      </p:sp>
    </p:spTree>
    <p:extLst>
      <p:ext uri="{BB962C8B-B14F-4D97-AF65-F5344CB8AC3E}">
        <p14:creationId xmlns:p14="http://schemas.microsoft.com/office/powerpoint/2010/main" val="1466665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29282B1-D879-4F53-8819-BC8B08DDDC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33F78-57B4-40F8-9EA9-8360A01C76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8B055-43EA-4E83-8E90-F8BD3EA072B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6BEBA-47C1-4F38-8079-752357F7F6E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2703B-FA4F-4E91-A3EB-15BB2E39CCE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0259F-5839-4DB8-8DB0-4E84C0BDD5C9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1815D-FAD4-402C-8FFE-6BF16D814BDD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23/41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554A86C-7E0C-4AE2-A1DB-F5CBC779202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Nettoyer et structurer un tableau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0F98E9-5FD2-4D02-A559-706207340A38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transformer une liste imparfaite en tableau utilisable.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DE5D292-809C-4E73-821A-C91B4B42E05F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55D101-4DB0-4D45-92C1-95F729822EA0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Repérer les doublons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C398B5C-A0FE-417F-A10B-8915A2B1E49C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6B729-9A01-4F21-8E42-2FE5CD86E69D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Normaliser les catégories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85175A9-FE1C-4D68-B7A2-C5EB328012D3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B0E0D-66A0-4638-99B7-DCC2FDC75617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Indiquer les informations manquantes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69BB921-4D0F-4850-ADC4-74273F389299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1E6296-764A-4FD5-998C-9BCCA5C31C5A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Produire une checklist de contrôle humain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D55013D-2E46-420D-A0DA-5998A297D18C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5631F-C6CF-4334-A558-1FDDB43F8E20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E9CDC3-F0FF-4C03-8B4E-5C74D1B631CC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A4200F-0782-4576-89A1-AF41FF5759CA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tableau propre + anomalies à vérifier.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528DF2-2312-4CDC-BCDB-924DDCA2A081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04492E-0EFA-46DC-91F3-66054737C639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254613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C5671CF-98AA-4299-BF5C-70FF92AFC8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78DEF-B818-4C80-B510-2300BC9BB7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82FB6-4429-4D77-AD4A-A904A429FA2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ED091-EC95-4145-BE34-90BBBF11DC4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88C8E-861D-4E94-BAEF-4AE11C592D4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E53AA-29A9-4B9E-A569-34A84C5D35C5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4CFEF5-C670-4AD2-9566-D3A4A6553BB1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24/41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FB928E-70B3-4331-9B0F-BC3C3C84E3B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Créer une checklist ou une procédure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707FB5-3588-4784-8D94-4D41D8FAA9FA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formaliser une routine de travail simple.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4BDCC84-C703-4333-AF8D-657E34F14A25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EFC6B-F985-45B9-B840-7850DDDAD0CA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Décrire la situation et les étapes connues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E0CCC09-6188-4E4D-9A73-5F0B71A74906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F95FC0-F6F8-41C5-BD09-E3736608AB33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une procédure courte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7BB19A7-410C-4E5D-A415-BA3F32AC8E12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FFB7F3-A85F-45DA-A0BD-2B36ACF581E8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Ajouter points de contrôle et erreurs fréquentes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DADB318-9B14-47E4-92AB-A433C0E34B20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66F9EE-4A23-4E69-B9D5-654ACF10E5D6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Adapter au niveau d'un nouveau collègue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FF0FB19-3CC4-4A03-9EAF-23DFF6795672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BBDFA4-09C7-4B25-817A-F340C46BCFA3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B37187-0065-41EC-83FA-9F57673681A0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5CF2CF-FCFE-49D2-8717-A90C1A1C54D4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checklist opérationnelle d'une page.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7F2C60-38CA-4C47-AD76-8D8A936D138B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574F10-F6E3-431A-8F6F-8719B47AB8C0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018189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2990F38-2C66-4148-8506-751D360819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CFC05E-1396-4CAA-BFFF-168B18C00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513FD-EF49-446F-9B0C-A1668D98A7E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SYNTHÈSE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D5D3F-D6D2-4CC2-AEA6-C3D8BF56B1C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Fin jour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BF6B9-3043-4F66-8D1C-0EC8D416004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2C1DD-108F-48F8-B195-FDD44FF0D871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B88BDF-A210-4410-B126-8AA8989B8C8E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25/41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ECE5C3-30EB-438B-B39B-EA64C15E3BC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Trois réflexes à garder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0F9E98-5620-4B79-8A63-4CC96825D0A7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première demi-journée donne les bases de pratique.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7DA0EC5-34F7-4834-B1AC-FB4C01B41418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00091B-1A11-4998-8821-96C9CE1B639B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Cadrer le prompt avec CRAFT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4FA5346-BA23-4BC9-BDCE-0B29B3D772BA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C1CB9-689C-48CE-AE79-0EA094399F3F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Rester en zone données fictives ou anonymisées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F754A2D-B535-4038-AB83-7BD3151A3B30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7102BD-23BE-4388-A2CA-3BFFFB5E5221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Vérifier avec la boucle 3V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E18891B-CFE4-4713-B615-A1668932EA6B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9DA0D1-E603-412E-B2F2-B417339AE8CB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25CFB6-179C-4775-9A40-A09128D95716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21CC3F-9253-4D2F-9EC4-ECD8B89F5A5E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Demain : choisir les bons cas d'usage et construire un plan d'intégration.</a:t>
            </a:r>
          </a:p>
        </p:txBody>
      </p:sp>
    </p:spTree>
    <p:extLst>
      <p:ext uri="{BB962C8B-B14F-4D97-AF65-F5344CB8AC3E}">
        <p14:creationId xmlns:p14="http://schemas.microsoft.com/office/powerpoint/2010/main" val="1764800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7908408-6AEA-4616-B261-EF5FFFFAB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E452FA-B7CD-4804-BA07-87934246D2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CF2B91-ED77-4247-912B-D5FA6B3390A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JOUR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1A04D-AF8F-4915-8C30-B9B1FEB16C1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Réactivation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C19B07-4BF3-4CFC-B7CB-45A5525CBF7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466CE-AC47-4232-9B23-87E0819A4AA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15AADA-8F35-4D08-88D9-5C3ECFB3C77D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26/41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226E0A-A7D2-4529-B802-E39E323C2A0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Du test ponctuel à l'usage maîtrisé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B807F-9388-4D50-9D38-418FB9AFE14D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Un outil IA devient utile quand il s'intègre dans un processus clair.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153A78C-AB82-4188-9784-FE6D7A29CAFD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CE4598-5EEE-4AA0-983F-42DAA2F1222A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Quel prompt a le mieux fonctionné hier ?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E4CF5EC-566E-4A9A-A727-405AB1A94EBF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8BFB-B7FE-4C3E-87BB-C3B66912B4AC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Quelle limite avez-vous observée ?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1A1C818-1261-4321-A694-17962FB519F3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6CBAC8-CDD3-44F1-A180-087D69D4CDDC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Quelle tâche mérite un test réel mais prudent ?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D39B16D-DB7E-41A0-85D3-4FD4E44F2F10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8B3799-1531-49BD-AB2A-1C59A1D21D25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F39580-B2AA-44C7-B9CD-463BD321E403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98BC2E-7C49-44C9-9444-6754C8948DF4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On ne cherche pas un outil miracle : on choisit un usage contrôlé.</a:t>
            </a:r>
          </a:p>
        </p:txBody>
      </p:sp>
    </p:spTree>
    <p:extLst>
      <p:ext uri="{BB962C8B-B14F-4D97-AF65-F5344CB8AC3E}">
        <p14:creationId xmlns:p14="http://schemas.microsoft.com/office/powerpoint/2010/main" val="1783832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A946FCB-C2B1-4C12-8F84-F58B4C59E4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35A95-B1A6-4783-BA12-32226F70B2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F3544F-99B5-4666-84F2-83831A8079D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TPME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0D5A2-2985-4798-A844-602FFAA924A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Carte des cas d'usage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2DD2F-5E50-4AA4-B50D-04CDE083F8B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8EE62-16AF-49BE-91BE-A2FD0A11DC5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4FEB1-CFD2-489E-B221-19195538FEA1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27/41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F4260-67B4-44B8-9261-AC1683874F5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Repérer les opportunités dans son métier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E1B33-9D68-49A6-B464-801700F6FC04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Un cas d'usage est une tâche précise, pas une intention vague.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B026C42-A450-4069-8A11-D3BFA886976F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ED13F-BCF8-49D3-B2B5-1433F2F8BE6A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77391-98F4-4A00-84BE-D82CEB5A2E7D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Déclencheur : quand la tâche arrive-t-elle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FC3B666-7DE8-4B37-B425-1AC941DF7C02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FE20A1-482F-4405-875D-298C32F14716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C77F3-2302-47D1-AF1E-346CDDBD7C1A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Entrées : quelles données sont nécessaires ?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7135959-5AD9-4AAC-8EEE-B0BCADBD550F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BED59-FD6F-4522-AB57-B6EEA32B1C3E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1CEB3A-2574-476D-9DDE-6A45C5179EAA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Sortie : quel livrable attendu ?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C60EC6A-5705-4E6D-8813-38C4F292DE6E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0E996D-93D7-45BB-A30E-1C454E71DFC0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EE04B3-F214-46CB-93F0-669AEEB7EBCA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Contrôle : qui valide ?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4D9D396-1EDA-42E4-A335-B61EDAF25CE3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9BAB10-93B4-4ACC-9B51-9CB1EE209F49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ABCBFD-E025-4454-89E0-1A1414343936}"/>
              </a:ext>
            </a:extLst>
          </p:cNvPr>
          <p:cNvSpPr>
            <a:spLocks noGrp="1"/>
          </p:cNvSpPr>
          <p:nvPr/>
        </p:nvSpPr>
        <p:spPr>
          <a:xfrm>
            <a:off x="443865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Gain : que mesure-t-on ?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E683A6D-3045-46AD-83D1-520501CB0038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7DC6F0-C330-49C5-8F82-2F8C67D279ED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D398B8-9E42-4A82-9D57-707A12063607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230481-FE61-45D5-8DC1-D739C22D167C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Une bonne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opportunité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est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spécifique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fréquente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et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vérifiable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94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DCF67A-47A1-4E36-9026-046954CD83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9BE829-B317-431D-85E5-498F63978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C6E93-445F-46D0-B448-AFFE450BE05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5E42F-81EE-4516-A8F8-630B720641A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Communication et marketing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614B3-6FA8-4F7D-8C48-86BEC8F6D72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4EF49-ED7A-4643-9AF7-6D64ABE48D51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BF34EC-3B24-40D7-A457-025873771780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28/41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37238D-C8FB-4E67-8AFD-F7BBB287071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Produire plus vite, sans perdre le ton de l'entreprise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B6AA56-49D7-4986-9E3C-41947A475F07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L'IA aide à proposer des variantes, mais la publication reste une décision humaine.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ABCF74-8844-4EA4-9B33-8B1D9F0767EB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AAA8F1-D2E1-4C46-8895-9E15D5BC886D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Posts réseaux sociaux et calendriers éditoriaux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D729B91-8750-443D-8CC0-520E9BE59520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47997C-240C-4168-A9C5-FD7ADC8BD807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Flyers texte et accroches courtes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9B89D92-0CED-4F4B-8B82-FBAE8FD339FA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129A5F-073D-466E-9B46-C09BA046ABBC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Personas et objections clients à valider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DD6CF9B-5AEF-441A-967E-B9E106E21979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F14664-5DAB-4A8E-867E-ADEF2C5EB1E3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Argumentaires et scripts d'appel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D0D7F16-A39D-45CA-B198-E08BDDECCB01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B7C3D3-5B92-40EB-8E43-3E2AB031CCEF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D90057-5F38-464D-9F1A-D85CAD11CD79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732C1-E9F4-4288-8350-885E814A1753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Demander plusieurs versions aide à choisir, pas à publier sans relecture.</a:t>
            </a:r>
          </a:p>
        </p:txBody>
      </p:sp>
    </p:spTree>
    <p:extLst>
      <p:ext uri="{BB962C8B-B14F-4D97-AF65-F5344CB8AC3E}">
        <p14:creationId xmlns:p14="http://schemas.microsoft.com/office/powerpoint/2010/main" val="1449360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DF36572-E886-4E5E-A2DB-CEE9B69CB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D1D3B6-B88B-490D-ABE3-6D130D65A4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A91A0-1EFE-4D22-B6DF-6FD4E6F308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AB1F98-1EDC-4CAC-BAC8-8B0B90D2EAB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Administratif et relation 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73496-B2F5-49FD-9B6E-7BD49C0F261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7CEDF-C59B-443F-8F6E-4BED3AB2CECE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1DA9B7-2DFD-4E58-AE60-C121E8100826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29/41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476730-1006-40D7-A94D-2A9AE072EC58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Structurer, répondre, documenter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7F972-AA14-470B-9C2F-C7A51217E432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Les gains rapides viennent des modèles de réponse et procédures simples.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E725B04-8F2C-451B-92DA-66CAD5D4444C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3068D5-5574-4F5E-8A34-6099E1229FF1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Procédures internes et checklists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A242B8A-97A9-47C0-97E6-426B8B734DE1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A5BF9A-0056-41E3-AE9E-4EB9A645873E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Réponses types aux questions récurrentes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7A6CA7E-83ED-4E1B-B639-DEF9BF08EDEE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35D3B8-3FB6-48B7-A2F0-F630C8262FDF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FAQ client avec escalade humaine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4645299-1B9B-476E-B8E3-0177E6DFD3C7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BFB9D7-0FC8-4289-82B9-6F7405F1F2F3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Comptes rendus et synthèses avant action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6AFCDE3-0F0B-4A43-A05C-2DCEC151C80B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D5E616-5C96-4D73-8BAC-200D06B8E6C6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7917C3-A348-4538-AC6D-41E69F050390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13FE3E-A11F-456E-9244-0B6CAF966073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Une réponse client doit rester exacte, claire et humaine.</a:t>
            </a:r>
          </a:p>
        </p:txBody>
      </p:sp>
    </p:spTree>
    <p:extLst>
      <p:ext uri="{BB962C8B-B14F-4D97-AF65-F5344CB8AC3E}">
        <p14:creationId xmlns:p14="http://schemas.microsoft.com/office/powerpoint/2010/main" val="197033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0D16C2D-4440-46F9-81D9-370DF04DD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2F0A5-364E-4FD3-8EC1-4B1A9AC98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81C039-63A5-41F7-9CFF-75B686E3FD3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BC8453-ACD0-4972-B2A5-39280B054D2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4A61C-7A58-4C26-BB73-868BC977B8CC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A269C-D727-4960-B088-7D921475547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065CF-8AD5-4D05-ABED-580D3C106447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30/41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A2EEF4-C9B6-438E-B8CE-D9F8FD40E70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Identifier des cas d'usage IA dans son métier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59797B-8CF3-404B-99F5-A12EB39A3BB1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sélectionner des opportunités réalistes et sûres.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344EA9-100B-4DE1-BC04-CEA22431E723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22598-82EB-400C-AB2D-D1BE090A58D8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Lister 5 tâches répétitives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49566BD-6E9D-4998-93FC-345D7576BC2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7E44DD-E603-4D89-96FB-AEA77ABD2861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Classer par fréquence et irritant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D90E0E3-AF3C-4DAE-938C-91AC5A15A1A7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46C30D-9CA7-45FD-AB86-07E839AD2424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Repérer les données nécessaires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0567FDD-6E77-45B1-8DE0-75E4A913AB12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D7852B-F6C7-428F-8C1E-1BAE2FA14C89}"/>
              </a:ext>
            </a:extLst>
          </p:cNvPr>
          <p:cNvSpPr>
            <a:spLocks noGrp="1"/>
          </p:cNvSpPr>
          <p:nvPr/>
        </p:nvSpPr>
        <p:spPr>
          <a:xfrm>
            <a:off x="1162050" y="4724400"/>
            <a:ext cx="5867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Évaluer risque et facilité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3894EFD-D7F2-46C0-A9FA-5B156FFFAF67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4EEAB1-8924-4B6A-85BC-2426CAAA870B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95FEE4-D24F-4D4F-8820-E29ECAF32ED9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863BFB-A390-42E5-8ADD-34F21B324B67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: une shortlist de 3 cas d'usage priorisés.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ED853E-154E-471D-8FC0-D263BC33B325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001A7D-2166-404C-B70B-ADE1638C4EB4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447510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3E0DE54-4D48-4540-B3B5-2176D4A364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20E2D-8B61-44F7-BAEE-A3F5553747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4B836-7D05-43C4-8F4B-E72454D08B3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PRIORISER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2B22A-219D-4D32-AB51-307F91CDB2D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Impact / risque / facilité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32576-F471-4CE5-8FC6-018556D60E5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F33E3-01AD-4B70-82EF-4B09BE5A50D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11ACB-F8B8-4222-AB93-B3C94E6586AF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31/41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5EE661-F5D6-4BE0-95E4-8B2DEDDBBAE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On commence par le bon petit usage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305C4-B39F-4022-B98E-786730313866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priorité n'est pas l'usage le plus spectaculaire, mais celui qui peut être testé sans exposer l'organisation.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B742793-19A2-4020-9C1B-AEAB8F1B756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42B44-C1CD-4ADF-8B81-31D0B6583EF9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45562-D4A3-4015-BF68-B51333D35904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Impact : temps gagné, qualité, délai, satisfaction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03A0E86-3E72-46F7-B27D-DF55C5BC6DEC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5E1C90-7A34-4869-BB06-06CDA8BE1A17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7BCED-F859-4217-9427-B40AC410232D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Risque : données, erreur, image, conformité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16BDEA4-EF5F-443F-ADDE-1C1AD6E9C58A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05B93F-0303-4BA9-A153-AF5380FFD313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AEACF-8D58-4E59-A89C-CE3777E499E5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Facilité : outils disponibles, niveau équipe, fréquence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90ED71D-45B4-49B6-A8A2-852651490260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5EDA48-A83A-4328-A13F-76D377B50DA8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761BF-8C91-41F6-8643-0B540B9178A3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Décision : tester, reporter, encadrer ou éviter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99F0537-8573-44F8-A065-D47C0F3A7880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D09054-DB8E-4204-AFC5-6577189EA406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870CB7-B24B-46AC-B0FB-7B0DAEF3D2B6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93E2CD-68C3-418E-8301-DD5116F61AC0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Premier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pilote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recommandé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: impact utile,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risque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faible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, testable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en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30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jours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7754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AD7706C-8FB2-46E6-888F-FC3C6551C9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B4A489-FA56-4B80-889E-B8C3F31229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19A1BC-5162-4660-81A4-DF86585541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SÉCURISER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E22A9-9514-4219-9E1A-C12A9E5408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RGPD en pratique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42B3B-97FF-4955-97AF-5CB6B1451E7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863DE-738D-4C04-9D43-5B8AF04ED04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85456-90E9-49F8-B720-00B022CA0E27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32/41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D464A7-91C4-4F95-BF07-6150C719F3B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protection des données reste applicable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69FE3-1DCF-4D0D-A557-57E4C58E01BA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Repères simples : finalité, minimisation, information, sécurité, durée, droits.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BC89A7B-A73E-4DF5-941D-97007C1136A2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99579B-FBE4-4186-A588-0A6351BAE9B6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Ne saisir que les données nécessaires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B2A7E5E-8732-419C-A47E-A1C9FDA98BE4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89429-9007-4B5D-96EB-73828E3FC8E3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Éviter les données personnelles dans les outils gratuits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14B0390-81D9-4A88-B020-7DADA3046408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D0D551-E8CE-42C3-8115-48525DDB4059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Anonymiser quand c'est possible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B5903AA-355D-42D9-865F-37087BD5C947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6B8612-AD68-40ED-A126-DC0A04D8AAD3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Documenter les usages récurrents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50117D9-3007-42C8-BC3F-EB6EB47652FB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0ABF39-6295-4C95-8033-0C746243BF1A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conseil en cas de traitement sensible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760E7E2-0198-466F-9291-12B894E2E2A4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D85EF2-F054-41E5-AFDF-A71AEFAF7163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57A9EB-B69A-4BCA-A013-4A247941B8C7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A5F26E-2654-41A9-A00D-EAD5761BDF7F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Ce support donne des repères, pas une consultation juridique.</a:t>
            </a:r>
          </a:p>
        </p:txBody>
      </p:sp>
    </p:spTree>
    <p:extLst>
      <p:ext uri="{BB962C8B-B14F-4D97-AF65-F5344CB8AC3E}">
        <p14:creationId xmlns:p14="http://schemas.microsoft.com/office/powerpoint/2010/main" val="503774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1333540-FE1A-4B66-8F9A-FF765332B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CCD4B-4F40-477D-AF91-002B2ED8A9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C8E51-E0A1-4EA9-AFF8-DD904E9CC04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SÉCURISER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757F86-EA71-4456-BE84-2824A14CFC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AI 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393C4-4D9B-4DC5-B414-5CED5C8CA028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1B12AB-FEFE-4F6A-BC36-601654281D17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6C117-CBED-46F5-8A49-3DA50BD57A90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33/41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13FBE3-A94D-41B6-AB8E-43129EBF1AC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littératie IA devient une compétence à organiser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DEAA47-ECA8-4B88-9C58-4329625E486A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 règlement européen sur l'IA introduit des obligations progressives, dont la sensibilisation des utilisateurs.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87E4271-9975-42C3-87B1-8D820EE4AEE2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532AC-47FA-446C-A7BB-4392655871F0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Comprendre les capacités et limites des outils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9272A81-912A-448C-B8BE-9BC032A5FEB1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17A3B4-5F0C-4012-9364-22232BA60B34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Former selon le contexte d'usage et les risques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8E2E374-8F0F-41F9-897A-5EC565865B40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76AFF8-C970-42A6-B35D-AC86C3FC26BA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Éviter les usages interdits ou sensibles non maîtrisés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6E01904-40DD-4C73-AB10-6C0ADD9E4E46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154787-0F9F-44F2-9B63-A5CC26E587B5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Conserver des preuves simples de formation et de règles internes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C43618A-341C-4A87-AA09-10C028C7C445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529258-6F42-4E04-97AA-F13E94116985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6979DE-67DB-4556-BF31-AD8E3BD7E753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37547B-62D1-43F1-BF33-7D7F14D253D6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Former les utilisateurs est déjà une action de conformité raisonnable.</a:t>
            </a:r>
          </a:p>
        </p:txBody>
      </p:sp>
    </p:spTree>
    <p:extLst>
      <p:ext uri="{BB962C8B-B14F-4D97-AF65-F5344CB8AC3E}">
        <p14:creationId xmlns:p14="http://schemas.microsoft.com/office/powerpoint/2010/main" val="1759097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6A766AE-E476-43E8-987E-FABAC8409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3F30F-D961-4D24-9B63-3FCA53861C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19F0F-8DEF-4976-91F6-ADDDF553368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SÉCURISER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902C0-28A1-4687-A625-9B37B8EF4BB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Feu tricolore des données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653A3-6300-49C0-8793-49C7AEAB6A7A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CB21D-F177-4D4E-968E-933233C77C1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F123F-3F10-4DD1-9C33-6C53F0290272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34/41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8F6180-C279-4CA1-9507-DD2CDDC983D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Vert, orange, rouge : décider vite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A1D492-7397-481D-A8DC-55D3A7E6E6E1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classification simple évite les hésitations inutiles.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4A47B3A-0DAF-4616-84FD-FFB3953C1255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9391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FBA231E-BF77-443F-A82C-A14A693F67D9}"/>
              </a:ext>
            </a:extLst>
          </p:cNvPr>
          <p:cNvSpPr>
            <a:spLocks noGrp="1"/>
          </p:cNvSpPr>
          <p:nvPr/>
        </p:nvSpPr>
        <p:spPr>
          <a:xfrm>
            <a:off x="1352550" y="3276600"/>
            <a:ext cx="323850" cy="3238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B78F6-781B-4FD1-9BC5-B82551D0D3CB}"/>
              </a:ext>
            </a:extLst>
          </p:cNvPr>
          <p:cNvSpPr>
            <a:spLocks noGrp="1"/>
          </p:cNvSpPr>
          <p:nvPr/>
        </p:nvSpPr>
        <p:spPr>
          <a:xfrm>
            <a:off x="1885950" y="323850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C1043B-B541-4244-90B3-56EC2CDAF1E8}"/>
              </a:ext>
            </a:extLst>
          </p:cNvPr>
          <p:cNvSpPr>
            <a:spLocks noGrp="1"/>
          </p:cNvSpPr>
          <p:nvPr/>
        </p:nvSpPr>
        <p:spPr>
          <a:xfrm>
            <a:off x="3295650" y="3286125"/>
            <a:ext cx="676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Public, fictif, anonymisé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0D2F19B-9C74-4B5D-842F-FAC7D44A828A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9391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E02B922-FE63-4BDA-B8CB-C5419ACF3918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323850" cy="3238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DFAEC-38AE-40E1-BC3B-AA7F3431AC4E}"/>
              </a:ext>
            </a:extLst>
          </p:cNvPr>
          <p:cNvSpPr>
            <a:spLocks noGrp="1"/>
          </p:cNvSpPr>
          <p:nvPr/>
        </p:nvSpPr>
        <p:spPr>
          <a:xfrm>
            <a:off x="1885950" y="41338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9897B-CA42-4DD0-8EDC-0A69EAB2E2F4}"/>
              </a:ext>
            </a:extLst>
          </p:cNvPr>
          <p:cNvSpPr>
            <a:spLocks noGrp="1"/>
          </p:cNvSpPr>
          <p:nvPr/>
        </p:nvSpPr>
        <p:spPr>
          <a:xfrm>
            <a:off x="3295650" y="4181475"/>
            <a:ext cx="676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Interne non sensible, à minimiser et encadrer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116B485-7FBB-49E0-99D5-7FD37A9B4694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93916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E45A6A4-560D-431E-BFB7-30A985DEA537}"/>
              </a:ext>
            </a:extLst>
          </p:cNvPr>
          <p:cNvSpPr>
            <a:spLocks noGrp="1"/>
          </p:cNvSpPr>
          <p:nvPr/>
        </p:nvSpPr>
        <p:spPr>
          <a:xfrm>
            <a:off x="1352550" y="5067300"/>
            <a:ext cx="323850" cy="323850"/>
          </a:xfrm>
          <a:prstGeom prst="ellipse">
            <a:avLst/>
          </a:prstGeom>
          <a:solidFill>
            <a:srgbClr val="C24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E37D5-F9CF-439E-B5CA-C529E3C59236}"/>
              </a:ext>
            </a:extLst>
          </p:cNvPr>
          <p:cNvSpPr>
            <a:spLocks noGrp="1"/>
          </p:cNvSpPr>
          <p:nvPr/>
        </p:nvSpPr>
        <p:spPr>
          <a:xfrm>
            <a:off x="1885950" y="502920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C24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2413A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8A8B5A-EABD-4D23-8A64-945247CF1A88}"/>
              </a:ext>
            </a:extLst>
          </p:cNvPr>
          <p:cNvSpPr>
            <a:spLocks noGrp="1"/>
          </p:cNvSpPr>
          <p:nvPr/>
        </p:nvSpPr>
        <p:spPr>
          <a:xfrm>
            <a:off x="3295650" y="5076825"/>
            <a:ext cx="676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Sensible, confidentiel, nominatif à risque</a:t>
            </a:r>
          </a:p>
        </p:txBody>
      </p:sp>
    </p:spTree>
    <p:extLst>
      <p:ext uri="{BB962C8B-B14F-4D97-AF65-F5344CB8AC3E}">
        <p14:creationId xmlns:p14="http://schemas.microsoft.com/office/powerpoint/2010/main" val="1581842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30F5B5E-FBE9-4DF3-808B-1833781455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72E13E-BD76-4A8E-8603-84FF4E36B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0721B5-DD65-4F3D-A6FF-142C78A7744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SÉCURISER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B9006-F70E-4B56-81AA-5D5C5C643EE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Fiabilité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685895-BAEF-45A7-9842-F1EC8B0FC85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50F95-D506-4C03-A2FD-7D17E732B573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100C8-B683-4737-B9F7-3505A609AE41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35/41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53B122-12B4-45CF-B343-A68238097C1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Hallucinations, biais, erreurs : les contrôles indispensables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DBCD00-4676-4D0E-ACA3-3E50C2D07A35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Le risque n'est pas seulement technique : il touche la décision, l'image et la relation client.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B77008-B477-4686-A44B-19B22C48607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C45287-D57A-47E4-A783-149D3E3DEE9F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Vérifier faits, chiffres, dates et noms propres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ECF0D74-7779-4255-A557-644F095F94E6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5DE787-2471-4754-98B5-1CEF8990BF20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Demander les incertitudes et hypothèses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0148F25-EF5E-49E6-9BA1-6616ABBBB608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7445FE-4C0A-445F-B5CB-96131B66B392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avec une source fiable si enjeu externe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9AADFE0-FD4B-45C9-ACDF-A6541A18C67F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775E4A-4B00-4D0F-86B7-6056AB92E247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Faire relire par une personne compétente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D02DFF1-1324-4EF5-B82A-8AA43921AD3D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944C39-48BB-425F-8E5F-C8388A09E5CA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96BF8C-FC42-4E33-AA66-927150977F5A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A5DF2-7285-4044-80B0-D4814F5D669A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Plus l'impact est fort, moins la réponse brute suffit.</a:t>
            </a:r>
          </a:p>
        </p:txBody>
      </p:sp>
    </p:spTree>
    <p:extLst>
      <p:ext uri="{BB962C8B-B14F-4D97-AF65-F5344CB8AC3E}">
        <p14:creationId xmlns:p14="http://schemas.microsoft.com/office/powerpoint/2010/main" val="967076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C8415EB-46B7-4479-A8AF-1091AE96BF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6C84B0-B21A-4714-9BF1-BB2E6A6DA0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0B745D-E60E-4B25-BE38-D224E1855E0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GOUVERNANCE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C5C0D-5A51-4075-A861-8BDEDFD14E3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Règles d'équipe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13148-4908-4C9E-910D-E2DF95936E4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C8CD6-FD09-4C38-B51F-0A3C6C4261D5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6550D-A836-4529-845B-078C2E4E400D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36/41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333B01-16ED-417E-B521-0B7B488948A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 cadre simple vaut mieux qu'une interdiction floue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9F07B1-A699-4B3D-8853-8F8A31307836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Même une petite structure gagne à écrire quelques règles.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D7D1D42-1FC4-4A85-9566-6558D3F99F51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B4091E-9D4C-4764-90E0-91D272F37FCE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Usages autorisés et interdits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F9781B6-F2FD-4E88-8A3C-7C141FA09E1E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21A76E-602C-4901-A18E-A13075CC2A77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Données autorisées par type d'outil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49C29D5-0F15-4BF7-A8F7-7214DB6AB9A9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FC3F7B-7A91-45EA-A37B-CC2700631EF0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Prompts et modèles validés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61B34A5-EA27-49C5-8487-C833D4EF01DA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EEA453-36D0-4F3B-9A05-1CC2F66A9F07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Contrôle humain obligatoire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4DAF3CB-725E-4B24-87F7-D9B02579E4C4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D12F99-E840-4BA9-A60A-3DF59E1D780B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Personne référente en cas de doute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07657EA-2B2F-49D6-96CD-C58A634F7783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4AE00B-F0EA-4DE0-BA1F-18BA4A3E35A6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2C6F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D82255-773C-4782-9E67-8A0013728BEC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2C6F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6FB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DA27B6-FBF0-46F5-8DEF-3019477AB2C9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Une règle claire permet les bons usages et limite les mauvais.</a:t>
            </a:r>
          </a:p>
        </p:txBody>
      </p:sp>
    </p:spTree>
    <p:extLst>
      <p:ext uri="{BB962C8B-B14F-4D97-AF65-F5344CB8AC3E}">
        <p14:creationId xmlns:p14="http://schemas.microsoft.com/office/powerpoint/2010/main" val="697470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82FBAC2-A6F7-4A43-9A8F-AFD9DFE5AE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755FDE-11B6-4441-9AF3-87F29C913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AEA59-CBD0-4DE3-A4D7-E8B59E45032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CHOISIR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AD7D5-3000-4C5B-AB0B-523BDF2EAC7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Outils adaptés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540D44-005F-407B-9B10-A2314F7F0F4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70CC51-1F24-4243-B11F-CFEE2CC96899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07604-5FF8-432F-B931-FC7D1F408DF3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37/41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BEEF8D-B0EC-45EE-9781-6050CC67AD3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Le bon outil dépend du cas d'usage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AE3DD5-1EAC-43CA-BFEA-1991B365122F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matrice de choix sert à éviter l'empilement d'applications.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C8EBFF0-FD9B-4C9F-B3D1-5676BEE9655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87B62-EBD8-4FFE-9F4A-48FD68C6F891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6B8AA4-954D-4536-887D-926015F2756F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Rédaction simple : chatbot généraliste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5F95DDE-F25B-4138-9780-C81C55B78120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08ACB-D7A8-4BEC-ACE8-399D25597F64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22CBDE-7AA3-46FA-A0A9-D725F2CFEDD4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Information récente : outil avec sources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81E84FB-F0D9-43FA-9BAC-603F2E7C1B1B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B5F87C-2565-472C-A7A7-17BC687811A5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34001B-EBD7-4DB1-A358-1E3306D84A43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Documents internes : environnement professionnel encadré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0FB42A3-4FFC-4F6B-9769-4E89EAB8B9BE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CC983B-1600-48E9-B0C3-66EC54ED3D32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BA996A-C16E-4372-A98B-8AA8270BCEF4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Visuels : outil spécialisé et contrôle des droits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CB69100-1DB2-480C-B4BE-BCCA6BD26D88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662329-0A4E-40BB-805E-2514224CB01F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AEA427-8C6F-41E3-9A97-3FFEE007C522}"/>
              </a:ext>
            </a:extLst>
          </p:cNvPr>
          <p:cNvSpPr>
            <a:spLocks noGrp="1"/>
          </p:cNvSpPr>
          <p:nvPr/>
        </p:nvSpPr>
        <p:spPr>
          <a:xfrm>
            <a:off x="443865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Automatisation : seulement après un processus validé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5CB16E8-2467-419E-B3F0-2886AC2705CB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4310A-6CCE-4652-8266-1B5DD3491B08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0097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94490E-E7D2-4C47-B517-8B4F3AE3FFF0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09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97A7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BDAEB-155A-48F2-8671-17A83B0CE882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Ne pas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acheter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avant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d'avoir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testé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un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cas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d'usage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précis.</a:t>
            </a:r>
          </a:p>
        </p:txBody>
      </p:sp>
    </p:spTree>
    <p:extLst>
      <p:ext uri="{BB962C8B-B14F-4D97-AF65-F5344CB8AC3E}">
        <p14:creationId xmlns:p14="http://schemas.microsoft.com/office/powerpoint/2010/main" val="1903546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E5DE434-92C5-4534-BA20-187090F982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0FD90-2F21-4A54-A761-EC7B4363FA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D60621-AAB2-40CD-9478-AA434CE3AA9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ATELIER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F0B9F-9644-453F-9F27-ACEBFF006F8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TP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8E858-9C66-4B8D-94DA-7A82418CCEE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A9103-24CC-4CE4-87B7-964623A4F6E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63774-11E5-46EE-9D13-EABF61B415C3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38/41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D0DB28-B136-4825-A418-A95634A49BA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6572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Construire son plan d'action IA personnalisé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EDE90-8F1E-4E79-A4B7-990A03336080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Objectif : formaliser un pilote réaliste sur 30 jours.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9A66C4A-7216-4FC2-9159-A6C7447AD757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81EE8F-6440-4E65-A3A7-3FA8DB567CD4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5867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Cas d'usage choisi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C468443-F823-4B8F-B981-06E033644B85}"/>
              </a:ext>
            </a:extLst>
          </p:cNvPr>
          <p:cNvSpPr>
            <a:spLocks noGrp="1"/>
          </p:cNvSpPr>
          <p:nvPr/>
        </p:nvSpPr>
        <p:spPr>
          <a:xfrm>
            <a:off x="838200" y="3648075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84462E-BA0E-492F-A5FD-B74393E246C0}"/>
              </a:ext>
            </a:extLst>
          </p:cNvPr>
          <p:cNvSpPr>
            <a:spLocks noGrp="1"/>
          </p:cNvSpPr>
          <p:nvPr/>
        </p:nvSpPr>
        <p:spPr>
          <a:xfrm>
            <a:off x="1162050" y="3571875"/>
            <a:ext cx="5867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Outil pressenti et données autorisées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E6BC9A0-3EC2-4FE5-8520-FA0B4E5EF88D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3DDEB4-2654-4F26-B315-27F84CF3B69F}"/>
              </a:ext>
            </a:extLst>
          </p:cNvPr>
          <p:cNvSpPr>
            <a:spLocks noGrp="1"/>
          </p:cNvSpPr>
          <p:nvPr/>
        </p:nvSpPr>
        <p:spPr>
          <a:xfrm>
            <a:off x="1162050" y="4019550"/>
            <a:ext cx="5867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Prompt ou processus type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AF0F121-B6FD-4774-9973-B0C2C90F4ABB}"/>
              </a:ext>
            </a:extLst>
          </p:cNvPr>
          <p:cNvSpPr>
            <a:spLocks noGrp="1"/>
          </p:cNvSpPr>
          <p:nvPr/>
        </p:nvSpPr>
        <p:spPr>
          <a:xfrm>
            <a:off x="838200" y="4543425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3394F2-366D-4263-BE37-1E0F27E6E7A4}"/>
              </a:ext>
            </a:extLst>
          </p:cNvPr>
          <p:cNvSpPr>
            <a:spLocks noGrp="1"/>
          </p:cNvSpPr>
          <p:nvPr/>
        </p:nvSpPr>
        <p:spPr>
          <a:xfrm>
            <a:off x="1162050" y="4467225"/>
            <a:ext cx="5867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Contrôles et responsable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C1F696F-6910-48A7-9784-D4260CED61FB}"/>
              </a:ext>
            </a:extLst>
          </p:cNvPr>
          <p:cNvSpPr>
            <a:spLocks noGrp="1"/>
          </p:cNvSpPr>
          <p:nvPr/>
        </p:nvSpPr>
        <p:spPr>
          <a:xfrm>
            <a:off x="838200" y="49911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E6710D-D5A7-49C2-AF0B-B90239955EDA}"/>
              </a:ext>
            </a:extLst>
          </p:cNvPr>
          <p:cNvSpPr>
            <a:spLocks noGrp="1"/>
          </p:cNvSpPr>
          <p:nvPr/>
        </p:nvSpPr>
        <p:spPr>
          <a:xfrm>
            <a:off x="1162050" y="4914900"/>
            <a:ext cx="5867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Indicateur de réussite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2F886F5-1D65-4C28-B9FA-2F5170536B1E}"/>
              </a:ext>
            </a:extLst>
          </p:cNvPr>
          <p:cNvSpPr>
            <a:spLocks noGrp="1"/>
          </p:cNvSpPr>
          <p:nvPr/>
        </p:nvSpPr>
        <p:spPr>
          <a:xfrm>
            <a:off x="7658100" y="1257300"/>
            <a:ext cx="3162300" cy="4095750"/>
          </a:xfrm>
          <a:prstGeom prst="roundRect">
            <a:avLst>
              <a:gd name="adj" fmla="val 2410"/>
            </a:avLst>
          </a:prstGeom>
          <a:solidFill>
            <a:srgbClr val="FFF7E6"/>
          </a:solidFill>
          <a:ln w="11430">
            <a:solidFill>
              <a:srgbClr val="F1C97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6689E8-A84B-41F4-BE52-74638AA4F7F2}"/>
              </a:ext>
            </a:extLst>
          </p:cNvPr>
          <p:cNvSpPr>
            <a:spLocks noGrp="1"/>
          </p:cNvSpPr>
          <p:nvPr/>
        </p:nvSpPr>
        <p:spPr>
          <a:xfrm>
            <a:off x="7962900" y="15621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Mise en pratique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5B7F6-3FC7-4A40-83F2-A72A0CD51F9C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Production attendue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6FDDFC-7111-40AD-AAF3-DC5757239C33}"/>
              </a:ext>
            </a:extLst>
          </p:cNvPr>
          <p:cNvSpPr>
            <a:spLocks noGrp="1"/>
          </p:cNvSpPr>
          <p:nvPr/>
        </p:nvSpPr>
        <p:spPr>
          <a:xfrm>
            <a:off x="7962900" y="2362200"/>
            <a:ext cx="23812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Livrable évalué : un plan clair, sécurisé et faisable.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82044C-9129-4B33-A10D-500A3C96F417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386"/>
                </a:solidFill>
                <a:latin typeface="Aptos"/>
                <a:ea typeface="Aptos"/>
                <a:cs typeface="Aptos"/>
              </a:rPr>
              <a:t>Débrief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41B6E-E08C-4B4C-A6AB-B92438D33D30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2381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Comparer le prompt, la sortie et les contrôles. Garder ce qui est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862498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39BDC90-DE9F-42C2-8AA4-B577202B15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698953-22DA-4920-B6BD-DE5FC76D2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972E04-D575-47CA-AC78-EA2C513582C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ÉVALUATION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34DA5-ECE6-4B94-B20F-7A33066550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Plan d'action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392C2-366B-46C4-B855-A5E7EF07CFA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3C910-85DA-4235-9E8E-415281EFD0B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C6898-5E9E-4A40-874D-9D57E9ECC809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39/41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B40AC0-81D4-4D16-B594-64D3129C7F2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 bon plan tient sur une 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54FFED-8C04-4100-9C8F-DB2531EB6C68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L'évaluation porte sur la robustesse du raisonnement, pas sur l'ambition du projet.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52FC5AB-FB34-45A0-8E0C-11946FD8B080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A2E47B-478B-4EA8-9E46-80BAFF11D33A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Pertinence du cas d'usage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4B52C1B-635C-479A-BD3D-EDE893623B35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05754A-9A53-4614-8960-B905B27C1A1F}"/>
              </a:ext>
            </a:extLst>
          </p:cNvPr>
          <p:cNvSpPr>
            <a:spLocks noGrp="1"/>
          </p:cNvSpPr>
          <p:nvPr/>
        </p:nvSpPr>
        <p:spPr>
          <a:xfrm>
            <a:off x="1200150" y="355282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Maîtrise des données et risques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C6E55FD-F05D-40E3-A3E5-0C6B1D8FB47B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1157C-5754-4CC2-A3F4-4C15394CE426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Choix cohérent d'outil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0C7AE9B-82B8-42E0-90CB-D9883450311E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30D52-5B89-41E4-8353-0BF0E077AE6A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Contrôle humain explicite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8ADBAD9-63EE-47B3-81D5-C16AE651DE0A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171450" cy="171450"/>
          </a:xfrm>
          <a:prstGeom prst="ellipse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14E9E-96C9-4047-8E2E-72E1EF6C158B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63436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Faisabilité sous 30 jours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96F63C8-5553-43EC-9C0B-A9510B0B1102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27F367-9E88-4FB0-B407-D0287EB0A6B8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684C59-90EC-41CF-B91E-19618C3CBBAB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13A378-0718-45D3-AB75-58CA1243BE20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Un plan modeste mais fiable vaut mieux qu'une grande intention imprécise.</a:t>
            </a:r>
          </a:p>
        </p:txBody>
      </p:sp>
    </p:spTree>
    <p:extLst>
      <p:ext uri="{BB962C8B-B14F-4D97-AF65-F5344CB8AC3E}">
        <p14:creationId xmlns:p14="http://schemas.microsoft.com/office/powerpoint/2010/main" val="587657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D3BD702-B716-4B49-97C4-5756AF7C9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A27EC0-82C0-4B18-AB23-B362D0BC42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FF7C5-16D3-47A7-860D-5E1B0252231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BOÎTE À OUTILS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1C900-55A3-4349-9A90-6184C5D79F9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À emporter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D1F283-552B-4204-B781-B145FF355E8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8C7C5-D7F9-4CAE-985D-682AC9BE4FA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549C2-C4EC-41F0-B3FE-8FC8C893D923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40/41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8E3BF6-EA44-46D5-A2E0-0067472D6CD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Des fiches pour continuer sans repartir de zéro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0C9120-BDD0-4996-95E4-705CBF3EFAF8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boîte à outils donne des prompts, checklists et matrices prêtes à adapter.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91BD6A8-7810-4CE0-93B8-68B3A1C7FDD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DDC04A-9DD7-4B33-8823-A37561F21F32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E4CCE3-BDB5-44AD-A091-C9A569167022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Règles d'or du prompt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8448CF5-FBE9-45BF-B75D-3E0B3EC78314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422D0B-18F0-466C-887B-B4C0B02361B7}"/>
              </a:ext>
            </a:extLst>
          </p:cNvPr>
          <p:cNvSpPr>
            <a:spLocks noGrp="1"/>
          </p:cNvSpPr>
          <p:nvPr/>
        </p:nvSpPr>
        <p:spPr>
          <a:xfrm>
            <a:off x="443865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A9D4B0-8F45-491F-80F8-0EC8E3BC306B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Ce qu'il ne faut jamais mettre dans une IA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DC62508-551C-44BA-A6E9-38ECECA1172C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9191D2-7483-463D-B6CF-5A38602D0F83}"/>
              </a:ext>
            </a:extLst>
          </p:cNvPr>
          <p:cNvSpPr>
            <a:spLocks noGrp="1"/>
          </p:cNvSpPr>
          <p:nvPr/>
        </p:nvSpPr>
        <p:spPr>
          <a:xfrm>
            <a:off x="7886700" y="32385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A4417B-F98A-4503-8CDD-0DEBCEB39E62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Vérifier une réponse IA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2D6146D-9873-4139-BEDE-1573548EAC01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CE0E97-87F3-482D-A526-6E5D6AE12CA3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412F2-248D-4DEA-B47D-A4E10758F3FF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Cas d'usage TPME et choix d'outil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A83C90E-D6BE-4DCE-B660-2768DA730498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EE66CA-62D8-48E2-A9C0-58EFCD698E8D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200E7A-6688-44E8-87E0-63941B32A9BC}"/>
              </a:ext>
            </a:extLst>
          </p:cNvPr>
          <p:cNvSpPr>
            <a:spLocks noGrp="1"/>
          </p:cNvSpPr>
          <p:nvPr/>
        </p:nvSpPr>
        <p:spPr>
          <a:xfrm>
            <a:off x="4438650" y="46101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Plan d'action IA en 30 jours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429C6B3-69A2-4394-B155-D8877BE9833D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3914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05D369-82DE-4E20-A9B7-A3001161EA7B}"/>
              </a:ext>
            </a:extLst>
          </p:cNvPr>
          <p:cNvSpPr>
            <a:spLocks noGrp="1"/>
          </p:cNvSpPr>
          <p:nvPr/>
        </p:nvSpPr>
        <p:spPr>
          <a:xfrm>
            <a:off x="2419350" y="5391150"/>
            <a:ext cx="76200" cy="666750"/>
          </a:xfrm>
          <a:prstGeom prst="rect">
            <a:avLst/>
          </a:prstGeom>
          <a:solidFill>
            <a:srgbClr val="1E8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5BE91F-00A0-4B5D-9C2D-C12F6EC5106F}"/>
              </a:ext>
            </a:extLst>
          </p:cNvPr>
          <p:cNvSpPr>
            <a:spLocks noGrp="1"/>
          </p:cNvSpPr>
          <p:nvPr/>
        </p:nvSpPr>
        <p:spPr>
          <a:xfrm>
            <a:off x="2686050" y="55626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E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5A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31E4A4-4727-4184-B65A-627D91257C35}"/>
              </a:ext>
            </a:extLst>
          </p:cNvPr>
          <p:cNvSpPr>
            <a:spLocks noGrp="1"/>
          </p:cNvSpPr>
          <p:nvPr/>
        </p:nvSpPr>
        <p:spPr>
          <a:xfrm>
            <a:off x="2686050" y="5867400"/>
            <a:ext cx="68580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Réutilisez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les fiches,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mais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adaptez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-les à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votre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400" b="0" dirty="0" err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contexte</a:t>
            </a:r>
            <a:r>
              <a:rPr sz="1400" b="0" dirty="0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2742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4EB9291-5713-425F-B79C-C2BD39C65E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040290-9421-459F-9559-622A521966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9C356-DA16-4A62-B116-587F424046A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CLÔTURE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2A1E09-359D-4E23-A097-1063FA03EA4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D9017-504F-4235-BCBF-545A4D6E0E6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562100" cy="47625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214250-AC9E-422B-B8EA-2874F7517CD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Initiation à l'IA - TPME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EE7B1-82A6-428E-AC7A-6C94E4E18526}"/>
              </a:ext>
            </a:extLst>
          </p:cNvPr>
          <p:cNvSpPr>
            <a:spLocks noGrp="1"/>
          </p:cNvSpPr>
          <p:nvPr/>
        </p:nvSpPr>
        <p:spPr>
          <a:xfrm>
            <a:off x="11010900" y="63436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41/41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3150" y="269567"/>
            <a:ext cx="723900" cy="41336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96600" y="216856"/>
            <a:ext cx="571500" cy="5187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678E3A-656D-4D8D-B13E-C29A21357406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7429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Votre prochaine action 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187B8E-B364-45F3-83F0-94D1B2F6162A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2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386"/>
                </a:solidFill>
                <a:latin typeface="Aptos"/>
                <a:ea typeface="Aptos"/>
                <a:cs typeface="Aptos"/>
              </a:rPr>
              <a:t>La formation se termine par un engagement simple, vérifiable et prudent.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2F90B6D-38AC-401B-8890-51FDBAF1476A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0A0CF-8772-425E-98E0-E761272F6C35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Tester un cas d'usage vert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1344016-DC6E-4868-BF5C-80624DC2111A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BC5F91-FF3F-4BB4-8DA0-28BDD3112D90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Conserver le prompt et la sortie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2B3580E-3EB0-4890-85F1-9EFF0278994A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16DE0-ABE3-46AA-89A5-12D3AACC4097}"/>
              </a:ext>
            </a:extLst>
          </p:cNvPr>
          <p:cNvSpPr>
            <a:spLocks noGrp="1"/>
          </p:cNvSpPr>
          <p:nvPr/>
        </p:nvSpPr>
        <p:spPr>
          <a:xfrm>
            <a:off x="1200150" y="41719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Mesurer temps gagné et qualité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A9B6A3A-A383-4C55-9F4A-C03206A79514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71450" cy="171450"/>
          </a:xfrm>
          <a:prstGeom prst="ellipse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AF5BA3-A2EB-4133-B5E8-3788E99E2FC3}"/>
              </a:ext>
            </a:extLst>
          </p:cNvPr>
          <p:cNvSpPr>
            <a:spLocks noGrp="1"/>
          </p:cNvSpPr>
          <p:nvPr/>
        </p:nvSpPr>
        <p:spPr>
          <a:xfrm>
            <a:off x="1200150" y="4705350"/>
            <a:ext cx="6343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2033"/>
                </a:solidFill>
                <a:latin typeface="Aptos"/>
                <a:ea typeface="Aptos"/>
                <a:cs typeface="Aptos"/>
              </a:rPr>
              <a:t>Partager une règle d'usage avec l'équipe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0A14A7F-529D-4BE0-A0B5-1E15289BEE14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3105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46D8EC-87C1-4009-8315-886CF8DA1C30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76200" cy="2000250"/>
          </a:xfrm>
          <a:prstGeom prst="rect">
            <a:avLst/>
          </a:prstGeom>
          <a:solidFill>
            <a:srgbClr val="174A7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B06A2A-C82D-430A-B3D9-B85B1F545438}"/>
              </a:ext>
            </a:extLst>
          </p:cNvPr>
          <p:cNvSpPr>
            <a:spLocks noGrp="1"/>
          </p:cNvSpPr>
          <p:nvPr/>
        </p:nvSpPr>
        <p:spPr>
          <a:xfrm>
            <a:off x="8153400" y="3314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4A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4A7C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487A2-5C7C-4A8F-BF43-5DDFD17C8F2F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5717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2033"/>
                </a:solidFill>
                <a:latin typeface="Aptos Display"/>
                <a:ea typeface="Aptos Display"/>
                <a:cs typeface="Aptos Display"/>
              </a:rPr>
              <a:t>La bonne intégration commence petit, propre et utile.</a:t>
            </a:r>
          </a:p>
        </p:txBody>
      </p:sp>
    </p:spTree>
    <p:extLst>
      <p:ext uri="{BB962C8B-B14F-4D97-AF65-F5344CB8AC3E}">
        <p14:creationId xmlns:p14="http://schemas.microsoft.com/office/powerpoint/2010/main" val="17369933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4075</Words>
  <Application>Microsoft Macintosh PowerPoint</Application>
  <DocSecurity>0</DocSecurity>
  <PresentationFormat>Grand écran</PresentationFormat>
  <Paragraphs>608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Jean-Baptiste MONIN</cp:lastModifiedBy>
  <cp:revision>2</cp:revision>
  <dcterms:created xsi:type="dcterms:W3CDTF">2026-05-24T20:49:57Z</dcterms:created>
  <dcterms:modified xsi:type="dcterms:W3CDTF">2026-06-02T20:46:45Z</dcterms:modified>
</cp:coreProperties>
</file>